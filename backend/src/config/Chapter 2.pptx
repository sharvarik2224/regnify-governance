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7"/>
  </p:notesMasterIdLst>
  <p:sldIdLst>
    <p:sldId id="256" r:id="rId2"/>
    <p:sldId id="257" r:id="rId3"/>
    <p:sldId id="258" r:id="rId4"/>
    <p:sldId id="259" r:id="rId5"/>
    <p:sldId id="260" r:id="rId6"/>
    <p:sldId id="263" r:id="rId7"/>
    <p:sldId id="264" r:id="rId8"/>
    <p:sldId id="265" r:id="rId9"/>
    <p:sldId id="266" r:id="rId10"/>
    <p:sldId id="267" r:id="rId11"/>
    <p:sldId id="268" r:id="rId12"/>
    <p:sldId id="269" r:id="rId13"/>
    <p:sldId id="270" r:id="rId14"/>
    <p:sldId id="271" r:id="rId15"/>
    <p:sldId id="261" r:id="rId16"/>
    <p:sldId id="262" r:id="rId17"/>
    <p:sldId id="272" r:id="rId18"/>
    <p:sldId id="273" r:id="rId19"/>
    <p:sldId id="274" r:id="rId20"/>
    <p:sldId id="275" r:id="rId21"/>
    <p:sldId id="276" r:id="rId22"/>
    <p:sldId id="277" r:id="rId23"/>
    <p:sldId id="279" r:id="rId24"/>
    <p:sldId id="278" r:id="rId25"/>
    <p:sldId id="280" r:id="rId26"/>
    <p:sldId id="282" r:id="rId27"/>
    <p:sldId id="281" r:id="rId28"/>
    <p:sldId id="283" r:id="rId29"/>
    <p:sldId id="284" r:id="rId30"/>
    <p:sldId id="285" r:id="rId31"/>
    <p:sldId id="286" r:id="rId32"/>
    <p:sldId id="288" r:id="rId33"/>
    <p:sldId id="287"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5" r:id="rId48"/>
    <p:sldId id="306" r:id="rId49"/>
    <p:sldId id="303" r:id="rId50"/>
    <p:sldId id="302" r:id="rId51"/>
    <p:sldId id="304" r:id="rId52"/>
    <p:sldId id="307" r:id="rId53"/>
    <p:sldId id="309" r:id="rId54"/>
    <p:sldId id="308" r:id="rId55"/>
    <p:sldId id="310" r:id="rId56"/>
    <p:sldId id="311" r:id="rId57"/>
    <p:sldId id="312" r:id="rId58"/>
    <p:sldId id="313" r:id="rId59"/>
    <p:sldId id="314" r:id="rId60"/>
    <p:sldId id="315" r:id="rId61"/>
    <p:sldId id="316" r:id="rId62"/>
    <p:sldId id="317" r:id="rId63"/>
    <p:sldId id="318" r:id="rId64"/>
    <p:sldId id="319" r:id="rId65"/>
    <p:sldId id="321" r:id="rId66"/>
    <p:sldId id="320" r:id="rId67"/>
    <p:sldId id="322" r:id="rId68"/>
    <p:sldId id="324" r:id="rId69"/>
    <p:sldId id="325" r:id="rId70"/>
    <p:sldId id="372" r:id="rId71"/>
    <p:sldId id="323"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73" r:id="rId99"/>
    <p:sldId id="374" r:id="rId100"/>
    <p:sldId id="375" r:id="rId101"/>
    <p:sldId id="353" r:id="rId102"/>
    <p:sldId id="352" r:id="rId103"/>
    <p:sldId id="354" r:id="rId104"/>
    <p:sldId id="355" r:id="rId105"/>
    <p:sldId id="356" r:id="rId106"/>
    <p:sldId id="357" r:id="rId107"/>
    <p:sldId id="358" r:id="rId108"/>
    <p:sldId id="359" r:id="rId109"/>
    <p:sldId id="360" r:id="rId110"/>
    <p:sldId id="362" r:id="rId111"/>
    <p:sldId id="361" r:id="rId112"/>
    <p:sldId id="363" r:id="rId113"/>
    <p:sldId id="364" r:id="rId114"/>
    <p:sldId id="365" r:id="rId115"/>
    <p:sldId id="366" r:id="rId116"/>
    <p:sldId id="367" r:id="rId117"/>
    <p:sldId id="368" r:id="rId118"/>
    <p:sldId id="369" r:id="rId119"/>
    <p:sldId id="370" r:id="rId120"/>
    <p:sldId id="371" r:id="rId121"/>
    <p:sldId id="376" r:id="rId122"/>
    <p:sldId id="378" r:id="rId123"/>
    <p:sldId id="377" r:id="rId124"/>
    <p:sldId id="379" r:id="rId125"/>
    <p:sldId id="380" r:id="rId1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 /><Relationship Id="rId117" Type="http://schemas.openxmlformats.org/officeDocument/2006/relationships/slide" Target="slides/slide116.xml" /><Relationship Id="rId21" Type="http://schemas.openxmlformats.org/officeDocument/2006/relationships/slide" Target="slides/slide20.xml" /><Relationship Id="rId42" Type="http://schemas.openxmlformats.org/officeDocument/2006/relationships/slide" Target="slides/slide41.xml" /><Relationship Id="rId47" Type="http://schemas.openxmlformats.org/officeDocument/2006/relationships/slide" Target="slides/slide46.xml" /><Relationship Id="rId63" Type="http://schemas.openxmlformats.org/officeDocument/2006/relationships/slide" Target="slides/slide62.xml" /><Relationship Id="rId68" Type="http://schemas.openxmlformats.org/officeDocument/2006/relationships/slide" Target="slides/slide67.xml" /><Relationship Id="rId84" Type="http://schemas.openxmlformats.org/officeDocument/2006/relationships/slide" Target="slides/slide83.xml" /><Relationship Id="rId89" Type="http://schemas.openxmlformats.org/officeDocument/2006/relationships/slide" Target="slides/slide88.xml" /><Relationship Id="rId112" Type="http://schemas.openxmlformats.org/officeDocument/2006/relationships/slide" Target="slides/slide111.xml" /><Relationship Id="rId16" Type="http://schemas.openxmlformats.org/officeDocument/2006/relationships/slide" Target="slides/slide15.xml" /><Relationship Id="rId107" Type="http://schemas.openxmlformats.org/officeDocument/2006/relationships/slide" Target="slides/slide106.xml" /><Relationship Id="rId11" Type="http://schemas.openxmlformats.org/officeDocument/2006/relationships/slide" Target="slides/slide10.xml" /><Relationship Id="rId32" Type="http://schemas.openxmlformats.org/officeDocument/2006/relationships/slide" Target="slides/slide31.xml" /><Relationship Id="rId37" Type="http://schemas.openxmlformats.org/officeDocument/2006/relationships/slide" Target="slides/slide36.xml" /><Relationship Id="rId53" Type="http://schemas.openxmlformats.org/officeDocument/2006/relationships/slide" Target="slides/slide52.xml" /><Relationship Id="rId58" Type="http://schemas.openxmlformats.org/officeDocument/2006/relationships/slide" Target="slides/slide57.xml" /><Relationship Id="rId74" Type="http://schemas.openxmlformats.org/officeDocument/2006/relationships/slide" Target="slides/slide73.xml" /><Relationship Id="rId79" Type="http://schemas.openxmlformats.org/officeDocument/2006/relationships/slide" Target="slides/slide78.xml" /><Relationship Id="rId102" Type="http://schemas.openxmlformats.org/officeDocument/2006/relationships/slide" Target="slides/slide101.xml" /><Relationship Id="rId123" Type="http://schemas.openxmlformats.org/officeDocument/2006/relationships/slide" Target="slides/slide122.xml" /><Relationship Id="rId128" Type="http://schemas.openxmlformats.org/officeDocument/2006/relationships/presProps" Target="presProps.xml" /><Relationship Id="rId5" Type="http://schemas.openxmlformats.org/officeDocument/2006/relationships/slide" Target="slides/slide4.xml" /><Relationship Id="rId90" Type="http://schemas.openxmlformats.org/officeDocument/2006/relationships/slide" Target="slides/slide89.xml" /><Relationship Id="rId95" Type="http://schemas.openxmlformats.org/officeDocument/2006/relationships/slide" Target="slides/slide94.xml" /><Relationship Id="rId19" Type="http://schemas.openxmlformats.org/officeDocument/2006/relationships/slide" Target="slides/slide1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77" Type="http://schemas.openxmlformats.org/officeDocument/2006/relationships/slide" Target="slides/slide76.xml" /><Relationship Id="rId100" Type="http://schemas.openxmlformats.org/officeDocument/2006/relationships/slide" Target="slides/slide99.xml" /><Relationship Id="rId105" Type="http://schemas.openxmlformats.org/officeDocument/2006/relationships/slide" Target="slides/slide104.xml" /><Relationship Id="rId113" Type="http://schemas.openxmlformats.org/officeDocument/2006/relationships/slide" Target="slides/slide112.xml" /><Relationship Id="rId118" Type="http://schemas.openxmlformats.org/officeDocument/2006/relationships/slide" Target="slides/slide117.xml" /><Relationship Id="rId126" Type="http://schemas.openxmlformats.org/officeDocument/2006/relationships/slide" Target="slides/slide125.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80" Type="http://schemas.openxmlformats.org/officeDocument/2006/relationships/slide" Target="slides/slide79.xml" /><Relationship Id="rId85" Type="http://schemas.openxmlformats.org/officeDocument/2006/relationships/slide" Target="slides/slide84.xml" /><Relationship Id="rId93" Type="http://schemas.openxmlformats.org/officeDocument/2006/relationships/slide" Target="slides/slide92.xml" /><Relationship Id="rId98" Type="http://schemas.openxmlformats.org/officeDocument/2006/relationships/slide" Target="slides/slide97.xml" /><Relationship Id="rId121" Type="http://schemas.openxmlformats.org/officeDocument/2006/relationships/slide" Target="slides/slide120.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103" Type="http://schemas.openxmlformats.org/officeDocument/2006/relationships/slide" Target="slides/slide102.xml" /><Relationship Id="rId108" Type="http://schemas.openxmlformats.org/officeDocument/2006/relationships/slide" Target="slides/slide107.xml" /><Relationship Id="rId116" Type="http://schemas.openxmlformats.org/officeDocument/2006/relationships/slide" Target="slides/slide115.xml" /><Relationship Id="rId124" Type="http://schemas.openxmlformats.org/officeDocument/2006/relationships/slide" Target="slides/slide123.xml" /><Relationship Id="rId129" Type="http://schemas.openxmlformats.org/officeDocument/2006/relationships/viewProps" Target="viewProps.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slide" Target="slides/slide82.xml" /><Relationship Id="rId88" Type="http://schemas.openxmlformats.org/officeDocument/2006/relationships/slide" Target="slides/slide87.xml" /><Relationship Id="rId91" Type="http://schemas.openxmlformats.org/officeDocument/2006/relationships/slide" Target="slides/slide90.xml" /><Relationship Id="rId96" Type="http://schemas.openxmlformats.org/officeDocument/2006/relationships/slide" Target="slides/slide95.xml" /><Relationship Id="rId111" Type="http://schemas.openxmlformats.org/officeDocument/2006/relationships/slide" Target="slides/slide110.xml" /><Relationship Id="rId132" Type="http://schemas.microsoft.com/office/2016/11/relationships/changesInfo" Target="changesInfos/changesInfo1.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106" Type="http://schemas.openxmlformats.org/officeDocument/2006/relationships/slide" Target="slides/slide105.xml" /><Relationship Id="rId114" Type="http://schemas.openxmlformats.org/officeDocument/2006/relationships/slide" Target="slides/slide113.xml" /><Relationship Id="rId119" Type="http://schemas.openxmlformats.org/officeDocument/2006/relationships/slide" Target="slides/slide118.xml" /><Relationship Id="rId127" Type="http://schemas.openxmlformats.org/officeDocument/2006/relationships/notesMaster" Target="notesMasters/notesMaster1.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slide" Target="slides/slide80.xml" /><Relationship Id="rId86" Type="http://schemas.openxmlformats.org/officeDocument/2006/relationships/slide" Target="slides/slide85.xml" /><Relationship Id="rId94" Type="http://schemas.openxmlformats.org/officeDocument/2006/relationships/slide" Target="slides/slide93.xml" /><Relationship Id="rId99" Type="http://schemas.openxmlformats.org/officeDocument/2006/relationships/slide" Target="slides/slide98.xml" /><Relationship Id="rId101" Type="http://schemas.openxmlformats.org/officeDocument/2006/relationships/slide" Target="slides/slide100.xml" /><Relationship Id="rId122" Type="http://schemas.openxmlformats.org/officeDocument/2006/relationships/slide" Target="slides/slide121.xml" /><Relationship Id="rId130"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3" Type="http://schemas.openxmlformats.org/officeDocument/2006/relationships/slide" Target="slides/slide12.xml" /><Relationship Id="rId18" Type="http://schemas.openxmlformats.org/officeDocument/2006/relationships/slide" Target="slides/slide17.xml" /><Relationship Id="rId39" Type="http://schemas.openxmlformats.org/officeDocument/2006/relationships/slide" Target="slides/slide38.xml" /><Relationship Id="rId109" Type="http://schemas.openxmlformats.org/officeDocument/2006/relationships/slide" Target="slides/slide108.xml" /><Relationship Id="rId34" Type="http://schemas.openxmlformats.org/officeDocument/2006/relationships/slide" Target="slides/slide33.xml" /><Relationship Id="rId50" Type="http://schemas.openxmlformats.org/officeDocument/2006/relationships/slide" Target="slides/slide49.xml" /><Relationship Id="rId55" Type="http://schemas.openxmlformats.org/officeDocument/2006/relationships/slide" Target="slides/slide54.xml" /><Relationship Id="rId76" Type="http://schemas.openxmlformats.org/officeDocument/2006/relationships/slide" Target="slides/slide75.xml" /><Relationship Id="rId97" Type="http://schemas.openxmlformats.org/officeDocument/2006/relationships/slide" Target="slides/slide96.xml" /><Relationship Id="rId104" Type="http://schemas.openxmlformats.org/officeDocument/2006/relationships/slide" Target="slides/slide103.xml" /><Relationship Id="rId120" Type="http://schemas.openxmlformats.org/officeDocument/2006/relationships/slide" Target="slides/slide119.xml" /><Relationship Id="rId125" Type="http://schemas.openxmlformats.org/officeDocument/2006/relationships/slide" Target="slides/slide124.xml" /><Relationship Id="rId7" Type="http://schemas.openxmlformats.org/officeDocument/2006/relationships/slide" Target="slides/slide6.xml" /><Relationship Id="rId71" Type="http://schemas.openxmlformats.org/officeDocument/2006/relationships/slide" Target="slides/slide70.xml" /><Relationship Id="rId92" Type="http://schemas.openxmlformats.org/officeDocument/2006/relationships/slide" Target="slides/slide91.xml" /><Relationship Id="rId2" Type="http://schemas.openxmlformats.org/officeDocument/2006/relationships/slide" Target="slides/slide1.xml" /><Relationship Id="rId29" Type="http://schemas.openxmlformats.org/officeDocument/2006/relationships/slide" Target="slides/slide28.xml" /><Relationship Id="rId24" Type="http://schemas.openxmlformats.org/officeDocument/2006/relationships/slide" Target="slides/slide23.xml" /><Relationship Id="rId40" Type="http://schemas.openxmlformats.org/officeDocument/2006/relationships/slide" Target="slides/slide39.xml" /><Relationship Id="rId45" Type="http://schemas.openxmlformats.org/officeDocument/2006/relationships/slide" Target="slides/slide44.xml" /><Relationship Id="rId66" Type="http://schemas.openxmlformats.org/officeDocument/2006/relationships/slide" Target="slides/slide65.xml" /><Relationship Id="rId87" Type="http://schemas.openxmlformats.org/officeDocument/2006/relationships/slide" Target="slides/slide86.xml" /><Relationship Id="rId110" Type="http://schemas.openxmlformats.org/officeDocument/2006/relationships/slide" Target="slides/slide109.xml" /><Relationship Id="rId115" Type="http://schemas.openxmlformats.org/officeDocument/2006/relationships/slide" Target="slides/slide114.xml" /><Relationship Id="rId131" Type="http://schemas.openxmlformats.org/officeDocument/2006/relationships/tableStyles" Target="tableStyles.xml" /><Relationship Id="rId61" Type="http://schemas.openxmlformats.org/officeDocument/2006/relationships/slide" Target="slides/slide60.xml" /><Relationship Id="rId82" Type="http://schemas.openxmlformats.org/officeDocument/2006/relationships/slide" Target="slides/slide81.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ashree Hadsul" userId="S::dhanashree.hadsul@fcrit.ac.in::5263820c-7dfe-4b85-9f4c-b3dd882c9933" providerId="AD" clId="Web-{1D3AB0A4-A0F4-BE9E-3250-98EEF6DDCEFA}"/>
    <pc:docChg chg="modSld">
      <pc:chgData name="Dhanashree Hadsul" userId="S::dhanashree.hadsul@fcrit.ac.in::5263820c-7dfe-4b85-9f4c-b3dd882c9933" providerId="AD" clId="Web-{1D3AB0A4-A0F4-BE9E-3250-98EEF6DDCEFA}" dt="2026-01-29T04:41:38.831" v="2" actId="20577"/>
      <pc:docMkLst>
        <pc:docMk/>
      </pc:docMkLst>
      <pc:sldChg chg="modSp">
        <pc:chgData name="Dhanashree Hadsul" userId="S::dhanashree.hadsul@fcrit.ac.in::5263820c-7dfe-4b85-9f4c-b3dd882c9933" providerId="AD" clId="Web-{1D3AB0A4-A0F4-BE9E-3250-98EEF6DDCEFA}" dt="2026-01-29T04:41:38.831" v="2" actId="20577"/>
        <pc:sldMkLst>
          <pc:docMk/>
          <pc:sldMk cId="2917860706" sldId="259"/>
        </pc:sldMkLst>
        <pc:spChg chg="mod">
          <ac:chgData name="Dhanashree Hadsul" userId="S::dhanashree.hadsul@fcrit.ac.in::5263820c-7dfe-4b85-9f4c-b3dd882c9933" providerId="AD" clId="Web-{1D3AB0A4-A0F4-BE9E-3250-98EEF6DDCEFA}" dt="2026-01-29T04:41:38.831" v="2" actId="20577"/>
          <ac:spMkLst>
            <pc:docMk/>
            <pc:sldMk cId="2917860706" sldId="259"/>
            <ac:spMk id="3" creationId="{AD879E40-AE41-4DCB-D80B-3AF79534F456}"/>
          </ac:spMkLst>
        </pc:spChg>
      </pc:sldChg>
    </pc:docChg>
  </pc:docChgLst>
  <pc:docChgLst>
    <pc:chgData name="Dhanashree Hadsul" userId="5263820c-7dfe-4b85-9f4c-b3dd882c9933" providerId="ADAL" clId="{850DFEED-9D11-3FA7-BD2B-23D61FB46639}"/>
    <pc:docChg chg="modSld">
      <pc:chgData name="Dhanashree Hadsul" userId="5263820c-7dfe-4b85-9f4c-b3dd882c9933" providerId="ADAL" clId="{850DFEED-9D11-3FA7-BD2B-23D61FB46639}" dt="2026-02-05T02:49:40.648" v="2" actId="1076"/>
      <pc:docMkLst>
        <pc:docMk/>
      </pc:docMkLst>
      <pc:sldChg chg="modSp mod">
        <pc:chgData name="Dhanashree Hadsul" userId="5263820c-7dfe-4b85-9f4c-b3dd882c9933" providerId="ADAL" clId="{850DFEED-9D11-3FA7-BD2B-23D61FB46639}" dt="2026-02-05T02:49:40.648" v="2" actId="1076"/>
        <pc:sldMkLst>
          <pc:docMk/>
          <pc:sldMk cId="2667964296" sldId="292"/>
        </pc:sldMkLst>
        <pc:spChg chg="mod">
          <ac:chgData name="Dhanashree Hadsul" userId="5263820c-7dfe-4b85-9f4c-b3dd882c9933" providerId="ADAL" clId="{850DFEED-9D11-3FA7-BD2B-23D61FB46639}" dt="2026-02-05T02:49:40.648" v="2" actId="1076"/>
          <ac:spMkLst>
            <pc:docMk/>
            <pc:sldMk cId="2667964296" sldId="292"/>
            <ac:spMk id="3" creationId="{F740A136-6BE7-CB8D-E95B-0D614F7807B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689E87-C2A2-49EC-B389-E9FF827D1D73}" type="datetimeFigureOut">
              <a:t>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B6A118-F16C-4E2B-B45C-EF12184475FF}" type="slidenum">
              <a:t>‹#›</a:t>
            </a:fld>
            <a:endParaRPr lang="en-US"/>
          </a:p>
        </p:txBody>
      </p:sp>
    </p:spTree>
    <p:extLst>
      <p:ext uri="{BB962C8B-B14F-4D97-AF65-F5344CB8AC3E}">
        <p14:creationId xmlns:p14="http://schemas.microsoft.com/office/powerpoint/2010/main" val="3326241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2.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9.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2.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6.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12.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16.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1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Security by Design:</a:t>
            </a:r>
            <a:endParaRPr lang="en-US" dirty="0"/>
          </a:p>
          <a:p>
            <a:pPr marL="342900" lvl="1" indent="-342900">
              <a:buChar char="•"/>
            </a:pPr>
            <a:r>
              <a:rPr lang="en-US" dirty="0"/>
              <a:t>Integrate security considerations into the software design process from the beginning.</a:t>
            </a:r>
          </a:p>
          <a:p>
            <a:pPr marL="342900" lvl="1" indent="-342900">
              <a:buChar char="•"/>
            </a:pPr>
            <a:r>
              <a:rPr lang="en-US" dirty="0"/>
              <a:t>Identify potential security risks and vulnerabilities at the architectural level.</a:t>
            </a:r>
          </a:p>
          <a:p>
            <a:pPr marL="342900" lvl="1" indent="-342900">
              <a:buChar char="•"/>
            </a:pPr>
            <a:r>
              <a:rPr lang="en-US" dirty="0"/>
              <a:t>Consider security as a fundamental aspect of the overall system rather than an add-on.</a:t>
            </a:r>
          </a:p>
          <a:p>
            <a:pPr>
              <a:buChar char="•"/>
            </a:pPr>
            <a:r>
              <a:rPr lang="en-US" b="1" dirty="0"/>
              <a:t>Layered Security:</a:t>
            </a:r>
            <a:endParaRPr lang="en-US" dirty="0"/>
          </a:p>
          <a:p>
            <a:pPr marL="342900" lvl="1" indent="-342900">
              <a:buChar char="•"/>
            </a:pPr>
            <a:r>
              <a:rPr lang="en-US" dirty="0"/>
              <a:t>Implement multiple layers of security controls, such as firewalls, intrusion detection/prevention systems, encryption, and access controls.</a:t>
            </a:r>
          </a:p>
          <a:p>
            <a:pPr marL="342900" lvl="1" indent="-342900">
              <a:buChar char="•"/>
            </a:pPr>
            <a:r>
              <a:rPr lang="en-US" dirty="0"/>
              <a:t>Each layer should serve as an additional defense mechanism, providing redundancy in case one layer is compromised.</a:t>
            </a:r>
          </a:p>
          <a:p>
            <a:pPr>
              <a:buChar char="•"/>
            </a:pPr>
            <a:r>
              <a:rPr lang="en-US" b="1" dirty="0"/>
              <a:t>Least Privilege Principle:</a:t>
            </a:r>
            <a:endParaRPr lang="en-US" dirty="0"/>
          </a:p>
          <a:p>
            <a:pPr marL="342900" lvl="1" indent="-342900">
              <a:buChar char="•"/>
            </a:pPr>
            <a:r>
              <a:rPr lang="en-US" dirty="0"/>
              <a:t>Limit the access and permissions of users, processes, and components to the minimum necessary for their tasks.</a:t>
            </a:r>
          </a:p>
          <a:p>
            <a:pPr marL="342900" lvl="1" indent="-342900">
              <a:buChar char="•"/>
            </a:pPr>
            <a:r>
              <a:rPr lang="en-US" dirty="0"/>
              <a:t>Reduce the potential impact of security breaches by minimizing the privileges granted to entities within the system.</a:t>
            </a:r>
          </a:p>
          <a:p>
            <a:pPr>
              <a:buChar char="•"/>
            </a:pPr>
            <a:r>
              <a:rPr lang="en-US" b="1" dirty="0"/>
              <a:t>Data Encryption:</a:t>
            </a:r>
            <a:endParaRPr lang="en-US" dirty="0"/>
          </a:p>
          <a:p>
            <a:pPr marL="342900" lvl="1" indent="-342900">
              <a:buChar char="•"/>
            </a:pPr>
            <a:r>
              <a:rPr lang="en-US" dirty="0"/>
              <a:t>Use encryption algorithms to protect sensitive data at rest, in transit, and during processing.</a:t>
            </a:r>
          </a:p>
          <a:p>
            <a:pPr marL="342900" lvl="1" indent="-342900">
              <a:buChar char="•"/>
            </a:pPr>
            <a:r>
              <a:rPr lang="en-US" dirty="0"/>
              <a:t>Implement secure key management practices to safeguard encryption keys.</a:t>
            </a:r>
          </a:p>
          <a:p>
            <a:pPr>
              <a:buChar char="•"/>
            </a:pPr>
            <a:r>
              <a:rPr lang="en-US" b="1" dirty="0"/>
              <a:t>Input Validation and Sanitization:</a:t>
            </a:r>
            <a:endParaRPr lang="en-US" dirty="0"/>
          </a:p>
          <a:p>
            <a:pPr marL="342900" lvl="1" indent="-342900">
              <a:buChar char="•"/>
            </a:pPr>
            <a:r>
              <a:rPr lang="en-US" dirty="0"/>
              <a:t>Thoroughly validate and sanitize all user inputs to prevent common vulnerabilities such as SQL injection, cross-site scripting (XSS), and other injection attacks.</a:t>
            </a:r>
          </a:p>
          <a:p>
            <a:pPr marL="342900" lvl="1" indent="-342900">
              <a:buChar char="•"/>
            </a:pPr>
            <a:r>
              <a:rPr lang="en-US" dirty="0"/>
              <a:t>Apply input validation at multiple layers of the software stack.</a:t>
            </a:r>
          </a:p>
          <a:p>
            <a:pPr>
              <a:buChar char="•"/>
            </a:pPr>
            <a:r>
              <a:rPr lang="en-US" b="1" dirty="0"/>
              <a:t>Error Handling and Logging:</a:t>
            </a:r>
            <a:endParaRPr lang="en-US" dirty="0"/>
          </a:p>
          <a:p>
            <a:pPr marL="342900" lvl="1" indent="-342900">
              <a:buChar char="•"/>
            </a:pPr>
            <a:r>
              <a:rPr lang="en-US" dirty="0"/>
              <a:t>Implement robust error handling mechanisms to gracefully handle unexpected situations without disclosing sensitive information.</a:t>
            </a:r>
          </a:p>
          <a:p>
            <a:pPr marL="342900" lvl="1" indent="-342900">
              <a:buChar char="•"/>
            </a:pPr>
            <a:r>
              <a:rPr lang="en-US" dirty="0"/>
              <a:t>Maintain detailed logs for auditing and monitoring purposes to detect and respond to security incidents.</a:t>
            </a:r>
          </a:p>
          <a:p>
            <a:pPr>
              <a:buChar char="•"/>
            </a:pPr>
            <a:r>
              <a:rPr lang="en-US" b="1" dirty="0"/>
              <a:t>Secure Communication Protocols:</a:t>
            </a:r>
            <a:endParaRPr lang="en-US" dirty="0"/>
          </a:p>
          <a:p>
            <a:pPr marL="342900" lvl="1" indent="-342900">
              <a:buChar char="•"/>
            </a:pPr>
            <a:r>
              <a:rPr lang="en-US" dirty="0"/>
              <a:t>Use secure communication protocols (e.g., HTTPS/TLS) to encrypt data exchanged between different components of the system.</a:t>
            </a:r>
          </a:p>
          <a:p>
            <a:pPr marL="342900" lvl="1" indent="-342900">
              <a:buChar char="•"/>
            </a:pPr>
            <a:r>
              <a:rPr lang="en-US" dirty="0"/>
              <a:t>Disable deprecated and insecure protocols to minimize attack vectors.</a:t>
            </a:r>
          </a:p>
          <a:p>
            <a:pPr>
              <a:buChar char="•"/>
            </a:pPr>
            <a:r>
              <a:rPr lang="en-US" b="1" dirty="0"/>
              <a:t>Regular Security Audits and Testing:</a:t>
            </a:r>
            <a:endParaRPr lang="en-US"/>
          </a:p>
          <a:p>
            <a:pPr marL="342900" lvl="1" indent="-342900">
              <a:buChar char="•"/>
            </a:pPr>
            <a:r>
              <a:rPr lang="en-US" dirty="0"/>
              <a:t>Conduct regular security audits and penetration testing to identify and address vulnerabilities.</a:t>
            </a:r>
          </a:p>
          <a:p>
            <a:pPr marL="342900" lvl="1" indent="-342900">
              <a:buChar char="•"/>
            </a:pPr>
            <a:r>
              <a:rPr lang="en-US" dirty="0"/>
              <a:t>Implement automated security testing as part of the continuous integration and deployment (CI/CD) pipeline.</a:t>
            </a:r>
          </a:p>
          <a:p>
            <a:pPr>
              <a:buChar char="•"/>
            </a:pPr>
            <a:r>
              <a:rPr lang="en-US" b="1" dirty="0"/>
              <a:t>Dependency Management:</a:t>
            </a:r>
            <a:endParaRPr lang="en-US" dirty="0"/>
          </a:p>
          <a:p>
            <a:pPr marL="342900" lvl="1" indent="-342900">
              <a:buChar char="•"/>
            </a:pPr>
            <a:r>
              <a:rPr lang="en-US" dirty="0"/>
              <a:t>Regularly update and patch third-party libraries and components to address known vulnerabilities.</a:t>
            </a:r>
          </a:p>
          <a:p>
            <a:pPr marL="342900" lvl="1" indent="-342900">
              <a:buChar char="•"/>
            </a:pPr>
            <a:r>
              <a:rPr lang="en-US" dirty="0"/>
              <a:t>Monitor for security advisories related to dependencies and act promptly to mitigate risks.</a:t>
            </a:r>
          </a:p>
          <a:p>
            <a:pPr>
              <a:buChar char="•"/>
            </a:pPr>
            <a:r>
              <a:rPr lang="en-US" b="1" dirty="0"/>
              <a:t>Incident Response Planning:</a:t>
            </a:r>
            <a:endParaRPr lang="en-US" dirty="0"/>
          </a:p>
          <a:p>
            <a:pPr marL="342900" lvl="1" indent="-342900">
              <a:buChar char="•"/>
            </a:pPr>
            <a:r>
              <a:rPr lang="en-US" dirty="0"/>
              <a:t>Develop and regularly update an incident response plan to guide the organization's response in case of a security incident.</a:t>
            </a:r>
          </a:p>
          <a:p>
            <a:pPr marL="342900" lvl="1" indent="-342900">
              <a:buChar char="•"/>
            </a:pPr>
            <a:r>
              <a:rPr lang="en-US" dirty="0"/>
              <a:t>Conduct drills and simulations to ensure that the team is prepared to handle security breaches effectively.</a:t>
            </a:r>
          </a:p>
          <a:p>
            <a:endParaRPr lang="en-US" dirty="0">
              <a:cs typeface="Calibri"/>
            </a:endParaRPr>
          </a:p>
        </p:txBody>
      </p:sp>
      <p:sp>
        <p:nvSpPr>
          <p:cNvPr id="4" name="Slide Number Placeholder 3"/>
          <p:cNvSpPr>
            <a:spLocks noGrp="1"/>
          </p:cNvSpPr>
          <p:nvPr>
            <p:ph type="sldNum" sz="quarter" idx="5"/>
          </p:nvPr>
        </p:nvSpPr>
        <p:spPr/>
        <p:txBody>
          <a:bodyPr/>
          <a:lstStyle/>
          <a:p>
            <a:fld id="{19B6A118-F16C-4E2B-B45C-EF12184475FF}" type="slidenum">
              <a:t>7</a:t>
            </a:fld>
            <a:endParaRPr lang="en-US"/>
          </a:p>
        </p:txBody>
      </p:sp>
    </p:spTree>
    <p:extLst>
      <p:ext uri="{BB962C8B-B14F-4D97-AF65-F5344CB8AC3E}">
        <p14:creationId xmlns:p14="http://schemas.microsoft.com/office/powerpoint/2010/main" val="2294427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Steps for Security Regression Testing:</a:t>
            </a:r>
            <a:endParaRPr lang="en-US"/>
          </a:p>
          <a:p>
            <a:r>
              <a:rPr lang="en-US" b="1"/>
              <a:t>1. Test Existing Security Features</a:t>
            </a:r>
            <a:endParaRPr lang="en-US"/>
          </a:p>
          <a:p>
            <a:pPr marL="285750" indent="-285750">
              <a:buFont typeface="Arial"/>
              <a:buChar char="•"/>
            </a:pPr>
            <a:r>
              <a:rPr lang="en-US" b="1"/>
              <a:t>Test Case 1:</a:t>
            </a:r>
            <a:r>
              <a:rPr lang="en-US"/>
              <a:t> Verify that password strength enforcement still works (e.g., requires at least 8 characters, a mix of uppercase, lowercase, numbers, and symbols).</a:t>
            </a:r>
          </a:p>
          <a:p>
            <a:pPr marL="285750" indent="-285750">
              <a:buFont typeface="Arial"/>
              <a:buChar char="•"/>
            </a:pPr>
            <a:r>
              <a:rPr lang="en-US" b="1"/>
              <a:t>Test Case 2:</a:t>
            </a:r>
            <a:r>
              <a:rPr lang="en-US"/>
              <a:t> Ensure account lockout policies remain functional after several failed login attempts.</a:t>
            </a:r>
          </a:p>
          <a:p>
            <a:pPr marL="285750" indent="-285750">
              <a:buFont typeface="Arial"/>
              <a:buChar char="•"/>
            </a:pPr>
            <a:r>
              <a:rPr lang="en-US" b="1"/>
              <a:t>Test Case 3:</a:t>
            </a:r>
            <a:r>
              <a:rPr lang="en-US"/>
              <a:t> Confirm that user session tokens are invalidated upon logout.</a:t>
            </a:r>
          </a:p>
          <a:p>
            <a:r>
              <a:rPr lang="en-US" b="1" dirty="0"/>
              <a:t>2. Validate New Changes</a:t>
            </a:r>
            <a:endParaRPr lang="en-US" dirty="0"/>
          </a:p>
          <a:p>
            <a:pPr marL="285750" indent="-285750">
              <a:buFont typeface="Arial"/>
              <a:buChar char="•"/>
            </a:pPr>
            <a:r>
              <a:rPr lang="en-US" b="1" dirty="0"/>
              <a:t>Test Case 4:</a:t>
            </a:r>
            <a:r>
              <a:rPr lang="en-US" dirty="0"/>
              <a:t> Ensure that the MFA system properly triggers for accounts enabled with this feature.</a:t>
            </a:r>
            <a:endParaRPr lang="en-US" dirty="0">
              <a:ea typeface="Calibri"/>
              <a:cs typeface="Calibri"/>
            </a:endParaRPr>
          </a:p>
          <a:p>
            <a:pPr marL="285750" indent="-285750">
              <a:buFont typeface="Arial"/>
              <a:buChar char="•"/>
            </a:pPr>
            <a:r>
              <a:rPr lang="en-US" b="1" dirty="0"/>
              <a:t>Test Case 5:</a:t>
            </a:r>
            <a:r>
              <a:rPr lang="en-US" dirty="0"/>
              <a:t> Verify that MFA tokens expire after a specific time, and reused tokens are rejected.</a:t>
            </a:r>
            <a:endParaRPr lang="en-US" dirty="0">
              <a:ea typeface="Calibri"/>
              <a:cs typeface="Calibri"/>
            </a:endParaRPr>
          </a:p>
          <a:p>
            <a:pPr marL="285750" indent="-285750">
              <a:buFont typeface="Arial"/>
              <a:buChar char="•"/>
            </a:pPr>
            <a:r>
              <a:rPr lang="en-US" b="1" dirty="0"/>
              <a:t>Test Case 6:</a:t>
            </a:r>
            <a:r>
              <a:rPr lang="en-US" dirty="0"/>
              <a:t> Test the fallback mechanism for users without MFA enabled, ensuring it doesn’t bypass authentication checks.</a:t>
            </a:r>
            <a:endParaRPr lang="en-US" dirty="0">
              <a:ea typeface="Calibri"/>
              <a:cs typeface="Calibri"/>
            </a:endParaRPr>
          </a:p>
          <a:p>
            <a:r>
              <a:rPr lang="en-US" b="1" dirty="0"/>
              <a:t>3. Check for Common Security Vulnerabilities</a:t>
            </a:r>
            <a:endParaRPr lang="en-US" dirty="0"/>
          </a:p>
          <a:p>
            <a:pPr marL="285750" indent="-285750">
              <a:buFont typeface="Arial"/>
              <a:buChar char="•"/>
            </a:pPr>
            <a:r>
              <a:rPr lang="en-US" b="1" dirty="0"/>
              <a:t>Test Case 7:</a:t>
            </a:r>
            <a:r>
              <a:rPr lang="en-US" dirty="0"/>
              <a:t> Conduct SQL injection tests on the login endpoint to verify proper input sanitization.</a:t>
            </a:r>
            <a:endParaRPr lang="en-US" dirty="0">
              <a:ea typeface="Calibri"/>
              <a:cs typeface="Calibri"/>
            </a:endParaRPr>
          </a:p>
          <a:p>
            <a:pPr marL="285750" indent="-285750">
              <a:buFont typeface="Arial"/>
              <a:buChar char="•"/>
            </a:pPr>
            <a:r>
              <a:rPr lang="en-US" b="1" dirty="0"/>
              <a:t>Test Case 8:</a:t>
            </a:r>
            <a:r>
              <a:rPr lang="en-US" dirty="0"/>
              <a:t> Validate that the system is protected against Cross-Site Scripting (XSS) in error messages displayed during login.</a:t>
            </a:r>
            <a:endParaRPr lang="en-US" dirty="0">
              <a:ea typeface="Calibri"/>
              <a:cs typeface="Calibri"/>
            </a:endParaRPr>
          </a:p>
          <a:p>
            <a:pPr marL="285750" indent="-285750">
              <a:buFont typeface="Arial"/>
              <a:buChar char="•"/>
            </a:pPr>
            <a:r>
              <a:rPr lang="en-US" b="1" dirty="0"/>
              <a:t>Test Case 9:</a:t>
            </a:r>
            <a:r>
              <a:rPr lang="en-US" dirty="0"/>
              <a:t> Test for Cross-Site Request Forgery (CSRF) by ensuring that the login form includes proper CSRF tokens.</a:t>
            </a:r>
            <a:endParaRPr lang="en-US" dirty="0">
              <a:ea typeface="Calibri"/>
              <a:cs typeface="Calibri"/>
            </a:endParaRPr>
          </a:p>
          <a:p>
            <a:r>
              <a:rPr lang="en-US" b="1" dirty="0"/>
              <a:t>4. Test Integration with Other Components</a:t>
            </a:r>
            <a:endParaRPr lang="en-US" dirty="0"/>
          </a:p>
          <a:p>
            <a:pPr marL="285750" indent="-285750">
              <a:buFont typeface="Arial"/>
              <a:buChar char="•"/>
            </a:pPr>
            <a:r>
              <a:rPr lang="en-US" b="1" dirty="0"/>
              <a:t>Test Case 10:</a:t>
            </a:r>
            <a:r>
              <a:rPr lang="en-US" dirty="0"/>
              <a:t> Verify the integration of the MFA system with third-party authentication services (e.g., SMS or email providers).</a:t>
            </a:r>
            <a:endParaRPr lang="en-US" dirty="0">
              <a:ea typeface="Calibri"/>
              <a:cs typeface="Calibri"/>
            </a:endParaRPr>
          </a:p>
          <a:p>
            <a:pPr marL="285750" indent="-285750">
              <a:buFont typeface="Arial"/>
              <a:buChar char="•"/>
            </a:pPr>
            <a:r>
              <a:rPr lang="en-US" b="1" dirty="0"/>
              <a:t>Test Case 11:</a:t>
            </a:r>
            <a:r>
              <a:rPr lang="en-US" dirty="0"/>
              <a:t> Ensure proper logging of security-relevant events (e.g., login attempts, failed MFA attempts) without exposing sensitive data in logs.</a:t>
            </a:r>
            <a:endParaRPr lang="en-US" dirty="0">
              <a:ea typeface="Calibri"/>
              <a:cs typeface="Calibri"/>
            </a:endParaRPr>
          </a:p>
          <a:p>
            <a:r>
              <a:rPr lang="en-US" b="1" dirty="0"/>
              <a:t>5. Automate and Retest Known Security Issues</a:t>
            </a:r>
            <a:endParaRPr lang="en-US" dirty="0"/>
          </a:p>
          <a:p>
            <a:pPr marL="285750" indent="-285750">
              <a:buFont typeface="Arial"/>
              <a:buChar char="•"/>
            </a:pPr>
            <a:r>
              <a:rPr lang="en-US" dirty="0"/>
              <a:t>If previous vulnerabilities were identified, rerun automated security tests (e.g., using tools like OWASP ZAP or Burp Suite) to confirm they are still resolved.</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19B6A118-F16C-4E2B-B45C-EF12184475FF}" type="slidenum">
              <a:rPr lang="en-US"/>
              <a:t>13</a:t>
            </a:fld>
            <a:endParaRPr lang="en-US"/>
          </a:p>
        </p:txBody>
      </p:sp>
    </p:spTree>
    <p:extLst>
      <p:ext uri="{BB962C8B-B14F-4D97-AF65-F5344CB8AC3E}">
        <p14:creationId xmlns:p14="http://schemas.microsoft.com/office/powerpoint/2010/main" val="797173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Encrypt is a new Certificate Authority (CA) that offers FREE SSL certificates that are just as secure as paid certificates. This project was pioneered to make encrypted connections the default standard throughout the Internet.</a:t>
            </a:r>
          </a:p>
        </p:txBody>
      </p:sp>
      <p:sp>
        <p:nvSpPr>
          <p:cNvPr id="4" name="Slide Number Placeholder 3"/>
          <p:cNvSpPr>
            <a:spLocks noGrp="1"/>
          </p:cNvSpPr>
          <p:nvPr>
            <p:ph type="sldNum" sz="quarter" idx="5"/>
          </p:nvPr>
        </p:nvSpPr>
        <p:spPr/>
        <p:txBody>
          <a:bodyPr/>
          <a:lstStyle/>
          <a:p>
            <a:fld id="{19B6A118-F16C-4E2B-B45C-EF12184475FF}" type="slidenum">
              <a:rPr lang="en-US"/>
              <a:t>22</a:t>
            </a:fld>
            <a:endParaRPr lang="en-US"/>
          </a:p>
        </p:txBody>
      </p:sp>
    </p:spTree>
    <p:extLst>
      <p:ext uri="{BB962C8B-B14F-4D97-AF65-F5344CB8AC3E}">
        <p14:creationId xmlns:p14="http://schemas.microsoft.com/office/powerpoint/2010/main" val="38433992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basic web application with two components: a client in the browser, and a server that talks to that client. Sure, we could begin by reviewing the server-side code. In fact, there is nothing wrong with that. But there may be functionality on the server that is not exposed to the client. This means that without having a good understand‐ </a:t>
            </a:r>
            <a:r>
              <a:rPr lang="en-US" dirty="0" err="1"/>
              <a:t>ing</a:t>
            </a:r>
            <a:r>
              <a:rPr lang="en-US" dirty="0"/>
              <a:t> of the functionality intended for users (versus internal methods and such), your effort may be accidentally focused on lower-risk code when high-risk code should be prioritized. This is a confusing concept to grasp, but just like in Chapter 18 on secure application architecture, we need to realize that in an ideal world every piece of application code would be equally reviewed. Unfortunately, that reflects an ideal world, and in the real world there are often deadlines, timelines, and alternate projects that require attention. As a result, a good place to start in the actual source code is anywhere that a client (browser) makes a request to the server. Starting on the client is great because it will begin to give you a good idea of the surface area you are dealing with. From there you can learn what type of data is exchanged between the client and server, and if multiple servers are being utilized rather than one. Furthermore, you can learn about the pay‐ loads being exchanged and how these payloads are being interpreted on the server. After evaluating the client itself, you should follow the client’s API calls back to the server. Begin evaluating calls that connect the client and the server in the web application. Once this is complete, you should probably consider tracing the helper methods, dependencies, and functionality those APIs rely on. This means evaluating databases, logs, uploaded files, conversion libraries, and anything else that the API endpoints call directly or via a helper library. Next, cover the bases by looking over every bit of functionality that could be exposed to the client but isn’t directly called. This could be APIs built to support upcoming Where to Start a Security Review | 209 functionality, or perhaps just functionality that was accidentally exposed and should be internal. Finally, after those major points in the codebase have been covered, dedicate your time to the rest of the codebase. Determine the route taken via analysis of the </a:t>
            </a:r>
            <a:r>
              <a:rPr lang="en-US" dirty="0" err="1"/>
              <a:t>busi</a:t>
            </a:r>
            <a:r>
              <a:rPr lang="en-US" dirty="0"/>
              <a:t>‐ ness logic and prioritization based on the risks you envision such an application encountering.</a:t>
            </a:r>
          </a:p>
        </p:txBody>
      </p:sp>
      <p:sp>
        <p:nvSpPr>
          <p:cNvPr id="4" name="Slide Number Placeholder 3"/>
          <p:cNvSpPr>
            <a:spLocks noGrp="1"/>
          </p:cNvSpPr>
          <p:nvPr>
            <p:ph type="sldNum" sz="quarter" idx="5"/>
          </p:nvPr>
        </p:nvSpPr>
        <p:spPr/>
        <p:txBody>
          <a:bodyPr/>
          <a:lstStyle/>
          <a:p>
            <a:fld id="{19B6A118-F16C-4E2B-B45C-EF12184475FF}" type="slidenum">
              <a:rPr lang="en-US"/>
              <a:t>38</a:t>
            </a:fld>
            <a:endParaRPr lang="en-US"/>
          </a:p>
        </p:txBody>
      </p:sp>
    </p:spTree>
    <p:extLst>
      <p:ext uri="{BB962C8B-B14F-4D97-AF65-F5344CB8AC3E}">
        <p14:creationId xmlns:p14="http://schemas.microsoft.com/office/powerpoint/2010/main" val="2297532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Blacklist Anti-pattern:</a:t>
            </a:r>
            <a:endParaRPr lang="en-US" dirty="0"/>
          </a:p>
          <a:p>
            <a:r>
              <a:rPr lang="en-US" b="1" dirty="0"/>
              <a:t>Incomplete Coverage:</a:t>
            </a:r>
            <a:endParaRPr lang="en-US" dirty="0"/>
          </a:p>
          <a:p>
            <a:pPr marL="342900" lvl="1" indent="-342900">
              <a:buChar char="•"/>
            </a:pPr>
            <a:r>
              <a:rPr lang="en-US" b="1" dirty="0"/>
              <a:t>Issue:</a:t>
            </a:r>
            <a:r>
              <a:rPr lang="en-US" dirty="0"/>
              <a:t> Relying solely on a blacklist may not cover all possible malicious inputs or actions. Attackers can find ways to evade detection by using variations or new techniques.</a:t>
            </a:r>
            <a:endParaRPr lang="en-US" dirty="0">
              <a:ea typeface="Calibri"/>
              <a:cs typeface="Calibri"/>
            </a:endParaRPr>
          </a:p>
          <a:p>
            <a:pPr marL="342900" lvl="1" indent="-342900">
              <a:buChar char="•"/>
            </a:pPr>
            <a:r>
              <a:rPr lang="en-US" b="1" dirty="0"/>
              <a:t>Prevention:</a:t>
            </a:r>
            <a:r>
              <a:rPr lang="en-US" dirty="0"/>
              <a:t> Complement blacklists with other security measures, such as input validation, whitelisting, and behavior-based analysis.</a:t>
            </a:r>
            <a:endParaRPr lang="en-US" dirty="0">
              <a:ea typeface="Calibri"/>
              <a:cs typeface="Calibri"/>
            </a:endParaRPr>
          </a:p>
          <a:p>
            <a:pPr>
              <a:buChar char="•"/>
            </a:pPr>
            <a:r>
              <a:rPr lang="en-US" b="1" dirty="0"/>
              <a:t>Maintenance Challenges</a:t>
            </a:r>
            <a:r>
              <a:rPr lang="en-US" b="1" i="1" dirty="0"/>
              <a:t>:</a:t>
            </a:r>
            <a:endParaRPr lang="en-US" i="1" dirty="0">
              <a:ea typeface="Calibri"/>
              <a:cs typeface="Calibri"/>
            </a:endParaRPr>
          </a:p>
          <a:p>
            <a:pPr marL="342900" lvl="1" indent="-342900">
              <a:buChar char="•"/>
            </a:pPr>
            <a:r>
              <a:rPr lang="en-US" b="1" i="1" dirty="0"/>
              <a:t>Issue:</a:t>
            </a:r>
            <a:r>
              <a:rPr lang="en-US" i="1" dirty="0"/>
              <a:t> Blacklists require regular updates to remain effective. Failing to update the list promptly can result in outdated protections.</a:t>
            </a:r>
            <a:endParaRPr lang="en-US" i="1" dirty="0">
              <a:ea typeface="Calibri"/>
              <a:cs typeface="Calibri"/>
            </a:endParaRPr>
          </a:p>
          <a:p>
            <a:pPr marL="342900" lvl="1" indent="-342900">
              <a:buChar char="•"/>
            </a:pPr>
            <a:r>
              <a:rPr lang="en-US" b="1" i="1" dirty="0"/>
              <a:t>Prevention:</a:t>
            </a:r>
            <a:r>
              <a:rPr lang="en-US" i="1" dirty="0"/>
              <a:t> Establish a process for regularly updating and maintaining blacklists. Automated systems can help, but human oversight is often necessary.</a:t>
            </a:r>
            <a:endParaRPr lang="en-US" i="1" dirty="0">
              <a:ea typeface="Calibri"/>
              <a:cs typeface="Calibri"/>
            </a:endParaRPr>
          </a:p>
          <a:p>
            <a:pPr>
              <a:buChar char="•"/>
            </a:pPr>
            <a:r>
              <a:rPr lang="en-US" b="1" i="1" dirty="0"/>
              <a:t>False Positives/Negatives:</a:t>
            </a:r>
            <a:endParaRPr lang="en-US" i="1" dirty="0">
              <a:ea typeface="Calibri"/>
              <a:cs typeface="Calibri"/>
            </a:endParaRPr>
          </a:p>
          <a:p>
            <a:pPr marL="342900" lvl="1" indent="-342900">
              <a:buChar char="•"/>
            </a:pPr>
            <a:r>
              <a:rPr lang="en-US" b="1" i="1" dirty="0"/>
              <a:t>Issue:</a:t>
            </a:r>
            <a:r>
              <a:rPr lang="en-US" i="1" dirty="0"/>
              <a:t> Blacklists may generate false positives (blocking legitimate entities) or false negatives (allowing malicious entities).</a:t>
            </a:r>
            <a:endParaRPr lang="en-US" i="1" dirty="0">
              <a:ea typeface="Calibri"/>
              <a:cs typeface="Calibri"/>
            </a:endParaRPr>
          </a:p>
          <a:p>
            <a:pPr marL="342900" lvl="1" indent="-342900">
              <a:buChar char="•"/>
            </a:pPr>
            <a:r>
              <a:rPr lang="en-US" b="1" i="1" dirty="0"/>
              <a:t>Prevention:</a:t>
            </a:r>
            <a:r>
              <a:rPr lang="en-US" i="1" dirty="0"/>
              <a:t> Fine-tune the blacklist rules to minimize false positives and negatives. Regularly review and adjust the rules based on feedback and monitoring.</a:t>
            </a:r>
            <a:endParaRPr lang="en-US" i="1" dirty="0">
              <a:ea typeface="Calibri"/>
              <a:cs typeface="Calibri"/>
            </a:endParaRPr>
          </a:p>
          <a:p>
            <a:r>
              <a:rPr lang="en-US" b="1" i="1" dirty="0"/>
              <a:t>Resource Exhaustion:</a:t>
            </a:r>
            <a:endParaRPr lang="en-US" i="1" dirty="0">
              <a:ea typeface="Calibri"/>
              <a:cs typeface="Calibri"/>
            </a:endParaRPr>
          </a:p>
          <a:p>
            <a:pPr marL="342900" lvl="1" indent="-342900">
              <a:buChar char="•"/>
            </a:pPr>
            <a:r>
              <a:rPr lang="en-US" b="1" i="1" dirty="0"/>
              <a:t>Issue:</a:t>
            </a:r>
            <a:r>
              <a:rPr lang="en-US" i="1" dirty="0"/>
              <a:t> A poorly implemented blacklist can become a resource-intensive process, leading to performance degradation or denial-of-service vulnerabilities.</a:t>
            </a:r>
            <a:endParaRPr lang="en-US" i="1" dirty="0">
              <a:ea typeface="Calibri"/>
              <a:cs typeface="Calibri"/>
            </a:endParaRPr>
          </a:p>
          <a:p>
            <a:pPr marL="342900" lvl="1" indent="-342900">
              <a:buChar char="•"/>
            </a:pPr>
            <a:r>
              <a:rPr lang="en-US" b="1" i="1" dirty="0"/>
              <a:t>Prevention:</a:t>
            </a:r>
            <a:r>
              <a:rPr lang="en-US" i="1" dirty="0"/>
              <a:t> Optimize blacklist implementation to minimize resource usage. Consider using efficient data structures and algorithms.</a:t>
            </a:r>
            <a:endParaRPr lang="en-US" i="1" dirty="0">
              <a:ea typeface="Calibri"/>
              <a:cs typeface="Calibri"/>
            </a:endParaRPr>
          </a:p>
          <a:p>
            <a:pPr>
              <a:buChar char="•"/>
            </a:pPr>
            <a:r>
              <a:rPr lang="en-US" b="1" i="1" dirty="0"/>
              <a:t>Lack of Context Awareness:</a:t>
            </a:r>
            <a:endParaRPr lang="en-US" i="1" dirty="0">
              <a:ea typeface="Calibri"/>
              <a:cs typeface="Calibri"/>
            </a:endParaRPr>
          </a:p>
          <a:p>
            <a:pPr marL="342900" lvl="1" indent="-342900">
              <a:buChar char="•"/>
            </a:pPr>
            <a:r>
              <a:rPr lang="en-US" b="1" i="1" dirty="0"/>
              <a:t>Issue:</a:t>
            </a:r>
            <a:r>
              <a:rPr lang="en-US" i="1" dirty="0"/>
              <a:t> Blacklists may lack context awareness, leading to the blocking of legitimate activities or allowing malicious activities that aren't explicitly covered.</a:t>
            </a:r>
            <a:endParaRPr lang="en-US" i="1" dirty="0">
              <a:ea typeface="Calibri"/>
              <a:cs typeface="Calibri"/>
            </a:endParaRPr>
          </a:p>
          <a:p>
            <a:pPr marL="342900" lvl="1" indent="-342900">
              <a:buChar char="•"/>
            </a:pPr>
            <a:r>
              <a:rPr lang="en-US" b="1" i="1" dirty="0"/>
              <a:t>Prevention:</a:t>
            </a:r>
            <a:r>
              <a:rPr lang="en-US" i="1" dirty="0"/>
              <a:t> Combine blacklists with context-aware security measures, such as anomaly detection or behavioral analysis, to enhance the overall security posture.</a:t>
            </a:r>
            <a:endParaRPr lang="en-US" i="1" dirty="0">
              <a:ea typeface="Calibri"/>
              <a:cs typeface="Calibri"/>
            </a:endParaRPr>
          </a:p>
          <a:p>
            <a:endParaRPr lang="en-US" i="1" dirty="0">
              <a:ea typeface="Calibri"/>
              <a:cs typeface="Calibri"/>
            </a:endParaRPr>
          </a:p>
        </p:txBody>
      </p:sp>
      <p:sp>
        <p:nvSpPr>
          <p:cNvPr id="4" name="Slide Number Placeholder 3"/>
          <p:cNvSpPr>
            <a:spLocks noGrp="1"/>
          </p:cNvSpPr>
          <p:nvPr>
            <p:ph type="sldNum" sz="quarter" idx="5"/>
          </p:nvPr>
        </p:nvSpPr>
        <p:spPr/>
        <p:txBody>
          <a:bodyPr/>
          <a:lstStyle/>
          <a:p>
            <a:fld id="{19B6A118-F16C-4E2B-B45C-EF12184475FF}" type="slidenum">
              <a:rPr lang="en-US"/>
              <a:t>41</a:t>
            </a:fld>
            <a:endParaRPr lang="en-US"/>
          </a:p>
        </p:txBody>
      </p:sp>
    </p:spTree>
    <p:extLst>
      <p:ext uri="{BB962C8B-B14F-4D97-AF65-F5344CB8AC3E}">
        <p14:creationId xmlns:p14="http://schemas.microsoft.com/office/powerpoint/2010/main" val="35209363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Code Duplication:</a:t>
            </a:r>
            <a:endParaRPr lang="en-US" dirty="0"/>
          </a:p>
          <a:p>
            <a:pPr marL="342900" lvl="1" indent="-342900">
              <a:buChar char="•"/>
            </a:pPr>
            <a:r>
              <a:rPr lang="en-US" b="1" dirty="0"/>
              <a:t>Issue:</a:t>
            </a:r>
            <a:r>
              <a:rPr lang="en-US" dirty="0"/>
              <a:t> Repeated blocks of code can lead to redundancy, making it challenging to maintain consistency and correctness.</a:t>
            </a:r>
            <a:endParaRPr lang="en-US" dirty="0">
              <a:ea typeface="Calibri"/>
              <a:cs typeface="Calibri"/>
            </a:endParaRPr>
          </a:p>
          <a:p>
            <a:pPr marL="342900" lvl="1" indent="-342900">
              <a:buChar char="•"/>
            </a:pPr>
            <a:r>
              <a:rPr lang="en-US" b="1" dirty="0"/>
              <a:t>Prevention:</a:t>
            </a:r>
            <a:r>
              <a:rPr lang="en-US" dirty="0"/>
              <a:t> Identify common patterns and extract them into reusable functions, classes, or modules. Encourage a modular and DRY (Don't Repeat Yourself) approach.</a:t>
            </a:r>
            <a:endParaRPr lang="en-US" dirty="0">
              <a:ea typeface="Calibri"/>
              <a:cs typeface="Calibri"/>
            </a:endParaRPr>
          </a:p>
          <a:p>
            <a:pPr>
              <a:buChar char="•"/>
            </a:pPr>
            <a:r>
              <a:rPr lang="en-US" b="1" dirty="0"/>
              <a:t>Maintenance Difficulty:</a:t>
            </a:r>
            <a:endParaRPr lang="en-US" dirty="0"/>
          </a:p>
          <a:p>
            <a:pPr marL="342900" lvl="1" indent="-342900">
              <a:buChar char="•"/>
            </a:pPr>
            <a:r>
              <a:rPr lang="en-US" b="1" dirty="0"/>
              <a:t>Issue:</a:t>
            </a:r>
            <a:r>
              <a:rPr lang="en-US" dirty="0"/>
              <a:t> Changes in one instance of boilerplate code may not be reflected in other instances, leading to inconsistencies.</a:t>
            </a:r>
            <a:endParaRPr lang="en-US" dirty="0">
              <a:ea typeface="Calibri"/>
              <a:cs typeface="Calibri"/>
            </a:endParaRPr>
          </a:p>
          <a:p>
            <a:pPr marL="342900" lvl="1" indent="-342900">
              <a:buChar char="•"/>
            </a:pPr>
            <a:r>
              <a:rPr lang="en-US" b="1" dirty="0"/>
              <a:t>Prevention:</a:t>
            </a:r>
            <a:r>
              <a:rPr lang="en-US" dirty="0"/>
              <a:t> Centralize common logic to minimize the impact of changes. This makes updates and maintenance more straightforward.</a:t>
            </a:r>
            <a:endParaRPr lang="en-US" dirty="0">
              <a:ea typeface="Calibri"/>
              <a:cs typeface="Calibri"/>
            </a:endParaRPr>
          </a:p>
          <a:p>
            <a:pPr>
              <a:buChar char="•"/>
            </a:pPr>
            <a:r>
              <a:rPr lang="en-US" b="1" dirty="0"/>
              <a:t>Readability and Cognitive Load:</a:t>
            </a:r>
            <a:endParaRPr lang="en-US" dirty="0"/>
          </a:p>
          <a:p>
            <a:pPr marL="342900" lvl="1" indent="-342900">
              <a:buChar char="•"/>
            </a:pPr>
            <a:r>
              <a:rPr lang="en-US" b="1" dirty="0"/>
              <a:t>Issue:</a:t>
            </a:r>
            <a:r>
              <a:rPr lang="en-US" dirty="0"/>
              <a:t> Excessive boilerplate can make code harder to read and understand, increasing cognitive load for developers.</a:t>
            </a:r>
            <a:endParaRPr lang="en-US" dirty="0">
              <a:ea typeface="Calibri"/>
              <a:cs typeface="Calibri"/>
            </a:endParaRPr>
          </a:p>
          <a:p>
            <a:pPr marL="342900" lvl="1" indent="-342900">
              <a:buChar char="•"/>
            </a:pPr>
            <a:r>
              <a:rPr lang="en-US" b="1" dirty="0"/>
              <a:t>Prevention:</a:t>
            </a:r>
            <a:r>
              <a:rPr lang="en-US" dirty="0"/>
              <a:t> Use abstractions and design patterns to encapsulate repetitive code, making the overall structure of the codebase more intuitive.</a:t>
            </a:r>
            <a:endParaRPr lang="en-US" dirty="0">
              <a:ea typeface="Calibri"/>
              <a:cs typeface="Calibri"/>
            </a:endParaRPr>
          </a:p>
          <a:p>
            <a:pPr>
              <a:buChar char="•"/>
            </a:pPr>
            <a:r>
              <a:rPr lang="en-US" b="1" dirty="0"/>
              <a:t>Error-Prone:</a:t>
            </a:r>
            <a:endParaRPr lang="en-US" dirty="0"/>
          </a:p>
          <a:p>
            <a:pPr marL="342900" lvl="1" indent="-342900">
              <a:buChar char="•"/>
            </a:pPr>
            <a:r>
              <a:rPr lang="en-US" b="1" dirty="0"/>
              <a:t>Issue:</a:t>
            </a:r>
            <a:r>
              <a:rPr lang="en-US" dirty="0"/>
              <a:t> Copying and pasting code increases the likelihood of introducing errors, especially when modifications are made inconsistently.</a:t>
            </a:r>
            <a:endParaRPr lang="en-US" dirty="0">
              <a:ea typeface="Calibri"/>
              <a:cs typeface="Calibri"/>
            </a:endParaRPr>
          </a:p>
          <a:p>
            <a:pPr marL="342900" lvl="1" indent="-342900">
              <a:buChar char="•"/>
            </a:pPr>
            <a:r>
              <a:rPr lang="en-US" b="1" dirty="0"/>
              <a:t>Prevention:</a:t>
            </a:r>
            <a:r>
              <a:rPr lang="en-US" dirty="0"/>
              <a:t> Centralize functionality in a single place to reduce the risk of introducing errors during code duplication. Automated testing can also help catch regressions.</a:t>
            </a:r>
            <a:endParaRPr lang="en-US" dirty="0">
              <a:ea typeface="Calibri"/>
              <a:cs typeface="Calibri"/>
            </a:endParaRPr>
          </a:p>
          <a:p>
            <a:pPr>
              <a:buChar char="•"/>
            </a:pPr>
            <a:r>
              <a:rPr lang="en-US" b="1" dirty="0"/>
              <a:t>Code Bloat:</a:t>
            </a:r>
            <a:endParaRPr lang="en-US" dirty="0"/>
          </a:p>
          <a:p>
            <a:pPr marL="342900" lvl="1" indent="-342900">
              <a:buChar char="•"/>
            </a:pPr>
            <a:r>
              <a:rPr lang="en-US" b="1" dirty="0"/>
              <a:t>Issue:</a:t>
            </a:r>
            <a:r>
              <a:rPr lang="en-US" dirty="0"/>
              <a:t> Unnecessary repetition can lead to larger codebases, impacting performance and making the codebase harder to manage.</a:t>
            </a:r>
            <a:endParaRPr lang="en-US" dirty="0">
              <a:ea typeface="Calibri"/>
              <a:cs typeface="Calibri"/>
            </a:endParaRPr>
          </a:p>
          <a:p>
            <a:pPr marL="342900" lvl="1" indent="-342900">
              <a:buChar char="•"/>
            </a:pPr>
            <a:r>
              <a:rPr lang="en-US" b="1" dirty="0"/>
              <a:t>Prevention:</a:t>
            </a:r>
            <a:r>
              <a:rPr lang="en-US" dirty="0"/>
              <a:t> Regularly review and refactor code to eliminate unnecessary redundancy. Use tools that identify and highlight duplicated code.</a:t>
            </a:r>
            <a:endParaRPr lang="en-US" dirty="0">
              <a:ea typeface="Calibri"/>
              <a:cs typeface="Calibri"/>
            </a:endParaRPr>
          </a:p>
          <a:p>
            <a:pPr>
              <a:buChar char="•"/>
            </a:pPr>
            <a:r>
              <a:rPr lang="en-US" b="1" dirty="0"/>
              <a:t>Inflexibility:</a:t>
            </a:r>
            <a:endParaRPr lang="en-US" dirty="0"/>
          </a:p>
          <a:p>
            <a:pPr marL="342900" lvl="1" indent="-342900">
              <a:buChar char="•"/>
            </a:pPr>
            <a:r>
              <a:rPr lang="en-US" b="1" dirty="0"/>
              <a:t>Issue:</a:t>
            </a:r>
            <a:r>
              <a:rPr lang="en-US" dirty="0"/>
              <a:t> Changes to the common functionality may require modifications in multiple places, making the codebase less adaptable to evolving requirements.</a:t>
            </a:r>
            <a:endParaRPr lang="en-US" dirty="0">
              <a:ea typeface="Calibri"/>
              <a:cs typeface="Calibri"/>
            </a:endParaRPr>
          </a:p>
          <a:p>
            <a:pPr marL="342900" lvl="1" indent="-342900">
              <a:buChar char="•"/>
            </a:pPr>
            <a:r>
              <a:rPr lang="en-US" b="1" dirty="0"/>
              <a:t>Prevention:</a:t>
            </a:r>
            <a:r>
              <a:rPr lang="en-US" dirty="0"/>
              <a:t> Employ design patterns, such as the Template Method Pattern or Strategy Pattern, to abstract and modularize common functionality, making it easier to extend and modify.</a:t>
            </a:r>
            <a:endParaRPr lang="en-US" dirty="0">
              <a:ea typeface="Calibri"/>
              <a:cs typeface="Calibri"/>
            </a:endParaRPr>
          </a:p>
          <a:p>
            <a:pPr>
              <a:buChar char="•"/>
            </a:pPr>
            <a:r>
              <a:rPr lang="en-US" b="1" dirty="0"/>
              <a:t>Failure to Leverage Abstractions:</a:t>
            </a:r>
            <a:endParaRPr lang="en-US" dirty="0"/>
          </a:p>
          <a:p>
            <a:pPr marL="342900" lvl="1" indent="-342900">
              <a:buChar char="•"/>
            </a:pPr>
            <a:r>
              <a:rPr lang="en-US" b="1" dirty="0"/>
              <a:t>Issue:</a:t>
            </a:r>
            <a:r>
              <a:rPr lang="en-US" dirty="0"/>
              <a:t> Failing to create and use abstractions can lead to a lack of flexibility and hinder the adoption of new technologies or methodologies.</a:t>
            </a:r>
            <a:endParaRPr lang="en-US" dirty="0">
              <a:ea typeface="Calibri"/>
              <a:cs typeface="Calibri"/>
            </a:endParaRPr>
          </a:p>
          <a:p>
            <a:pPr marL="342900" lvl="1" indent="-342900">
              <a:buChar char="•"/>
            </a:pPr>
            <a:r>
              <a:rPr lang="en-US" b="1" dirty="0"/>
              <a:t>Prevention:</a:t>
            </a:r>
            <a:r>
              <a:rPr lang="en-US" dirty="0"/>
              <a:t> Identify opportunities to create reusable abstractions, such as libraries or frameworks, to encapsulate common functionality.</a:t>
            </a:r>
            <a:endParaRPr lang="en-US" dirty="0">
              <a:ea typeface="Calibri"/>
              <a:cs typeface="Calibri"/>
            </a:endParaRPr>
          </a:p>
          <a:p>
            <a:pPr>
              <a:buChar char="•"/>
            </a:pPr>
            <a:r>
              <a:rPr lang="en-US" b="1" dirty="0"/>
              <a:t>Copy-Paste Programming:</a:t>
            </a:r>
            <a:endParaRPr lang="en-US" dirty="0"/>
          </a:p>
          <a:p>
            <a:pPr marL="342900" lvl="1" indent="-342900">
              <a:buChar char="•"/>
            </a:pPr>
            <a:r>
              <a:rPr lang="en-US" b="1" dirty="0"/>
              <a:t>Issue:</a:t>
            </a:r>
            <a:r>
              <a:rPr lang="en-US" dirty="0"/>
              <a:t> Blindly copying and pasting code can result in a lack of understanding about the purpose and implications of the copied code.</a:t>
            </a:r>
            <a:endParaRPr lang="en-US" dirty="0">
              <a:ea typeface="Calibri"/>
              <a:cs typeface="Calibri"/>
            </a:endParaRPr>
          </a:p>
          <a:p>
            <a:pPr marL="342900" lvl="1" indent="-342900">
              <a:buChar char="•"/>
            </a:pPr>
            <a:r>
              <a:rPr lang="en-US" b="1" dirty="0"/>
              <a:t>Prevention:</a:t>
            </a:r>
            <a:r>
              <a:rPr lang="en-US" dirty="0"/>
              <a:t> Encourage developers to understand the code they are using, and promote the creation of reusable, well-documented components.</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19B6A118-F16C-4E2B-B45C-EF12184475FF}" type="slidenum">
              <a:rPr lang="en-US"/>
              <a:t>43</a:t>
            </a:fld>
            <a:endParaRPr lang="en-US"/>
          </a:p>
        </p:txBody>
      </p:sp>
    </p:spTree>
    <p:extLst>
      <p:ext uri="{BB962C8B-B14F-4D97-AF65-F5344CB8AC3E}">
        <p14:creationId xmlns:p14="http://schemas.microsoft.com/office/powerpoint/2010/main" val="4004908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Insufficient Authentication:</a:t>
            </a:r>
            <a:endParaRPr lang="en-US"/>
          </a:p>
          <a:p>
            <a:pPr marL="342900" lvl="1" indent="-342900">
              <a:buChar char="•"/>
            </a:pPr>
            <a:r>
              <a:rPr lang="en-US" b="1"/>
              <a:t>Issue:</a:t>
            </a:r>
            <a:r>
              <a:rPr lang="en-US"/>
              <a:t> Trusting users or systems without proper authentication mechanisms can lead to unauthorized access and potential security breaches.</a:t>
            </a:r>
          </a:p>
          <a:p>
            <a:pPr marL="342900" lvl="1" indent="-342900">
              <a:buChar char="•"/>
            </a:pPr>
            <a:r>
              <a:rPr lang="en-US" b="1" dirty="0"/>
              <a:t>Prevention:</a:t>
            </a:r>
            <a:r>
              <a:rPr lang="en-US" dirty="0"/>
              <a:t> Implement robust authentication procedures, such as multi-factor authentication (MFA), to verify the identity of users and entities.</a:t>
            </a:r>
            <a:endParaRPr lang="en-US" dirty="0">
              <a:ea typeface="Calibri"/>
              <a:cs typeface="Calibri"/>
            </a:endParaRPr>
          </a:p>
          <a:p>
            <a:pPr>
              <a:buChar char="•"/>
            </a:pPr>
            <a:r>
              <a:rPr lang="en-US" b="1" dirty="0"/>
              <a:t>Weak Authorization Controls:</a:t>
            </a:r>
            <a:endParaRPr lang="en-US" dirty="0"/>
          </a:p>
          <a:p>
            <a:pPr marL="342900" lvl="1" indent="-342900">
              <a:buChar char="•"/>
            </a:pPr>
            <a:r>
              <a:rPr lang="en-US" b="1" dirty="0"/>
              <a:t>Issue:</a:t>
            </a:r>
            <a:r>
              <a:rPr lang="en-US" dirty="0"/>
              <a:t> Granting excessive permissions or privileges to users or components without adequate authorization checks can result in unauthorized actions and data exposure.</a:t>
            </a:r>
            <a:endParaRPr lang="en-US" dirty="0">
              <a:ea typeface="Calibri"/>
              <a:cs typeface="Calibri"/>
            </a:endParaRPr>
          </a:p>
          <a:p>
            <a:pPr marL="342900" lvl="1" indent="-342900">
              <a:buChar char="•"/>
            </a:pPr>
            <a:r>
              <a:rPr lang="en-US" b="1" dirty="0"/>
              <a:t>Prevention:</a:t>
            </a:r>
            <a:r>
              <a:rPr lang="en-US" dirty="0"/>
              <a:t> Implement fine-grained access controls and follow the principle of least privilege. Regularly review and update authorization policies.</a:t>
            </a:r>
            <a:endParaRPr lang="en-US" dirty="0">
              <a:ea typeface="Calibri"/>
              <a:cs typeface="Calibri"/>
            </a:endParaRPr>
          </a:p>
          <a:p>
            <a:pPr>
              <a:buChar char="•"/>
            </a:pPr>
            <a:r>
              <a:rPr lang="en-US" b="1" dirty="0"/>
              <a:t>Unvalidated Input and Trusting User Input:</a:t>
            </a:r>
            <a:endParaRPr lang="en-US" dirty="0"/>
          </a:p>
          <a:p>
            <a:pPr marL="342900" lvl="1" indent="-342900">
              <a:buChar char="•"/>
            </a:pPr>
            <a:r>
              <a:rPr lang="en-US" b="1" dirty="0"/>
              <a:t>Issue:</a:t>
            </a:r>
            <a:r>
              <a:rPr lang="en-US" dirty="0"/>
              <a:t> Trusting user input without proper validation can lead to various vulnerabilities, including injection attacks (e.g., SQL injection, Cross-Site Scripting).</a:t>
            </a:r>
            <a:endParaRPr lang="en-US" dirty="0">
              <a:ea typeface="Calibri"/>
              <a:cs typeface="Calibri"/>
            </a:endParaRPr>
          </a:p>
          <a:p>
            <a:pPr marL="342900" lvl="1" indent="-342900">
              <a:buChar char="•"/>
            </a:pPr>
            <a:r>
              <a:rPr lang="en-US" b="1" dirty="0"/>
              <a:t>Prevention:</a:t>
            </a:r>
            <a:r>
              <a:rPr lang="en-US" dirty="0"/>
              <a:t> Always validate and sanitize user input. Use parameterized queries for database access and employ input validation checks to prevent injection attacks.</a:t>
            </a:r>
            <a:endParaRPr lang="en-US" dirty="0">
              <a:ea typeface="Calibri"/>
              <a:cs typeface="Calibri"/>
            </a:endParaRPr>
          </a:p>
          <a:p>
            <a:pPr>
              <a:buChar char="•"/>
            </a:pPr>
            <a:r>
              <a:rPr lang="en-US" b="1" dirty="0"/>
              <a:t>Insecure Communication Channels:</a:t>
            </a:r>
            <a:endParaRPr lang="en-US" dirty="0"/>
          </a:p>
          <a:p>
            <a:pPr marL="342900" lvl="1" indent="-342900">
              <a:buChar char="•"/>
            </a:pPr>
            <a:r>
              <a:rPr lang="en-US" b="1" dirty="0"/>
              <a:t>Issue:</a:t>
            </a:r>
            <a:r>
              <a:rPr lang="en-US" dirty="0"/>
              <a:t> Trusting communication over unsecured channels can expose sensitive data to eavesdropping and interception.</a:t>
            </a:r>
            <a:endParaRPr lang="en-US" dirty="0">
              <a:ea typeface="Calibri"/>
              <a:cs typeface="Calibri"/>
            </a:endParaRPr>
          </a:p>
          <a:p>
            <a:pPr marL="342900" lvl="1" indent="-342900">
              <a:buChar char="•"/>
            </a:pPr>
            <a:r>
              <a:rPr lang="en-US" b="1" dirty="0"/>
              <a:t>Prevention:</a:t>
            </a:r>
            <a:r>
              <a:rPr lang="en-US" dirty="0"/>
              <a:t> Use secure communication protocols, such as HTTPS, to encrypt data in transit. Avoid transmitting sensitive information over insecure channels.</a:t>
            </a:r>
            <a:endParaRPr lang="en-US" dirty="0">
              <a:ea typeface="Calibri"/>
              <a:cs typeface="Calibri"/>
            </a:endParaRPr>
          </a:p>
          <a:p>
            <a:pPr>
              <a:buChar char="•"/>
            </a:pPr>
            <a:r>
              <a:rPr lang="en-US" b="1" dirty="0"/>
              <a:t>Default Credentials and Configurations:</a:t>
            </a:r>
            <a:endParaRPr lang="en-US" dirty="0"/>
          </a:p>
          <a:p>
            <a:pPr marL="342900" lvl="1" indent="-342900">
              <a:buChar char="•"/>
            </a:pPr>
            <a:r>
              <a:rPr lang="en-US" b="1" dirty="0"/>
              <a:t>Issue:</a:t>
            </a:r>
            <a:r>
              <a:rPr lang="en-US" dirty="0"/>
              <a:t> Trusting default credentials or configurations without changing them can lead to unauthorized access.</a:t>
            </a:r>
            <a:endParaRPr lang="en-US" dirty="0">
              <a:ea typeface="Calibri"/>
              <a:cs typeface="Calibri"/>
            </a:endParaRPr>
          </a:p>
          <a:p>
            <a:pPr marL="342900" lvl="1" indent="-342900">
              <a:buChar char="•"/>
            </a:pPr>
            <a:r>
              <a:rPr lang="en-US" b="1" dirty="0"/>
              <a:t>Prevention:</a:t>
            </a:r>
            <a:r>
              <a:rPr lang="en-US" dirty="0"/>
              <a:t> Change default credentials, passwords, and configurations during the deployment process. Ensure that systems are properly configured for security.</a:t>
            </a:r>
            <a:endParaRPr lang="en-US" dirty="0">
              <a:ea typeface="Calibri"/>
              <a:cs typeface="Calibri"/>
            </a:endParaRPr>
          </a:p>
          <a:p>
            <a:pPr>
              <a:buChar char="•"/>
            </a:pPr>
            <a:r>
              <a:rPr lang="en-US" b="1" dirty="0"/>
              <a:t>Lack of Integrity Checks:</a:t>
            </a:r>
            <a:endParaRPr lang="en-US" dirty="0"/>
          </a:p>
          <a:p>
            <a:pPr marL="342900" lvl="1" indent="-342900">
              <a:buChar char="•"/>
            </a:pPr>
            <a:r>
              <a:rPr lang="en-US" b="1" dirty="0"/>
              <a:t>Issue:</a:t>
            </a:r>
            <a:r>
              <a:rPr lang="en-US" dirty="0"/>
              <a:t> Trusting data without ensuring its integrity can lead to data manipulation and tampering.</a:t>
            </a:r>
            <a:endParaRPr lang="en-US" dirty="0">
              <a:ea typeface="Calibri"/>
              <a:cs typeface="Calibri"/>
            </a:endParaRPr>
          </a:p>
          <a:p>
            <a:pPr marL="342900" lvl="1" indent="-342900">
              <a:buChar char="•"/>
            </a:pPr>
            <a:r>
              <a:rPr lang="en-US" b="1" dirty="0"/>
              <a:t>Prevention:</a:t>
            </a:r>
            <a:r>
              <a:rPr lang="en-US" dirty="0"/>
              <a:t> Implement integrity checks, such as digital signatures or hash functions, to verify the authenticity and integrity of data.</a:t>
            </a:r>
            <a:endParaRPr lang="en-US" dirty="0">
              <a:ea typeface="Calibri"/>
              <a:cs typeface="Calibri"/>
            </a:endParaRPr>
          </a:p>
          <a:p>
            <a:pPr>
              <a:buChar char="•"/>
            </a:pPr>
            <a:r>
              <a:rPr lang="en-US" b="1" dirty="0"/>
              <a:t>Assuming Internal Trust:</a:t>
            </a:r>
            <a:endParaRPr lang="en-US" dirty="0"/>
          </a:p>
          <a:p>
            <a:pPr marL="342900" lvl="1" indent="-342900">
              <a:buChar char="•"/>
            </a:pPr>
            <a:r>
              <a:rPr lang="en-US" b="1" dirty="0"/>
              <a:t>Issue:</a:t>
            </a:r>
            <a:r>
              <a:rPr lang="en-US" dirty="0"/>
              <a:t> Assuming that all internal network traffic or interactions are trustworthy can lead to insider threats or lateral movement in the case of a compromise.</a:t>
            </a:r>
            <a:endParaRPr lang="en-US" dirty="0">
              <a:ea typeface="Calibri"/>
              <a:cs typeface="Calibri"/>
            </a:endParaRPr>
          </a:p>
          <a:p>
            <a:pPr marL="342900" lvl="1" indent="-342900">
              <a:buChar char="•"/>
            </a:pPr>
            <a:r>
              <a:rPr lang="en-US" b="1" dirty="0"/>
              <a:t>Prevention:</a:t>
            </a:r>
            <a:r>
              <a:rPr lang="en-US" dirty="0"/>
              <a:t> Implement network segmentation, monitor internal traffic, and apply security controls within the internal network.</a:t>
            </a:r>
            <a:endParaRPr lang="en-US" dirty="0">
              <a:ea typeface="Calibri"/>
              <a:cs typeface="Calibri"/>
            </a:endParaRPr>
          </a:p>
          <a:p>
            <a:pPr>
              <a:buChar char="•"/>
            </a:pPr>
            <a:r>
              <a:rPr lang="en-US" b="1" dirty="0"/>
              <a:t>Trust in Third-Party Components:</a:t>
            </a:r>
            <a:endParaRPr lang="en-US" dirty="0"/>
          </a:p>
          <a:p>
            <a:pPr marL="342900" lvl="1" indent="-342900">
              <a:buChar char="•"/>
            </a:pPr>
            <a:r>
              <a:rPr lang="en-US" b="1" dirty="0"/>
              <a:t>Issue:</a:t>
            </a:r>
            <a:r>
              <a:rPr lang="en-US" dirty="0"/>
              <a:t> Trusting third-party libraries or components without validating their security posture can introduce vulnerabilities.</a:t>
            </a:r>
          </a:p>
          <a:p>
            <a:pPr marL="342900" lvl="1" indent="-342900">
              <a:buChar char="•"/>
            </a:pPr>
            <a:r>
              <a:rPr lang="en-US" b="1" dirty="0"/>
              <a:t>Prevention:</a:t>
            </a:r>
            <a:r>
              <a:rPr lang="en-US" dirty="0"/>
              <a:t> Regularly update and patch third-party components, conduct security assessments, and monitor for security advisories related to dependencies.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19B6A118-F16C-4E2B-B45C-EF12184475FF}" type="slidenum">
              <a:rPr lang="en-US"/>
              <a:t>45</a:t>
            </a:fld>
            <a:endParaRPr lang="en-US"/>
          </a:p>
        </p:txBody>
      </p:sp>
    </p:spTree>
    <p:extLst>
      <p:ext uri="{BB962C8B-B14F-4D97-AF65-F5344CB8AC3E}">
        <p14:creationId xmlns:p14="http://schemas.microsoft.com/office/powerpoint/2010/main" val="31923642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automation is the process of automatically detecting, investigating and remediating cyberthreats — with or without human intervention — using a programmatic solution specifically designed for this purpose.</a:t>
            </a:r>
          </a:p>
        </p:txBody>
      </p:sp>
      <p:sp>
        <p:nvSpPr>
          <p:cNvPr id="4" name="Slide Number Placeholder 3"/>
          <p:cNvSpPr>
            <a:spLocks noGrp="1"/>
          </p:cNvSpPr>
          <p:nvPr>
            <p:ph type="sldNum" sz="quarter" idx="5"/>
          </p:nvPr>
        </p:nvSpPr>
        <p:spPr/>
        <p:txBody>
          <a:bodyPr/>
          <a:lstStyle/>
          <a:p>
            <a:fld id="{19B6A118-F16C-4E2B-B45C-EF12184475FF}" type="slidenum">
              <a:rPr lang="en-GB"/>
              <a:t>52</a:t>
            </a:fld>
            <a:endParaRPr lang="en-GB"/>
          </a:p>
        </p:txBody>
      </p:sp>
    </p:spTree>
    <p:extLst>
      <p:ext uri="{BB962C8B-B14F-4D97-AF65-F5344CB8AC3E}">
        <p14:creationId xmlns:p14="http://schemas.microsoft.com/office/powerpoint/2010/main" val="1027454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user-supplied data must be passed into the DOM, it should be done as a string, if possible. This means, in any case where HTML/DOM is NOT required and </a:t>
            </a:r>
            <a:r>
              <a:rPr lang="en-US" dirty="0" err="1"/>
              <a:t>usersupplied</a:t>
            </a:r>
            <a:r>
              <a:rPr lang="en-US" dirty="0"/>
              <a:t> data is being passed to the DOM for display as text, we must ensure that the user-supplied data is interpreted as text and not DOM</a:t>
            </a:r>
          </a:p>
        </p:txBody>
      </p:sp>
      <p:sp>
        <p:nvSpPr>
          <p:cNvPr id="4" name="Slide Number Placeholder 3"/>
          <p:cNvSpPr>
            <a:spLocks noGrp="1"/>
          </p:cNvSpPr>
          <p:nvPr>
            <p:ph type="sldNum" sz="quarter" idx="5"/>
          </p:nvPr>
        </p:nvSpPr>
        <p:spPr/>
        <p:txBody>
          <a:bodyPr/>
          <a:lstStyle/>
          <a:p>
            <a:fld id="{19B6A118-F16C-4E2B-B45C-EF12184475FF}" type="slidenum">
              <a:rPr lang="en-US"/>
              <a:t>67</a:t>
            </a:fld>
            <a:endParaRPr lang="en-US"/>
          </a:p>
        </p:txBody>
      </p:sp>
    </p:spTree>
    <p:extLst>
      <p:ext uri="{BB962C8B-B14F-4D97-AF65-F5344CB8AC3E}">
        <p14:creationId xmlns:p14="http://schemas.microsoft.com/office/powerpoint/2010/main" val="33642860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the user input is directly inserted into the DOM using </a:t>
            </a:r>
            <a:r>
              <a:rPr lang="en-US" b="1" dirty="0" err="1"/>
              <a:t>innerHTML</a:t>
            </a:r>
            <a:r>
              <a:rPr lang="en-US" dirty="0"/>
              <a:t>. If an attacker provides malicious input, it can result in the execution of arbitrary JavaScript code, leading to a potential XSS attack.</a:t>
            </a:r>
          </a:p>
        </p:txBody>
      </p:sp>
      <p:sp>
        <p:nvSpPr>
          <p:cNvPr id="4" name="Slide Number Placeholder 3"/>
          <p:cNvSpPr>
            <a:spLocks noGrp="1"/>
          </p:cNvSpPr>
          <p:nvPr>
            <p:ph type="sldNum" sz="quarter" idx="5"/>
          </p:nvPr>
        </p:nvSpPr>
        <p:spPr/>
        <p:txBody>
          <a:bodyPr/>
          <a:lstStyle/>
          <a:p>
            <a:fld id="{19B6A118-F16C-4E2B-B45C-EF12184475FF}" type="slidenum">
              <a:rPr lang="en-US"/>
              <a:t>68</a:t>
            </a:fld>
            <a:endParaRPr lang="en-US"/>
          </a:p>
        </p:txBody>
      </p:sp>
    </p:spTree>
    <p:extLst>
      <p:ext uri="{BB962C8B-B14F-4D97-AF65-F5344CB8AC3E}">
        <p14:creationId xmlns:p14="http://schemas.microsoft.com/office/powerpoint/2010/main" val="4234318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improved example, the user input is treated as plain text by creating a text node and appending it to the DOM. This ensures that the content is not interpreted as HTML or JavaScript code, mitigating the risk of XSS attacks. Always follow such practices to sanitize and validate user input before incorporating it into the DOM to maintain a secure web application.</a:t>
            </a:r>
          </a:p>
        </p:txBody>
      </p:sp>
      <p:sp>
        <p:nvSpPr>
          <p:cNvPr id="4" name="Slide Number Placeholder 3"/>
          <p:cNvSpPr>
            <a:spLocks noGrp="1"/>
          </p:cNvSpPr>
          <p:nvPr>
            <p:ph type="sldNum" sz="quarter" idx="5"/>
          </p:nvPr>
        </p:nvSpPr>
        <p:spPr/>
        <p:txBody>
          <a:bodyPr/>
          <a:lstStyle/>
          <a:p>
            <a:fld id="{19B6A118-F16C-4E2B-B45C-EF12184475FF}" type="slidenum">
              <a:rPr lang="en-US"/>
              <a:t>69</a:t>
            </a:fld>
            <a:endParaRPr lang="en-US"/>
          </a:p>
        </p:txBody>
      </p:sp>
    </p:spTree>
    <p:extLst>
      <p:ext uri="{BB962C8B-B14F-4D97-AF65-F5344CB8AC3E}">
        <p14:creationId xmlns:p14="http://schemas.microsoft.com/office/powerpoint/2010/main" val="41024724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the </a:t>
            </a:r>
            <a:r>
              <a:rPr lang="en-US" b="1" dirty="0" err="1"/>
              <a:t>sanitizeInput</a:t>
            </a:r>
            <a:r>
              <a:rPr lang="en-US" dirty="0"/>
              <a:t> function is created to replace the characters </a:t>
            </a:r>
            <a:r>
              <a:rPr lang="en-US" b="1" dirty="0"/>
              <a:t>&lt;</a:t>
            </a:r>
            <a:r>
              <a:rPr lang="en-US" dirty="0"/>
              <a:t> and </a:t>
            </a:r>
            <a:r>
              <a:rPr lang="en-US" b="1" dirty="0"/>
              <a:t>&gt;</a:t>
            </a:r>
            <a:r>
              <a:rPr lang="en-US" dirty="0"/>
              <a:t> with their HTML entity equivalents (</a:t>
            </a:r>
            <a:r>
              <a:rPr lang="en-US" b="1" dirty="0"/>
              <a:t>&amp;</a:t>
            </a:r>
            <a:r>
              <a:rPr lang="en-US" b="1" dirty="0" err="1"/>
              <a:t>lt</a:t>
            </a:r>
            <a:r>
              <a:rPr lang="en-US" b="1" dirty="0"/>
              <a:t>;</a:t>
            </a:r>
            <a:r>
              <a:rPr lang="en-US" dirty="0"/>
              <a:t> and </a:t>
            </a:r>
            <a:r>
              <a:rPr lang="en-US" b="1" dirty="0"/>
              <a:t>&amp;</a:t>
            </a:r>
            <a:r>
              <a:rPr lang="en-US" b="1" dirty="0" err="1"/>
              <a:t>gt</a:t>
            </a:r>
            <a:r>
              <a:rPr lang="en-US" b="1" dirty="0"/>
              <a:t>;</a:t>
            </a:r>
            <a:r>
              <a:rPr lang="en-US" dirty="0"/>
              <a:t>). This prevents the browser from interpreting these characters as HTML tags, effectively neutralizing any potential XSS attack.</a:t>
            </a:r>
          </a:p>
        </p:txBody>
      </p:sp>
      <p:sp>
        <p:nvSpPr>
          <p:cNvPr id="4" name="Slide Number Placeholder 3"/>
          <p:cNvSpPr>
            <a:spLocks noGrp="1"/>
          </p:cNvSpPr>
          <p:nvPr>
            <p:ph type="sldNum" sz="quarter" idx="5"/>
          </p:nvPr>
        </p:nvSpPr>
        <p:spPr/>
        <p:txBody>
          <a:bodyPr/>
          <a:lstStyle/>
          <a:p>
            <a:fld id="{19B6A118-F16C-4E2B-B45C-EF12184475FF}" type="slidenum">
              <a:rPr lang="en-US"/>
              <a:t>72</a:t>
            </a:fld>
            <a:endParaRPr lang="en-US"/>
          </a:p>
        </p:txBody>
      </p:sp>
    </p:spTree>
    <p:extLst>
      <p:ext uri="{BB962C8B-B14F-4D97-AF65-F5344CB8AC3E}">
        <p14:creationId xmlns:p14="http://schemas.microsoft.com/office/powerpoint/2010/main" val="1120831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err="1"/>
              <a:t>element.innerHTML</a:t>
            </a:r>
            <a:r>
              <a:rPr lang="en-US" b="1"/>
              <a:t> / </a:t>
            </a:r>
            <a:r>
              <a:rPr lang="en-US" b="1" err="1"/>
              <a:t>element.outerHTML</a:t>
            </a:r>
            <a:r>
              <a:rPr lang="en-US" b="1"/>
              <a:t>:</a:t>
            </a:r>
            <a:endParaRPr lang="en-US"/>
          </a:p>
          <a:p>
            <a:pPr marL="342900" lvl="1" indent="-342900">
              <a:buChar char="•"/>
            </a:pPr>
            <a:r>
              <a:rPr lang="en-US" b="1" dirty="0"/>
              <a:t>Risk:</a:t>
            </a:r>
            <a:r>
              <a:rPr lang="en-US" dirty="0"/>
              <a:t> Using </a:t>
            </a:r>
            <a:r>
              <a:rPr lang="en-US" b="1" dirty="0" err="1"/>
              <a:t>innerHTML</a:t>
            </a:r>
            <a:r>
              <a:rPr lang="en-US" dirty="0"/>
              <a:t> or </a:t>
            </a:r>
            <a:r>
              <a:rPr lang="en-US" b="1" dirty="0" err="1"/>
              <a:t>outerHTML</a:t>
            </a:r>
            <a:r>
              <a:rPr lang="en-US" dirty="0"/>
              <a:t> to manipulate or insert HTML content can lead to XSS (Cross-Site Scripting) vulnerabilities if not properly sanitized.</a:t>
            </a:r>
            <a:endParaRPr lang="en-US" dirty="0">
              <a:cs typeface="Calibri"/>
            </a:endParaRPr>
          </a:p>
          <a:p>
            <a:pPr marL="342900" lvl="1" indent="-342900">
              <a:buChar char="•"/>
            </a:pPr>
            <a:r>
              <a:rPr lang="en-US" b="1" dirty="0"/>
              <a:t>Best Practice:</a:t>
            </a:r>
            <a:r>
              <a:rPr lang="en-US" dirty="0"/>
              <a:t> Instead, use DOM manipulation methods like </a:t>
            </a:r>
            <a:r>
              <a:rPr lang="en-US" b="1" dirty="0" err="1"/>
              <a:t>createElement</a:t>
            </a:r>
            <a:r>
              <a:rPr lang="en-US" dirty="0"/>
              <a:t>, </a:t>
            </a:r>
            <a:r>
              <a:rPr lang="en-US" b="1" dirty="0" err="1"/>
              <a:t>appendChild</a:t>
            </a:r>
            <a:r>
              <a:rPr lang="en-US" dirty="0"/>
              <a:t>, or </a:t>
            </a:r>
            <a:r>
              <a:rPr lang="en-US" b="1" dirty="0" err="1"/>
              <a:t>createTextNode</a:t>
            </a:r>
            <a:r>
              <a:rPr lang="en-US" dirty="0"/>
              <a:t> combined with proper input validation to dynamically modify HTML content.</a:t>
            </a:r>
            <a:endParaRPr lang="en-US" dirty="0">
              <a:cs typeface="Calibri"/>
            </a:endParaRPr>
          </a:p>
          <a:p>
            <a:pPr>
              <a:buChar char="•"/>
            </a:pPr>
            <a:r>
              <a:rPr lang="en-US" b="1" dirty="0"/>
              <a:t>Blob:</a:t>
            </a:r>
            <a:endParaRPr lang="en-US" dirty="0"/>
          </a:p>
          <a:p>
            <a:pPr marL="342900" lvl="1" indent="-342900">
              <a:buChar char="•"/>
            </a:pPr>
            <a:r>
              <a:rPr lang="en-US" b="1" dirty="0"/>
              <a:t>Risk:</a:t>
            </a:r>
            <a:r>
              <a:rPr lang="en-US" dirty="0"/>
              <a:t> If misused, Blobs can lead to security issues, particularly when handling untrusted or </a:t>
            </a:r>
            <a:r>
              <a:rPr lang="en-US" dirty="0" err="1"/>
              <a:t>unsanitized</a:t>
            </a:r>
            <a:r>
              <a:rPr lang="en-US" dirty="0"/>
              <a:t> data.</a:t>
            </a:r>
            <a:endParaRPr lang="en-US" dirty="0">
              <a:cs typeface="Calibri"/>
            </a:endParaRPr>
          </a:p>
          <a:p>
            <a:pPr marL="342900" lvl="1" indent="-342900">
              <a:buChar char="•"/>
            </a:pPr>
            <a:r>
              <a:rPr lang="en-US" b="1" dirty="0"/>
              <a:t>Best Practice:</a:t>
            </a:r>
            <a:r>
              <a:rPr lang="en-US" dirty="0"/>
              <a:t> Exercise caution when dealing with Blobs, especially when creating them dynamically or accepting them as user input. Sanitize and validate input before processing.</a:t>
            </a:r>
            <a:endParaRPr lang="en-US" dirty="0">
              <a:cs typeface="Calibri"/>
            </a:endParaRPr>
          </a:p>
          <a:p>
            <a:pPr>
              <a:buChar char="•"/>
            </a:pPr>
            <a:r>
              <a:rPr lang="en-US" b="1" dirty="0"/>
              <a:t>SVG:</a:t>
            </a:r>
            <a:endParaRPr lang="en-US" dirty="0"/>
          </a:p>
          <a:p>
            <a:pPr marL="342900" lvl="1" indent="-342900">
              <a:buChar char="•"/>
            </a:pPr>
            <a:r>
              <a:rPr lang="en-US" b="1" dirty="0"/>
              <a:t>Risk:</a:t>
            </a:r>
            <a:r>
              <a:rPr lang="en-US" dirty="0"/>
              <a:t> SVG images can contain scripts, and if not properly sanitized, they may lead to XSS vulnerabilities.</a:t>
            </a:r>
            <a:endParaRPr lang="en-US" dirty="0">
              <a:cs typeface="Calibri"/>
            </a:endParaRPr>
          </a:p>
          <a:p>
            <a:pPr marL="342900" lvl="1" indent="-342900">
              <a:buChar char="•"/>
            </a:pPr>
            <a:r>
              <a:rPr lang="en-US" b="1" dirty="0"/>
              <a:t>Best Practice:</a:t>
            </a:r>
            <a:r>
              <a:rPr lang="en-US" dirty="0"/>
              <a:t> Sanitize and validate SVG content before rendering. Avoid dynamically injecting untrusted SVG content into the DOM without proper validation.</a:t>
            </a:r>
            <a:endParaRPr lang="en-US" dirty="0">
              <a:cs typeface="Calibri"/>
            </a:endParaRPr>
          </a:p>
          <a:p>
            <a:pPr>
              <a:buChar char="•"/>
            </a:pPr>
            <a:r>
              <a:rPr lang="en-US" b="1" dirty="0" err="1"/>
              <a:t>document.write</a:t>
            </a:r>
            <a:r>
              <a:rPr lang="en-US" b="1" dirty="0"/>
              <a:t> / </a:t>
            </a:r>
            <a:r>
              <a:rPr lang="en-US" b="1" dirty="0" err="1"/>
              <a:t>document.writeln</a:t>
            </a:r>
            <a:r>
              <a:rPr lang="en-US" b="1" dirty="0"/>
              <a:t>:</a:t>
            </a:r>
            <a:endParaRPr lang="en-US" dirty="0"/>
          </a:p>
          <a:p>
            <a:pPr marL="342900" lvl="1" indent="-342900">
              <a:buChar char="•"/>
            </a:pPr>
            <a:r>
              <a:rPr lang="en-US" b="1" dirty="0"/>
              <a:t>Risk:</a:t>
            </a:r>
            <a:r>
              <a:rPr lang="en-US" dirty="0"/>
              <a:t> These methods can cause rendering issues, are considered bad practice, and may introduce XSS vulnerabilities if used to inject untrusted content.</a:t>
            </a:r>
            <a:endParaRPr lang="en-US" dirty="0">
              <a:cs typeface="Calibri"/>
            </a:endParaRPr>
          </a:p>
          <a:p>
            <a:pPr marL="342900" lvl="1" indent="-342900">
              <a:buChar char="•"/>
            </a:pPr>
            <a:r>
              <a:rPr lang="en-US" b="1" dirty="0"/>
              <a:t>Best Practice:</a:t>
            </a:r>
            <a:r>
              <a:rPr lang="en-US" dirty="0"/>
              <a:t> Prefer using DOM manipulation methods and avoid using </a:t>
            </a:r>
            <a:r>
              <a:rPr lang="en-US" b="1" dirty="0" err="1"/>
              <a:t>document.write</a:t>
            </a:r>
            <a:r>
              <a:rPr lang="en-US" dirty="0"/>
              <a:t> or </a:t>
            </a:r>
            <a:r>
              <a:rPr lang="en-US" b="1" dirty="0" err="1"/>
              <a:t>document.writeln</a:t>
            </a:r>
            <a:r>
              <a:rPr lang="en-US" dirty="0"/>
              <a:t> for dynamic content. Use </a:t>
            </a:r>
            <a:r>
              <a:rPr lang="en-US" b="1" dirty="0" err="1"/>
              <a:t>innerHTML</a:t>
            </a:r>
            <a:r>
              <a:rPr lang="en-US" dirty="0"/>
              <a:t> or other DOM methods.</a:t>
            </a:r>
            <a:endParaRPr lang="en-US" dirty="0">
              <a:cs typeface="Calibri"/>
            </a:endParaRPr>
          </a:p>
          <a:p>
            <a:pPr>
              <a:buChar char="•"/>
            </a:pPr>
            <a:r>
              <a:rPr lang="en-US" b="1" dirty="0" err="1"/>
              <a:t>DOMParser.parseFromString</a:t>
            </a:r>
            <a:r>
              <a:rPr lang="en-US" b="1" dirty="0"/>
              <a:t>:</a:t>
            </a:r>
            <a:endParaRPr lang="en-US" dirty="0"/>
          </a:p>
          <a:p>
            <a:pPr marL="342900" lvl="1" indent="-342900">
              <a:buChar char="•"/>
            </a:pPr>
            <a:r>
              <a:rPr lang="en-US" b="1" dirty="0"/>
              <a:t>Risk:</a:t>
            </a:r>
            <a:r>
              <a:rPr lang="en-US" dirty="0"/>
              <a:t> While </a:t>
            </a:r>
            <a:r>
              <a:rPr lang="en-US" b="1" dirty="0" err="1"/>
              <a:t>DOMParser</a:t>
            </a:r>
            <a:r>
              <a:rPr lang="en-US" dirty="0"/>
              <a:t> is a legitimate API, if used to parse untrusted or </a:t>
            </a:r>
            <a:r>
              <a:rPr lang="en-US" dirty="0" err="1"/>
              <a:t>unsanitized</a:t>
            </a:r>
            <a:r>
              <a:rPr lang="en-US" dirty="0"/>
              <a:t> content, it may introduce XSS vulnerabilities.</a:t>
            </a:r>
            <a:endParaRPr lang="en-US" dirty="0">
              <a:cs typeface="Calibri"/>
            </a:endParaRPr>
          </a:p>
          <a:p>
            <a:pPr marL="342900" lvl="1" indent="-342900">
              <a:buChar char="•"/>
            </a:pPr>
            <a:r>
              <a:rPr lang="en-US" b="1" dirty="0"/>
              <a:t>Best Practice:</a:t>
            </a:r>
            <a:r>
              <a:rPr lang="en-US" dirty="0"/>
              <a:t> If using </a:t>
            </a:r>
            <a:r>
              <a:rPr lang="en-US" b="1" dirty="0" err="1"/>
              <a:t>DOMParser</a:t>
            </a:r>
            <a:r>
              <a:rPr lang="en-US" dirty="0"/>
              <a:t>, carefully validate and sanitize input before parsing. Prefer safer alternatives when dealing with user-provided content.</a:t>
            </a:r>
            <a:endParaRPr lang="en-US" dirty="0">
              <a:cs typeface="Calibri"/>
            </a:endParaRPr>
          </a:p>
          <a:p>
            <a:pPr>
              <a:buChar char="•"/>
            </a:pPr>
            <a:r>
              <a:rPr lang="en-US" b="1" dirty="0" err="1"/>
              <a:t>document.implementation</a:t>
            </a:r>
            <a:r>
              <a:rPr lang="en-US" b="1" dirty="0"/>
              <a:t>:</a:t>
            </a:r>
            <a:endParaRPr lang="en-US" dirty="0"/>
          </a:p>
          <a:p>
            <a:pPr marL="342900" lvl="1" indent="-342900">
              <a:buChar char="•"/>
            </a:pPr>
            <a:r>
              <a:rPr lang="en-US" b="1" dirty="0"/>
              <a:t>Risk:</a:t>
            </a:r>
            <a:r>
              <a:rPr lang="en-US" dirty="0"/>
              <a:t> Direct use of </a:t>
            </a:r>
            <a:r>
              <a:rPr lang="en-US" b="1" dirty="0" err="1"/>
              <a:t>document.implementation</a:t>
            </a:r>
            <a:r>
              <a:rPr lang="en-US" dirty="0"/>
              <a:t> is discouraged, as it's an older API and may have security implications.</a:t>
            </a:r>
            <a:endParaRPr lang="en-US" dirty="0">
              <a:cs typeface="Calibri"/>
            </a:endParaRPr>
          </a:p>
          <a:p>
            <a:pPr marL="342900" lvl="1" indent="-342900">
              <a:buChar char="•"/>
            </a:pPr>
            <a:r>
              <a:rPr lang="en-US" b="1" dirty="0"/>
              <a:t>Best Practice:</a:t>
            </a:r>
            <a:r>
              <a:rPr lang="en-US" dirty="0"/>
              <a:t> Use more modern and secure alternatives when dealing with DOM-related operations. The Document Object Model (DOM) has evolved, and newer methods are available.</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19B6A118-F16C-4E2B-B45C-EF12184475FF}" type="slidenum">
              <a:rPr lang="en-US"/>
              <a:t>73</a:t>
            </a:fld>
            <a:endParaRPr lang="en-US"/>
          </a:p>
        </p:txBody>
      </p:sp>
    </p:spTree>
    <p:extLst>
      <p:ext uri="{BB962C8B-B14F-4D97-AF65-F5344CB8AC3E}">
        <p14:creationId xmlns:p14="http://schemas.microsoft.com/office/powerpoint/2010/main" val="19170980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preceding APIs allow developers to easily generate DOM or script from text, and as such are easy sinks for XSS execution. </a:t>
            </a:r>
            <a:endParaRPr lang="en-US"/>
          </a:p>
        </p:txBody>
      </p:sp>
      <p:sp>
        <p:nvSpPr>
          <p:cNvPr id="4" name="Slide Number Placeholder 3"/>
          <p:cNvSpPr>
            <a:spLocks noGrp="1"/>
          </p:cNvSpPr>
          <p:nvPr>
            <p:ph type="sldNum" sz="quarter" idx="5"/>
          </p:nvPr>
        </p:nvSpPr>
        <p:spPr/>
        <p:txBody>
          <a:bodyPr/>
          <a:lstStyle/>
          <a:p>
            <a:fld id="{19B6A118-F16C-4E2B-B45C-EF12184475FF}" type="slidenum">
              <a:rPr lang="en-US"/>
              <a:t>74</a:t>
            </a:fld>
            <a:endParaRPr lang="en-US"/>
          </a:p>
        </p:txBody>
      </p:sp>
    </p:spTree>
    <p:extLst>
      <p:ext uri="{BB962C8B-B14F-4D97-AF65-F5344CB8AC3E}">
        <p14:creationId xmlns:p14="http://schemas.microsoft.com/office/powerpoint/2010/main" val="40051728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err="1"/>
              <a:t>sanitizeLink</a:t>
            </a:r>
            <a:r>
              <a:rPr lang="en-US" dirty="0"/>
              <a:t> function is typically used to sanitize or validate URLs and ensure that they meet certain security criteria before being used or displayed in a web application. The goal is to prevent potential security vulnerabilities, such as Cross-Site Scripting (XSS) or other injection attacks, that may arise from improperly formatted or malicious URLs.</a:t>
            </a:r>
          </a:p>
        </p:txBody>
      </p:sp>
      <p:sp>
        <p:nvSpPr>
          <p:cNvPr id="4" name="Slide Number Placeholder 3"/>
          <p:cNvSpPr>
            <a:spLocks noGrp="1"/>
          </p:cNvSpPr>
          <p:nvPr>
            <p:ph type="sldNum" sz="quarter" idx="5"/>
          </p:nvPr>
        </p:nvSpPr>
        <p:spPr/>
        <p:txBody>
          <a:bodyPr/>
          <a:lstStyle/>
          <a:p>
            <a:fld id="{19B6A118-F16C-4E2B-B45C-EF12184475FF}" type="slidenum">
              <a:rPr lang="en-US"/>
              <a:t>78</a:t>
            </a:fld>
            <a:endParaRPr lang="en-US"/>
          </a:p>
        </p:txBody>
      </p:sp>
    </p:spTree>
    <p:extLst>
      <p:ext uri="{BB962C8B-B14F-4D97-AF65-F5344CB8AC3E}">
        <p14:creationId xmlns:p14="http://schemas.microsoft.com/office/powerpoint/2010/main" val="35643415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dirty="0"/>
              <a:t>The </a:t>
            </a:r>
            <a:r>
              <a:rPr lang="en-US" b="1" dirty="0" err="1"/>
              <a:t>htmlEncode</a:t>
            </a:r>
            <a:r>
              <a:rPr lang="en-US" dirty="0"/>
              <a:t> function is used to encode the user input.</a:t>
            </a:r>
          </a:p>
          <a:p>
            <a:pPr marL="285750" indent="-285750">
              <a:buFont typeface="Arial"/>
              <a:buChar char="•"/>
            </a:pPr>
            <a:r>
              <a:rPr lang="en-US" dirty="0"/>
              <a:t>The user-generated input contains a script tag that would normally execute JavaScript code.</a:t>
            </a:r>
            <a:endParaRPr lang="en-US" dirty="0">
              <a:cs typeface="Calibri"/>
            </a:endParaRPr>
          </a:p>
          <a:p>
            <a:pPr marL="285750" indent="-285750">
              <a:buFont typeface="Arial"/>
              <a:buChar char="•"/>
            </a:pPr>
            <a:r>
              <a:rPr lang="en-US" dirty="0"/>
              <a:t>After encoding, the input is displayed in the DOM, and it won't be executed as JavaScript code.</a:t>
            </a:r>
            <a:endParaRPr lang="en-US" dirty="0">
              <a:cs typeface="Calibri"/>
            </a:endParaRPr>
          </a:p>
          <a:p>
            <a:pPr marL="285750" indent="-285750">
              <a:buFont typeface="Arial"/>
              <a:buChar char="•"/>
            </a:pPr>
            <a:endParaRPr lang="en-US" dirty="0">
              <a:cs typeface="Calibri"/>
            </a:endParaRPr>
          </a:p>
          <a:p>
            <a:pPr marL="285750" indent="-285750">
              <a:buFont typeface="Arial"/>
              <a:buChar char="•"/>
            </a:pPr>
            <a:r>
              <a:rPr lang="en-US" dirty="0"/>
              <a:t>An </a:t>
            </a:r>
            <a:r>
              <a:rPr lang="en-US" b="1" dirty="0" err="1"/>
              <a:t>htmlEncode</a:t>
            </a:r>
            <a:r>
              <a:rPr lang="en-US" dirty="0"/>
              <a:t> function is used to encode HTML entities in a string, preventing HTML injection and Cross-Site Scripting (XSS) attacks. HTML encoding involves replacing special characters with their corresponding HTML entities. </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19B6A118-F16C-4E2B-B45C-EF12184475FF}" type="slidenum">
              <a:rPr lang="en-US"/>
              <a:t>80</a:t>
            </a:fld>
            <a:endParaRPr lang="en-US"/>
          </a:p>
        </p:txBody>
      </p:sp>
    </p:spTree>
    <p:extLst>
      <p:ext uri="{BB962C8B-B14F-4D97-AF65-F5344CB8AC3E}">
        <p14:creationId xmlns:p14="http://schemas.microsoft.com/office/powerpoint/2010/main" val="5914991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default-</a:t>
            </a:r>
            <a:r>
              <a:rPr lang="en-US" b="1" dirty="0" err="1"/>
              <a:t>src</a:t>
            </a:r>
            <a:r>
              <a:rPr lang="en-US" dirty="0"/>
              <a:t> is a directive used in the Content Security Policy (CSP) header of a web page to define the default policy for loading resources. The </a:t>
            </a:r>
            <a:r>
              <a:rPr lang="en-US" b="1" dirty="0"/>
              <a:t>default-</a:t>
            </a:r>
            <a:r>
              <a:rPr lang="en-US" b="1" dirty="0" err="1"/>
              <a:t>src</a:t>
            </a:r>
            <a:r>
              <a:rPr lang="en-US" dirty="0"/>
              <a:t> directive specifies the default source for content such as scripts, styles, images, fonts, and other resources if a more specific directive is not defined for a particular type of content.</a:t>
            </a:r>
          </a:p>
          <a:p>
            <a:r>
              <a:rPr lang="en-US" dirty="0"/>
              <a:t>The </a:t>
            </a:r>
            <a:r>
              <a:rPr lang="en-US" b="1" dirty="0"/>
              <a:t>script-</a:t>
            </a:r>
            <a:r>
              <a:rPr lang="en-US" b="1" dirty="0" err="1"/>
              <a:t>src</a:t>
            </a:r>
            <a:r>
              <a:rPr lang="en-US" dirty="0"/>
              <a:t> directive is part of the Content Security Policy (CSP) header in a web page's HTTP response. It specifies the valid sources for JavaScript code execution. </a:t>
            </a:r>
          </a:p>
        </p:txBody>
      </p:sp>
      <p:sp>
        <p:nvSpPr>
          <p:cNvPr id="4" name="Slide Number Placeholder 3"/>
          <p:cNvSpPr>
            <a:spLocks noGrp="1"/>
          </p:cNvSpPr>
          <p:nvPr>
            <p:ph type="sldNum" sz="quarter" idx="5"/>
          </p:nvPr>
        </p:nvSpPr>
        <p:spPr/>
        <p:txBody>
          <a:bodyPr/>
          <a:lstStyle/>
          <a:p>
            <a:fld id="{19B6A118-F16C-4E2B-B45C-EF12184475FF}" type="slidenum">
              <a:rPr lang="en-US"/>
              <a:t>82</a:t>
            </a:fld>
            <a:endParaRPr lang="en-US"/>
          </a:p>
        </p:txBody>
      </p:sp>
    </p:spTree>
    <p:extLst>
      <p:ext uri="{BB962C8B-B14F-4D97-AF65-F5344CB8AC3E}">
        <p14:creationId xmlns:p14="http://schemas.microsoft.com/office/powerpoint/2010/main" val="12928570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its core, CSRF token defense works like this: 1. Your web server sends a special token to the client. This token is generated cryptographically with a very low collision algorithm, which means that the odds of getting two identical tokens are exceedingly rare. The token can be regenerated as often as per request, but generally is generated per session. 2. Each request from your web application now sends the token back with it; this should be sent back in forms as well as AJAX requests. When the request gets to the server, the token is verified to make sure it is live (not expired), authentic, and has not been manipulated. If verification fails, the request is logged and fails as well. CSRF Tokens | 2493. As a result of requests requiring a valid CSRF token, which is unique per session and unique to each user, CSRF attacks originating from other origins become extremely difficult to pull off. Not only would the attacker need a live and up-</a:t>
            </a:r>
            <a:r>
              <a:rPr lang="en-US" dirty="0" err="1"/>
              <a:t>todate</a:t>
            </a:r>
            <a:r>
              <a:rPr lang="en-US" dirty="0"/>
              <a:t> CSRF token, but they would also now need to target a specific user versus a large number of users. Furthermore, with token expiration compromised, CSRF tokens can be dead by the time a user clicks a malicious link—a beneficial side effect of CSRF tokens as a defensive strategy.</a:t>
            </a:r>
          </a:p>
        </p:txBody>
      </p:sp>
      <p:sp>
        <p:nvSpPr>
          <p:cNvPr id="4" name="Slide Number Placeholder 3"/>
          <p:cNvSpPr>
            <a:spLocks noGrp="1"/>
          </p:cNvSpPr>
          <p:nvPr>
            <p:ph type="sldNum" sz="quarter" idx="5"/>
          </p:nvPr>
        </p:nvSpPr>
        <p:spPr/>
        <p:txBody>
          <a:bodyPr/>
          <a:lstStyle/>
          <a:p>
            <a:fld id="{19B6A118-F16C-4E2B-B45C-EF12184475FF}" type="slidenum">
              <a:rPr lang="en-US"/>
              <a:t>89</a:t>
            </a:fld>
            <a:endParaRPr lang="en-US"/>
          </a:p>
        </p:txBody>
      </p:sp>
    </p:spTree>
    <p:extLst>
      <p:ext uri="{BB962C8B-B14F-4D97-AF65-F5344CB8AC3E}">
        <p14:creationId xmlns:p14="http://schemas.microsoft.com/office/powerpoint/2010/main" val="3472921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OAST (Out-of-band Application Security Testing) </a:t>
            </a:r>
            <a:endParaRPr lang="en-US"/>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19B6A118-F16C-4E2B-B45C-EF12184475FF}" type="slidenum">
              <a:rPr lang="en-US"/>
              <a:t>102</a:t>
            </a:fld>
            <a:endParaRPr lang="en-US"/>
          </a:p>
        </p:txBody>
      </p:sp>
    </p:spTree>
    <p:extLst>
      <p:ext uri="{BB962C8B-B14F-4D97-AF65-F5344CB8AC3E}">
        <p14:creationId xmlns:p14="http://schemas.microsoft.com/office/powerpoint/2010/main" val="3587141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Making use of database-specific string sanitizers for escaping risky character sets reduces the SQL injection risk by making it harder to write an SQL literal versus a string. These should always be used if a query is being run that cannot be </a:t>
            </a:r>
            <a:r>
              <a:rPr lang="en-US" dirty="0" err="1"/>
              <a:t>paramaterized</a:t>
            </a:r>
            <a:r>
              <a:rPr lang="en-US" dirty="0"/>
              <a:t>—though they should not be considered a comprehensive defense but instead a mitigation</a:t>
            </a:r>
          </a:p>
        </p:txBody>
      </p:sp>
      <p:sp>
        <p:nvSpPr>
          <p:cNvPr id="4" name="Slide Number Placeholder 3"/>
          <p:cNvSpPr>
            <a:spLocks noGrp="1"/>
          </p:cNvSpPr>
          <p:nvPr>
            <p:ph type="sldNum" sz="quarter" idx="5"/>
          </p:nvPr>
        </p:nvSpPr>
        <p:spPr/>
        <p:txBody>
          <a:bodyPr/>
          <a:lstStyle/>
          <a:p>
            <a:fld id="{19B6A118-F16C-4E2B-B45C-EF12184475FF}" type="slidenum">
              <a:rPr lang="en-US"/>
              <a:t>106</a:t>
            </a:fld>
            <a:endParaRPr lang="en-US"/>
          </a:p>
        </p:txBody>
      </p:sp>
    </p:spTree>
    <p:extLst>
      <p:ext uri="{BB962C8B-B14F-4D97-AF65-F5344CB8AC3E}">
        <p14:creationId xmlns:p14="http://schemas.microsoft.com/office/powerpoint/2010/main" val="29547891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the client is capable of executing any commands against the server that are supported by the cli library. This means that the cli execution environment and full scope are accessible to the end user simply by providing commands that are supported by the cli, even if they are not intended for use by the developer.</a:t>
            </a:r>
          </a:p>
        </p:txBody>
      </p:sp>
      <p:sp>
        <p:nvSpPr>
          <p:cNvPr id="4" name="Slide Number Placeholder 3"/>
          <p:cNvSpPr>
            <a:spLocks noGrp="1"/>
          </p:cNvSpPr>
          <p:nvPr>
            <p:ph type="sldNum" sz="quarter" idx="5"/>
          </p:nvPr>
        </p:nvSpPr>
        <p:spPr/>
        <p:txBody>
          <a:bodyPr/>
          <a:lstStyle/>
          <a:p>
            <a:fld id="{19B6A118-F16C-4E2B-B45C-EF12184475FF}" type="slidenum">
              <a:rPr lang="en-US"/>
              <a:t>112</a:t>
            </a:fld>
            <a:endParaRPr lang="en-US"/>
          </a:p>
        </p:txBody>
      </p:sp>
    </p:spTree>
    <p:extLst>
      <p:ext uri="{BB962C8B-B14F-4D97-AF65-F5344CB8AC3E}">
        <p14:creationId xmlns:p14="http://schemas.microsoft.com/office/powerpoint/2010/main" val="22860487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are some strategies to protect against Regex DoS:</a:t>
            </a:r>
          </a:p>
          <a:p>
            <a:r>
              <a:rPr lang="en-US" b="1" dirty="0"/>
              <a:t>Limit Input Length:</a:t>
            </a:r>
            <a:endParaRPr lang="en-US" dirty="0"/>
          </a:p>
          <a:p>
            <a:pPr marL="342900" lvl="1" indent="-342900">
              <a:buChar char="•"/>
            </a:pPr>
            <a:r>
              <a:rPr lang="en-US" dirty="0"/>
              <a:t>Limit the length of the input that is processed by regular expressions. This helps prevent the construction of excessively long strings that could trigger exponential backtracking.</a:t>
            </a:r>
          </a:p>
          <a:p>
            <a:pPr>
              <a:buChar char="•"/>
            </a:pPr>
            <a:r>
              <a:rPr lang="en-US" b="1" dirty="0"/>
              <a:t>Avoid Excessive Backtracking:</a:t>
            </a:r>
            <a:endParaRPr lang="en-US" dirty="0"/>
          </a:p>
          <a:p>
            <a:pPr marL="342900" lvl="1" indent="-342900">
              <a:buChar char="•"/>
            </a:pPr>
            <a:r>
              <a:rPr lang="en-US" dirty="0"/>
              <a:t>Optimize your regular expressions to reduce the potential for exponential backtracking. Be mindful of nested quantifiers and alternations that can lead to inefficient matching.</a:t>
            </a:r>
          </a:p>
          <a:p>
            <a:pPr>
              <a:buChar char="•"/>
            </a:pPr>
            <a:r>
              <a:rPr lang="en-US" b="1" dirty="0"/>
              <a:t>Use Possessive Quantifiers:</a:t>
            </a:r>
            <a:endParaRPr lang="en-US" dirty="0"/>
          </a:p>
          <a:p>
            <a:pPr marL="342900" lvl="1" indent="-342900">
              <a:buChar char="•"/>
            </a:pPr>
            <a:r>
              <a:rPr lang="en-US" dirty="0"/>
              <a:t>Where possible, use possessive quantifiers (</a:t>
            </a:r>
            <a:r>
              <a:rPr lang="en-US" b="1" dirty="0"/>
              <a:t>*+</a:t>
            </a:r>
            <a:r>
              <a:rPr lang="en-US" dirty="0"/>
              <a:t>, </a:t>
            </a:r>
            <a:r>
              <a:rPr lang="en-US" b="1" dirty="0"/>
              <a:t>?+</a:t>
            </a:r>
            <a:r>
              <a:rPr lang="en-US" dirty="0"/>
              <a:t>, </a:t>
            </a:r>
            <a:r>
              <a:rPr lang="en-US" b="1" dirty="0"/>
              <a:t>{n,}+</a:t>
            </a:r>
            <a:r>
              <a:rPr lang="en-US" dirty="0"/>
              <a:t>, etc.) instead of traditional greedy quantifiers (</a:t>
            </a:r>
            <a:r>
              <a:rPr lang="en-US" b="1" dirty="0"/>
              <a:t>*</a:t>
            </a:r>
            <a:r>
              <a:rPr lang="en-US" dirty="0"/>
              <a:t>, </a:t>
            </a:r>
            <a:r>
              <a:rPr lang="en-US" b="1" dirty="0"/>
              <a:t>?</a:t>
            </a:r>
            <a:r>
              <a:rPr lang="en-US" dirty="0"/>
              <a:t>, </a:t>
            </a:r>
            <a:r>
              <a:rPr lang="en-US" b="1" dirty="0"/>
              <a:t>{n,}</a:t>
            </a:r>
            <a:r>
              <a:rPr lang="en-US" dirty="0"/>
              <a:t>, etc.). Possessive quantifiers don't backtrack, making them more efficient.</a:t>
            </a:r>
            <a:endParaRPr lang="en-US" dirty="0">
              <a:cs typeface="Calibri"/>
            </a:endParaRPr>
          </a:p>
          <a:p>
            <a:pPr>
              <a:buChar char="•"/>
            </a:pPr>
            <a:r>
              <a:rPr lang="en-US" b="1" dirty="0"/>
              <a:t>Use Atomic Groups:</a:t>
            </a:r>
            <a:endParaRPr lang="en-US" dirty="0"/>
          </a:p>
          <a:p>
            <a:pPr marL="342900" lvl="1" indent="-342900">
              <a:buChar char="•"/>
            </a:pPr>
            <a:r>
              <a:rPr lang="en-US" dirty="0"/>
              <a:t>Atomic groups </a:t>
            </a:r>
            <a:r>
              <a:rPr lang="en-US" b="1" dirty="0"/>
              <a:t>(?&gt;...)</a:t>
            </a:r>
            <a:r>
              <a:rPr lang="en-US" dirty="0"/>
              <a:t> prevent backtracking into the group once it has matched. This can be useful in scenarios where backtracking is not necessary.</a:t>
            </a:r>
            <a:endParaRPr lang="en-US" dirty="0">
              <a:cs typeface="Calibri"/>
            </a:endParaRPr>
          </a:p>
          <a:p>
            <a:pPr>
              <a:buChar char="•"/>
            </a:pPr>
            <a:r>
              <a:rPr lang="en-US" b="1" dirty="0"/>
              <a:t>Limit Repetition:</a:t>
            </a:r>
            <a:endParaRPr lang="en-US" dirty="0"/>
          </a:p>
          <a:p>
            <a:pPr marL="342900" lvl="1" indent="-342900">
              <a:buChar char="•"/>
            </a:pPr>
            <a:r>
              <a:rPr lang="en-US" dirty="0"/>
              <a:t>Limit the repetition of quantifiers in your regular expressions. For example, avoid constructs like </a:t>
            </a:r>
            <a:r>
              <a:rPr lang="en-US" b="1" dirty="0"/>
              <a:t>.*</a:t>
            </a:r>
            <a:r>
              <a:rPr lang="en-US" dirty="0"/>
              <a:t> that can match large portions of text.</a:t>
            </a:r>
            <a:endParaRPr lang="en-US" dirty="0">
              <a:cs typeface="Calibri"/>
            </a:endParaRPr>
          </a:p>
          <a:p>
            <a:pPr>
              <a:buChar char="•"/>
            </a:pPr>
            <a:r>
              <a:rPr lang="en-US" b="1" dirty="0"/>
              <a:t>Precompute Regular Expressions:</a:t>
            </a:r>
            <a:endParaRPr lang="en-US" dirty="0"/>
          </a:p>
          <a:p>
            <a:pPr marL="342900" lvl="1" indent="-342900">
              <a:buChar char="•"/>
            </a:pPr>
            <a:r>
              <a:rPr lang="en-US" dirty="0"/>
              <a:t>If your regular expressions are constant and known in advance, consider precomputing them rather than dynamically generating them based on user input.</a:t>
            </a:r>
          </a:p>
          <a:p>
            <a:pPr>
              <a:buChar char="•"/>
            </a:pPr>
            <a:r>
              <a:rPr lang="en-US" b="1" dirty="0"/>
              <a:t>Rate Limiting:</a:t>
            </a:r>
            <a:endParaRPr lang="en-US" dirty="0"/>
          </a:p>
          <a:p>
            <a:pPr marL="342900" lvl="1" indent="-342900">
              <a:buChar char="•"/>
            </a:pPr>
            <a:r>
              <a:rPr lang="en-US" dirty="0"/>
              <a:t>Implement rate limiting for regular expression evaluations. Limit the number of regular expression evaluations that can be performed within a given time frame.</a:t>
            </a:r>
          </a:p>
          <a:p>
            <a:pPr>
              <a:buChar char="•"/>
            </a:pPr>
            <a:r>
              <a:rPr lang="en-US" b="1" dirty="0"/>
              <a:t>Use Library Features:</a:t>
            </a:r>
            <a:endParaRPr lang="en-US" dirty="0"/>
          </a:p>
          <a:p>
            <a:pPr marL="342900" lvl="1" indent="-342900">
              <a:buChar char="•"/>
            </a:pPr>
            <a:r>
              <a:rPr lang="en-US" dirty="0"/>
              <a:t>Some regular expression libraries and engines provide features or flags specifically designed to mitigate </a:t>
            </a:r>
            <a:r>
              <a:rPr lang="en-US" dirty="0" err="1"/>
              <a:t>ReDoS</a:t>
            </a:r>
            <a:r>
              <a:rPr lang="en-US" dirty="0"/>
              <a:t>. For example, the </a:t>
            </a:r>
            <a:r>
              <a:rPr lang="en-US" b="1" dirty="0"/>
              <a:t>re2</a:t>
            </a:r>
            <a:r>
              <a:rPr lang="en-US" dirty="0"/>
              <a:t> library has a timeout feature that limits the evaluation time.</a:t>
            </a:r>
          </a:p>
          <a:p>
            <a:pPr>
              <a:buChar char="•"/>
            </a:pPr>
            <a:r>
              <a:rPr lang="en-US" b="1" dirty="0"/>
              <a:t>Input Whitelisting:</a:t>
            </a:r>
            <a:endParaRPr lang="en-US" dirty="0"/>
          </a:p>
          <a:p>
            <a:pPr marL="342900" lvl="1" indent="-342900">
              <a:buChar char="•"/>
            </a:pPr>
            <a:r>
              <a:rPr lang="en-US" dirty="0"/>
              <a:t>Use input whitelisting or allow-listing to restrict input to a known set of safe characters. This can help prevent maliciously crafted input designed to trigger </a:t>
            </a:r>
            <a:r>
              <a:rPr lang="en-US" dirty="0" err="1"/>
              <a:t>ReDoS</a:t>
            </a:r>
            <a:r>
              <a:rPr lang="en-US" dirty="0"/>
              <a:t>.</a:t>
            </a:r>
          </a:p>
          <a:p>
            <a:pPr>
              <a:buChar char="•"/>
            </a:pPr>
            <a:r>
              <a:rPr lang="en-US" b="1" dirty="0"/>
              <a:t>Runtime Monitoring:</a:t>
            </a:r>
            <a:endParaRPr lang="en-US" dirty="0"/>
          </a:p>
          <a:p>
            <a:pPr marL="342900" lvl="1" indent="-342900">
              <a:buChar char="•"/>
            </a:pPr>
            <a:r>
              <a:rPr lang="en-US" dirty="0"/>
              <a:t>Implement runtime monitoring of regular expression evaluations. If an evaluation takes an unusually long time, log or terminate the process to prevent DoS.</a:t>
            </a:r>
          </a:p>
          <a:p>
            <a:pPr lvl="1"/>
            <a:r>
              <a:rPr lang="en-US" dirty="0"/>
              <a:t>It's important to note that preventing </a:t>
            </a:r>
            <a:r>
              <a:rPr lang="en-US" dirty="0" err="1"/>
              <a:t>ReDoS</a:t>
            </a:r>
            <a:r>
              <a:rPr lang="en-US" dirty="0"/>
              <a:t> requires a combination of input validation, regular expression optimization, and runtime monitoring. Regular expressions can be powerful tools, but they must be used judiciously and with consideration for potential security risks, especially in scenarios involving untrusted user input.</a:t>
            </a:r>
          </a:p>
          <a:p>
            <a:pPr lvl="1"/>
            <a:r>
              <a:rPr lang="en-US" b="1" dirty="0"/>
              <a:t> </a:t>
            </a:r>
            <a:endParaRPr lang="en-US" dirty="0"/>
          </a:p>
          <a:p>
            <a:pPr lvl="1"/>
            <a:br>
              <a:rPr lang="en-US" dirty="0"/>
            </a:br>
            <a:endParaRPr lang="en-US" dirty="0"/>
          </a:p>
          <a:p>
            <a:endParaRPr lang="en-US" dirty="0">
              <a:cs typeface="Calibri"/>
            </a:endParaRPr>
          </a:p>
        </p:txBody>
      </p:sp>
      <p:sp>
        <p:nvSpPr>
          <p:cNvPr id="4" name="Slide Number Placeholder 3"/>
          <p:cNvSpPr>
            <a:spLocks noGrp="1"/>
          </p:cNvSpPr>
          <p:nvPr>
            <p:ph type="sldNum" sz="quarter" idx="5"/>
          </p:nvPr>
        </p:nvSpPr>
        <p:spPr/>
        <p:txBody>
          <a:bodyPr/>
          <a:lstStyle/>
          <a:p>
            <a:fld id="{19B6A118-F16C-4E2B-B45C-EF12184475FF}" type="slidenum">
              <a:rPr lang="en-US"/>
              <a:t>116</a:t>
            </a:fld>
            <a:endParaRPr lang="en-US"/>
          </a:p>
        </p:txBody>
      </p:sp>
    </p:spTree>
    <p:extLst>
      <p:ext uri="{BB962C8B-B14F-4D97-AF65-F5344CB8AC3E}">
        <p14:creationId xmlns:p14="http://schemas.microsoft.com/office/powerpoint/2010/main" val="13055145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Limit Input Complexity:</a:t>
            </a:r>
            <a:endParaRPr lang="en-US"/>
          </a:p>
          <a:p>
            <a:pPr marL="342900" lvl="1" indent="-342900">
              <a:buChar char="•"/>
            </a:pPr>
            <a:r>
              <a:rPr lang="en-US" dirty="0"/>
              <a:t>Implement restrictions on the complexity of input data, especially in scenarios where the input directly influences algorithmic decisions. For example, limit the depth of nested structures, the length of input strings, or the number of iterations in loops.</a:t>
            </a:r>
          </a:p>
          <a:p>
            <a:pPr>
              <a:buChar char="•"/>
            </a:pPr>
            <a:r>
              <a:rPr lang="en-US" b="1" dirty="0"/>
              <a:t>Rate Limiting:</a:t>
            </a:r>
            <a:endParaRPr lang="en-US" dirty="0"/>
          </a:p>
          <a:p>
            <a:pPr marL="342900" lvl="1" indent="-342900">
              <a:buChar char="•"/>
            </a:pPr>
            <a:r>
              <a:rPr lang="en-US" dirty="0"/>
              <a:t>Implement rate limiting to restrict the number of requests or operations that a user or IP address can make within a specified time frame. This helps prevent an attacker from overwhelming the system with a large number of requests.</a:t>
            </a:r>
          </a:p>
          <a:p>
            <a:pPr>
              <a:buChar char="•"/>
            </a:pPr>
            <a:r>
              <a:rPr lang="en-US" b="1" dirty="0"/>
              <a:t>Resource Quotas:</a:t>
            </a:r>
            <a:endParaRPr lang="en-US" dirty="0"/>
          </a:p>
          <a:p>
            <a:pPr marL="342900" lvl="1" indent="-342900">
              <a:buChar char="•"/>
            </a:pPr>
            <a:r>
              <a:rPr lang="en-US" dirty="0"/>
              <a:t>Set resource quotas for various operations to ensure that a single request or user cannot consume an excessive amount of resources. This includes limiting CPU time, memory usage, or the number of database queries.</a:t>
            </a:r>
          </a:p>
          <a:p>
            <a:pPr>
              <a:buChar char="•"/>
            </a:pPr>
            <a:r>
              <a:rPr lang="en-US" b="1" dirty="0"/>
              <a:t>Timeouts and Deadlines:</a:t>
            </a:r>
            <a:endParaRPr lang="en-US" dirty="0"/>
          </a:p>
          <a:p>
            <a:pPr marL="342900" lvl="1" indent="-342900">
              <a:buChar char="•"/>
            </a:pPr>
            <a:r>
              <a:rPr lang="en-US" dirty="0"/>
              <a:t>Enforce timeouts and deadlines for operations to limit the amount of time that a request is allowed to consume resources. If an operation exceeds the allotted time, terminate it and return an appropriate response.</a:t>
            </a:r>
          </a:p>
          <a:p>
            <a:pPr>
              <a:buChar char="•"/>
            </a:pPr>
            <a:r>
              <a:rPr lang="en-US" b="1" dirty="0"/>
              <a:t>Parallelization Limits:</a:t>
            </a:r>
            <a:endParaRPr lang="en-US" dirty="0"/>
          </a:p>
          <a:p>
            <a:pPr marL="342900" lvl="1" indent="-342900">
              <a:buChar char="•"/>
            </a:pPr>
            <a:r>
              <a:rPr lang="en-US" dirty="0"/>
              <a:t>Control the parallelization of tasks to prevent an attacker from launching multiple parallel requests that collectively lead to resource exhaustion. Limit the concurrency of certain operations.</a:t>
            </a:r>
          </a:p>
          <a:p>
            <a:pPr>
              <a:buChar char="•"/>
            </a:pPr>
            <a:r>
              <a:rPr lang="en-US" b="1" dirty="0"/>
              <a:t>Algorithmic Complexity Analysis:</a:t>
            </a:r>
            <a:endParaRPr lang="en-US" dirty="0"/>
          </a:p>
          <a:p>
            <a:pPr marL="342900" lvl="1" indent="-342900">
              <a:buChar char="•"/>
            </a:pPr>
            <a:r>
              <a:rPr lang="en-US" dirty="0"/>
              <a:t>Analyze the worst-case time complexity of critical algorithms in your application. Identify and optimize algorithms that have high complexity, especially those that handle untrusted input.</a:t>
            </a:r>
          </a:p>
          <a:p>
            <a:pPr>
              <a:buChar char="•"/>
            </a:pPr>
            <a:r>
              <a:rPr lang="en-US" b="1" dirty="0"/>
              <a:t>Use Efficient Data Structures:</a:t>
            </a:r>
            <a:endParaRPr lang="en-US" dirty="0"/>
          </a:p>
          <a:p>
            <a:pPr marL="342900" lvl="1" indent="-342900">
              <a:buChar char="•"/>
            </a:pPr>
            <a:r>
              <a:rPr lang="en-US" dirty="0"/>
              <a:t>Choose efficient data structures for storing and processing data. Consider the trade-offs between time and space complexity. In some cases, using more efficient algorithms or data structures can mitigate the impact of potential attacks.</a:t>
            </a:r>
          </a:p>
          <a:p>
            <a:pPr>
              <a:buChar char="•"/>
            </a:pPr>
            <a:r>
              <a:rPr lang="en-US" b="1" dirty="0"/>
              <a:t>Caching and </a:t>
            </a:r>
            <a:r>
              <a:rPr lang="en-US" b="1" dirty="0" err="1"/>
              <a:t>Memoization</a:t>
            </a:r>
            <a:r>
              <a:rPr lang="en-US" b="1" dirty="0"/>
              <a:t>:</a:t>
            </a:r>
            <a:endParaRPr lang="en-US" dirty="0"/>
          </a:p>
          <a:p>
            <a:pPr marL="342900" lvl="1" indent="-342900">
              <a:buChar char="•"/>
            </a:pPr>
            <a:r>
              <a:rPr lang="en-US" dirty="0"/>
              <a:t>Implement caching and </a:t>
            </a:r>
            <a:r>
              <a:rPr lang="en-US" dirty="0" err="1"/>
              <a:t>memoization</a:t>
            </a:r>
            <a:r>
              <a:rPr lang="en-US" dirty="0"/>
              <a:t> to store the results of expensive computations. If the same computation is requested multiple times with the same input, retrieve the cached result instead of recomputing it.</a:t>
            </a:r>
          </a:p>
          <a:p>
            <a:pPr>
              <a:buChar char="•"/>
            </a:pPr>
            <a:r>
              <a:rPr lang="en-US" b="1" dirty="0"/>
              <a:t>Heuristic Detection:</a:t>
            </a:r>
            <a:endParaRPr lang="en-US" dirty="0"/>
          </a:p>
          <a:p>
            <a:pPr marL="342900" lvl="1" indent="-342900">
              <a:buChar char="•"/>
            </a:pPr>
            <a:r>
              <a:rPr lang="en-US" dirty="0"/>
              <a:t>Implement heuristic-based detection mechanisms to identify patterns indicative of a potential Logical DoS attack. For example, monitor request patterns for unusually complex input or excessive resource usage.</a:t>
            </a:r>
          </a:p>
          <a:p>
            <a:pPr>
              <a:buChar char="•"/>
            </a:pPr>
            <a:r>
              <a:rPr lang="en-US" b="1" dirty="0"/>
              <a:t>Regular Security Audits:</a:t>
            </a:r>
            <a:endParaRPr lang="en-US" dirty="0"/>
          </a:p>
          <a:p>
            <a:pPr marL="342900" lvl="1" indent="-342900">
              <a:buChar char="•"/>
            </a:pPr>
            <a:r>
              <a:rPr lang="en-US" dirty="0"/>
              <a:t>Conduct regular security audits and performance testing to identify and address vulnerabilities that could be exploited for Logical DoS attacks. Pay attention to algorithms and operations that could be resource-intensive.</a:t>
            </a:r>
          </a:p>
          <a:p>
            <a:endParaRPr lang="en-US" dirty="0">
              <a:cs typeface="Calibri"/>
            </a:endParaRPr>
          </a:p>
        </p:txBody>
      </p:sp>
      <p:sp>
        <p:nvSpPr>
          <p:cNvPr id="4" name="Slide Number Placeholder 3"/>
          <p:cNvSpPr>
            <a:spLocks noGrp="1"/>
          </p:cNvSpPr>
          <p:nvPr>
            <p:ph type="sldNum" sz="quarter" idx="5"/>
          </p:nvPr>
        </p:nvSpPr>
        <p:spPr/>
        <p:txBody>
          <a:bodyPr/>
          <a:lstStyle/>
          <a:p>
            <a:fld id="{19B6A118-F16C-4E2B-B45C-EF12184475FF}" type="slidenum">
              <a:rPr lang="en-US"/>
              <a:t>118</a:t>
            </a:fld>
            <a:endParaRPr lang="en-US"/>
          </a:p>
        </p:txBody>
      </p:sp>
    </p:spTree>
    <p:extLst>
      <p:ext uri="{BB962C8B-B14F-4D97-AF65-F5344CB8AC3E}">
        <p14:creationId xmlns:p14="http://schemas.microsoft.com/office/powerpoint/2010/main" val="3986884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2" Type="http://schemas.openxmlformats.org/officeDocument/2006/relationships/hyperlink" Target="https://cheatsheetseries.owasp.org/cheatsheets/Vulnerability_Disclosure_Cheat_Sheet.html#reporting-vulnerabilities" TargetMode="External" /><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2" Type="http://schemas.openxmlformats.org/officeDocument/2006/relationships/hyperlink" Target="https://cheatsheetseries.owasp.org/cheatsheets/Vulnerability_Disclosure_Cheat_Sheet.html#receiving-vulnerability-reports" TargetMode="External" /><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7.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74.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14.xml" /><Relationship Id="rId1" Type="http://schemas.openxmlformats.org/officeDocument/2006/relationships/slideLayout" Target="../slideLayouts/slideLayout2.xml" /></Relationships>
</file>

<file path=ppt/slides/_rels/slide75.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76.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78.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16.xml" /><Relationship Id="rId1" Type="http://schemas.openxmlformats.org/officeDocument/2006/relationships/slideLayout" Target="../slideLayouts/slideLayout2.xml"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 standalone="yes"?>
<Relationships xmlns="http://schemas.openxmlformats.org/package/2006/relationships"><Relationship Id="rId2" Type="http://schemas.openxmlformats.org/officeDocument/2006/relationships/hyperlink" Target="https://www.mega-bank.com:80" TargetMode="External" /><Relationship Id="rId1" Type="http://schemas.openxmlformats.org/officeDocument/2006/relationships/slideLayout" Target="../slideLayouts/slideLayout2.xml" /></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18.xml" /><Relationship Id="rId1" Type="http://schemas.openxmlformats.org/officeDocument/2006/relationships/slideLayout" Target="../slideLayouts/slideLayout2.xml" /></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 standalone="yes"?>
<Relationships xmlns="http://schemas.openxmlformats.org/package/2006/relationships"><Relationship Id="rId2" Type="http://schemas.openxmlformats.org/officeDocument/2006/relationships/hyperlink" Target="file:///etc/passwd" TargetMode="External" /><Relationship Id="rId1" Type="http://schemas.openxmlformats.org/officeDocument/2006/relationships/slideLayout" Target="../slideLayouts/slideLayout2.xml" /></Relationships>
</file>

<file path=ppt/slides/_rels/slide99.xml.rels><?xml version="1.0" encoding="UTF-8" standalone="yes"?>
<Relationships xmlns="http://schemas.openxmlformats.org/package/2006/relationships"><Relationship Id="rId2" Type="http://schemas.openxmlformats.org/officeDocument/2006/relationships/hyperlink" Target="file:///etc/passwd" TargetMode="External" /><Relationship Id="rId1" Type="http://schemas.openxmlformats.org/officeDocument/2006/relationships/slideLayout" Target="../slideLayouts/slideLayout2.xml" /></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2.xml" /></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2.xml" /></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2.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notesSlide" Target="../notesSlides/notesSlide21.xml" /><Relationship Id="rId1" Type="http://schemas.openxmlformats.org/officeDocument/2006/relationships/slideLayout" Target="../slideLayouts/slideLayout2.xml" /></Relationships>
</file>

<file path=ppt/slides/_rels/slide113.xml.rels><?xml version="1.0" encoding="UTF-8" standalone="yes"?>
<Relationships xmlns="http://schemas.openxmlformats.org/package/2006/relationships"><Relationship Id="rId2" Type="http://schemas.openxmlformats.org/officeDocument/2006/relationships/image" Target="../media/image14.png" /><Relationship Id="rId1" Type="http://schemas.openxmlformats.org/officeDocument/2006/relationships/slideLayout" Target="../slideLayouts/slideLayout2.xml" /></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2.xml" /></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2.xml" /></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2.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123.xml.rels><?xml version="1.0" encoding="UTF-8" standalone="yes"?>
<Relationships xmlns="http://schemas.openxmlformats.org/package/2006/relationships"><Relationship Id="rId3" Type="http://schemas.openxmlformats.org/officeDocument/2006/relationships/hyperlink" Target="https://another-trusted.com" TargetMode="External" /><Relationship Id="rId2" Type="http://schemas.openxmlformats.org/officeDocument/2006/relationships/hyperlink" Target="https://trusted-site.com" TargetMode="External" /><Relationship Id="rId1" Type="http://schemas.openxmlformats.org/officeDocument/2006/relationships/slideLayout" Target="../slideLayouts/slideLayout2.xml" /></Relationships>
</file>

<file path=ppt/slides/_rels/slide124.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2.xml" /></Relationships>
</file>

<file path=ppt/slides/_rels/slide125.xml.rels><?xml version="1.0" encoding="UTF-8" standalone="yes"?>
<Relationships xmlns="http://schemas.openxmlformats.org/package/2006/relationships"><Relationship Id="rId2" Type="http://schemas.openxmlformats.org/officeDocument/2006/relationships/image" Target="../media/image17.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66FEF-3620-DC18-6E90-6677DE6D62DB}"/>
              </a:ext>
            </a:extLst>
          </p:cNvPr>
          <p:cNvSpPr>
            <a:spLocks noGrp="1"/>
          </p:cNvSpPr>
          <p:nvPr>
            <p:ph type="ctrTitle"/>
          </p:nvPr>
        </p:nvSpPr>
        <p:spPr/>
        <p:txBody>
          <a:bodyPr/>
          <a:lstStyle/>
          <a:p>
            <a:r>
              <a:rPr lang="en-US" dirty="0">
                <a:ea typeface="+mj-lt"/>
                <a:cs typeface="+mj-lt"/>
              </a:rPr>
              <a:t>Defense and tools</a:t>
            </a:r>
            <a:endParaRPr lang="en-US" dirty="0">
              <a:cs typeface="Calibri Light"/>
            </a:endParaRPr>
          </a:p>
        </p:txBody>
      </p:sp>
      <p:sp>
        <p:nvSpPr>
          <p:cNvPr id="3" name="Subtitle 2">
            <a:extLst>
              <a:ext uri="{FF2B5EF4-FFF2-40B4-BE49-F238E27FC236}">
                <a16:creationId xmlns:a16="http://schemas.microsoft.com/office/drawing/2014/main" id="{4D176BEA-7CB4-3D6D-77DC-E1A782CB70D2}"/>
              </a:ext>
            </a:extLst>
          </p:cNvPr>
          <p:cNvSpPr>
            <a:spLocks noGrp="1"/>
          </p:cNvSpPr>
          <p:nvPr>
            <p:ph type="subTitle" idx="1"/>
          </p:nvPr>
        </p:nvSpPr>
        <p:spPr/>
        <p:txBody>
          <a:bodyPr vert="horz" lIns="91440" tIns="45720" rIns="91440" bIns="45720" rtlCol="0" anchor="t">
            <a:normAutofit/>
          </a:bodyPr>
          <a:lstStyle/>
          <a:p>
            <a:r>
              <a:rPr lang="en-US" dirty="0">
                <a:cs typeface="Calibri"/>
              </a:rPr>
              <a:t>Chapter 2</a:t>
            </a:r>
            <a:endParaRPr lang="en-US" dirty="0"/>
          </a:p>
        </p:txBody>
      </p:sp>
    </p:spTree>
    <p:extLst>
      <p:ext uri="{BB962C8B-B14F-4D97-AF65-F5344CB8AC3E}">
        <p14:creationId xmlns:p14="http://schemas.microsoft.com/office/powerpoint/2010/main" val="4115750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F99A8-E0B5-1012-59E3-08ED7F494E10}"/>
              </a:ext>
            </a:extLst>
          </p:cNvPr>
          <p:cNvSpPr>
            <a:spLocks noGrp="1"/>
          </p:cNvSpPr>
          <p:nvPr>
            <p:ph type="title"/>
          </p:nvPr>
        </p:nvSpPr>
        <p:spPr/>
        <p:txBody>
          <a:bodyPr/>
          <a:lstStyle/>
          <a:p>
            <a:r>
              <a:rPr lang="en-US" dirty="0">
                <a:cs typeface="Calibri Light"/>
              </a:rPr>
              <a:t>Outline</a:t>
            </a:r>
            <a:endParaRPr lang="en-US" dirty="0"/>
          </a:p>
        </p:txBody>
      </p:sp>
      <p:sp>
        <p:nvSpPr>
          <p:cNvPr id="3" name="Content Placeholder 2">
            <a:extLst>
              <a:ext uri="{FF2B5EF4-FFF2-40B4-BE49-F238E27FC236}">
                <a16:creationId xmlns:a16="http://schemas.microsoft.com/office/drawing/2014/main" id="{B5265D6D-668C-F993-DF4B-BCE17DBBCC73}"/>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Securing Modern Web Applications</a:t>
            </a:r>
          </a:p>
          <a:p>
            <a:r>
              <a:rPr lang="en-US" dirty="0">
                <a:ea typeface="+mn-lt"/>
                <a:cs typeface="+mn-lt"/>
              </a:rPr>
              <a:t>Secure Application Architecture</a:t>
            </a:r>
          </a:p>
          <a:p>
            <a:r>
              <a:rPr lang="en-US" dirty="0">
                <a:ea typeface="+mn-lt"/>
                <a:cs typeface="+mn-lt"/>
              </a:rPr>
              <a:t>Reviewing Code for Security</a:t>
            </a:r>
          </a:p>
          <a:p>
            <a:r>
              <a:rPr lang="en-US" dirty="0">
                <a:ea typeface="+mn-lt"/>
                <a:cs typeface="+mn-lt"/>
              </a:rPr>
              <a:t>Vulnerability Discovery, </a:t>
            </a:r>
            <a:endParaRPr lang="en-US" dirty="0">
              <a:cs typeface="Calibri"/>
            </a:endParaRPr>
          </a:p>
          <a:p>
            <a:r>
              <a:rPr lang="en-US" dirty="0">
                <a:ea typeface="+mn-lt"/>
                <a:cs typeface="+mn-lt"/>
              </a:rPr>
              <a:t>Defending Against XSS Attacks, Defending Against CSRF Attacks, </a:t>
            </a:r>
            <a:endParaRPr lang="en-US" dirty="0"/>
          </a:p>
          <a:p>
            <a:r>
              <a:rPr lang="en-US" dirty="0">
                <a:ea typeface="+mn-lt"/>
                <a:cs typeface="+mn-lt"/>
              </a:rPr>
              <a:t>Defending Against XXE, Defending Against Injection attacks, </a:t>
            </a:r>
            <a:endParaRPr lang="en-US"/>
          </a:p>
          <a:p>
            <a:r>
              <a:rPr lang="en-US" dirty="0">
                <a:ea typeface="+mn-lt"/>
                <a:cs typeface="+mn-lt"/>
              </a:rPr>
              <a:t>Defending Against DoS, Defending against CORS based attacks</a:t>
            </a:r>
            <a:endParaRPr lang="en-US" dirty="0"/>
          </a:p>
          <a:p>
            <a:r>
              <a:rPr lang="en-US" dirty="0">
                <a:ea typeface="+mn-lt"/>
                <a:cs typeface="+mn-lt"/>
              </a:rPr>
              <a:t>Self-learning Topics: Implement the countermeasures to the attacks using open-source tools</a:t>
            </a:r>
            <a:endParaRPr lang="en-US" dirty="0"/>
          </a:p>
        </p:txBody>
      </p:sp>
    </p:spTree>
    <p:extLst>
      <p:ext uri="{BB962C8B-B14F-4D97-AF65-F5344CB8AC3E}">
        <p14:creationId xmlns:p14="http://schemas.microsoft.com/office/powerpoint/2010/main" val="2629099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E4818-DFBF-8E42-1C26-12BF4F6718FD}"/>
              </a:ext>
            </a:extLst>
          </p:cNvPr>
          <p:cNvSpPr>
            <a:spLocks noGrp="1"/>
          </p:cNvSpPr>
          <p:nvPr>
            <p:ph type="ctrTitle"/>
          </p:nvPr>
        </p:nvSpPr>
        <p:spPr/>
        <p:txBody>
          <a:bodyPr/>
          <a:lstStyle/>
          <a:p>
            <a:pPr>
              <a:spcBef>
                <a:spcPts val="1000"/>
              </a:spcBef>
            </a:pPr>
            <a:r>
              <a:rPr lang="en-US" sz="4400">
                <a:latin typeface="Calibri"/>
                <a:cs typeface="Calibri"/>
              </a:rPr>
              <a:t>Securing Modern Web Applications</a:t>
            </a:r>
            <a:endParaRPr lang="en-US" sz="4400">
              <a:cs typeface="Calibri Light" panose="020F0302020204030204"/>
            </a:endParaRPr>
          </a:p>
          <a:p>
            <a:endParaRPr lang="en-US" dirty="0">
              <a:cs typeface="Calibri Light"/>
            </a:endParaRPr>
          </a:p>
        </p:txBody>
      </p:sp>
      <p:sp>
        <p:nvSpPr>
          <p:cNvPr id="3" name="Content Placeholder 2">
            <a:extLst>
              <a:ext uri="{FF2B5EF4-FFF2-40B4-BE49-F238E27FC236}">
                <a16:creationId xmlns:a16="http://schemas.microsoft.com/office/drawing/2014/main" id="{DC1E542D-5811-FC2D-A096-57024ACB273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81321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879E40-AE41-4DCB-D80B-3AF79534F456}"/>
              </a:ext>
            </a:extLst>
          </p:cNvPr>
          <p:cNvSpPr>
            <a:spLocks noGrp="1"/>
          </p:cNvSpPr>
          <p:nvPr>
            <p:ph idx="1"/>
          </p:nvPr>
        </p:nvSpPr>
        <p:spPr>
          <a:xfrm>
            <a:off x="838200" y="445400"/>
            <a:ext cx="10515600" cy="5731563"/>
          </a:xfrm>
        </p:spPr>
        <p:txBody>
          <a:bodyPr vert="horz" lIns="91440" tIns="45720" rIns="91440" bIns="45720" rtlCol="0" anchor="t">
            <a:normAutofit/>
          </a:bodyPr>
          <a:lstStyle/>
          <a:p>
            <a:r>
              <a:rPr lang="en-US" dirty="0">
                <a:ea typeface="+mn-lt"/>
                <a:cs typeface="+mn-lt"/>
              </a:rPr>
              <a:t>Today’s web applications are much more complex and distributed than their predecessors. </a:t>
            </a:r>
          </a:p>
          <a:p>
            <a:r>
              <a:rPr lang="en-US" dirty="0">
                <a:ea typeface="+mn-lt"/>
                <a:cs typeface="+mn-lt"/>
              </a:rPr>
              <a:t>This opens the surface area for attack when compared to older, monolithic web applications, those with server-side rendering and little to no user interaction.</a:t>
            </a:r>
          </a:p>
          <a:p>
            <a:r>
              <a:rPr lang="en-US" dirty="0">
                <a:ea typeface="+mn-lt"/>
                <a:cs typeface="+mn-lt"/>
              </a:rPr>
              <a:t>it is important to understand the surface area of a web application, and understand how such a surface area can be mapped and analyzed by a potential hacker.</a:t>
            </a:r>
          </a:p>
          <a:p>
            <a:r>
              <a:rPr lang="en-US" dirty="0">
                <a:ea typeface="+mn-lt"/>
                <a:cs typeface="+mn-lt"/>
              </a:rPr>
              <a:t>By understanding the methodology a hacker would use to break into your web application, you should be able to derive the best ways to prioritize your defenses and camouflage your application architecture and logic from malicious eyes</a:t>
            </a:r>
            <a:endParaRPr lang="en-US" dirty="0">
              <a:cs typeface="Calibri"/>
            </a:endParaRPr>
          </a:p>
        </p:txBody>
      </p:sp>
    </p:spTree>
    <p:extLst>
      <p:ext uri="{BB962C8B-B14F-4D97-AF65-F5344CB8AC3E}">
        <p14:creationId xmlns:p14="http://schemas.microsoft.com/office/powerpoint/2010/main" val="2917860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0B4C5-8EBB-570A-C806-D71DB2AE9CC7}"/>
              </a:ext>
            </a:extLst>
          </p:cNvPr>
          <p:cNvSpPr>
            <a:spLocks noGrp="1"/>
          </p:cNvSpPr>
          <p:nvPr>
            <p:ph type="title"/>
          </p:nvPr>
        </p:nvSpPr>
        <p:spPr/>
        <p:txBody>
          <a:bodyPr/>
          <a:lstStyle/>
          <a:p>
            <a:r>
              <a:rPr lang="en-US" dirty="0">
                <a:ea typeface="+mj-lt"/>
                <a:cs typeface="+mj-lt"/>
              </a:rPr>
              <a:t>Steps for Securing Modern Web Application</a:t>
            </a:r>
            <a:endParaRPr lang="en-US" dirty="0"/>
          </a:p>
        </p:txBody>
      </p:sp>
      <p:sp>
        <p:nvSpPr>
          <p:cNvPr id="3" name="Content Placeholder 2">
            <a:extLst>
              <a:ext uri="{FF2B5EF4-FFF2-40B4-BE49-F238E27FC236}">
                <a16:creationId xmlns:a16="http://schemas.microsoft.com/office/drawing/2014/main" id="{9896CADC-D1E3-2912-F7FF-036F1C8B1275}"/>
              </a:ext>
            </a:extLst>
          </p:cNvPr>
          <p:cNvSpPr>
            <a:spLocks noGrp="1"/>
          </p:cNvSpPr>
          <p:nvPr>
            <p:ph idx="1"/>
          </p:nvPr>
        </p:nvSpPr>
        <p:spPr/>
        <p:txBody>
          <a:bodyPr vert="horz" lIns="91440" tIns="45720" rIns="91440" bIns="45720" rtlCol="0" anchor="t">
            <a:normAutofit/>
          </a:bodyPr>
          <a:lstStyle/>
          <a:p>
            <a:r>
              <a:rPr lang="en-US" dirty="0">
                <a:ea typeface="+mn-lt"/>
                <a:cs typeface="+mn-lt"/>
              </a:rPr>
              <a:t>Design Defensive Software Architecture</a:t>
            </a:r>
          </a:p>
          <a:p>
            <a:r>
              <a:rPr lang="en-US" dirty="0">
                <a:ea typeface="+mn-lt"/>
                <a:cs typeface="+mn-lt"/>
              </a:rPr>
              <a:t>Comprehensive Code Reviews</a:t>
            </a:r>
          </a:p>
          <a:p>
            <a:r>
              <a:rPr lang="en-US" dirty="0">
                <a:ea typeface="+mn-lt"/>
                <a:cs typeface="+mn-lt"/>
              </a:rPr>
              <a:t>Vulnerability Discovery</a:t>
            </a:r>
          </a:p>
          <a:p>
            <a:r>
              <a:rPr lang="en-US" dirty="0">
                <a:ea typeface="+mn-lt"/>
                <a:cs typeface="+mn-lt"/>
              </a:rPr>
              <a:t>Vulnerability Analysis</a:t>
            </a:r>
          </a:p>
          <a:p>
            <a:r>
              <a:rPr lang="en-US" dirty="0">
                <a:ea typeface="+mn-lt"/>
                <a:cs typeface="+mn-lt"/>
              </a:rPr>
              <a:t>Vulnerability Management</a:t>
            </a:r>
          </a:p>
          <a:p>
            <a:r>
              <a:rPr lang="en-US" dirty="0">
                <a:ea typeface="+mn-lt"/>
                <a:cs typeface="+mn-lt"/>
              </a:rPr>
              <a:t>Regression Testing</a:t>
            </a:r>
          </a:p>
          <a:p>
            <a:r>
              <a:rPr lang="en-US" dirty="0">
                <a:ea typeface="+mn-lt"/>
                <a:cs typeface="+mn-lt"/>
              </a:rPr>
              <a:t>Mitigation Strategies</a:t>
            </a:r>
            <a:endParaRPr lang="en-US" dirty="0">
              <a:cs typeface="Calibri"/>
            </a:endParaRPr>
          </a:p>
        </p:txBody>
      </p:sp>
    </p:spTree>
    <p:extLst>
      <p:ext uri="{BB962C8B-B14F-4D97-AF65-F5344CB8AC3E}">
        <p14:creationId xmlns:p14="http://schemas.microsoft.com/office/powerpoint/2010/main" val="808208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FF6FD-C74F-A345-2DEC-31F29255F9BF}"/>
              </a:ext>
            </a:extLst>
          </p:cNvPr>
          <p:cNvSpPr>
            <a:spLocks noGrp="1"/>
          </p:cNvSpPr>
          <p:nvPr>
            <p:ph type="title"/>
          </p:nvPr>
        </p:nvSpPr>
        <p:spPr/>
        <p:txBody>
          <a:bodyPr>
            <a:normAutofit/>
          </a:bodyPr>
          <a:lstStyle/>
          <a:p>
            <a:pPr>
              <a:spcBef>
                <a:spcPts val="1000"/>
              </a:spcBef>
            </a:pPr>
            <a:r>
              <a:rPr lang="en-US" sz="4000" dirty="0">
                <a:latin typeface="Calibri"/>
                <a:cs typeface="Calibri"/>
              </a:rPr>
              <a:t>Design Defensive Software Architecture</a:t>
            </a:r>
            <a:endParaRPr lang="en-US" sz="6000" dirty="0"/>
          </a:p>
          <a:p>
            <a:endParaRPr lang="en-US" sz="6000" dirty="0">
              <a:cs typeface="Calibri Light"/>
            </a:endParaRPr>
          </a:p>
        </p:txBody>
      </p:sp>
      <p:sp>
        <p:nvSpPr>
          <p:cNvPr id="3" name="Content Placeholder 2">
            <a:extLst>
              <a:ext uri="{FF2B5EF4-FFF2-40B4-BE49-F238E27FC236}">
                <a16:creationId xmlns:a16="http://schemas.microsoft.com/office/drawing/2014/main" id="{C0A2D51D-8057-0170-CFD6-BED207B9611C}"/>
              </a:ext>
            </a:extLst>
          </p:cNvPr>
          <p:cNvSpPr>
            <a:spLocks noGrp="1"/>
          </p:cNvSpPr>
          <p:nvPr>
            <p:ph idx="1"/>
          </p:nvPr>
        </p:nvSpPr>
        <p:spPr/>
        <p:txBody>
          <a:bodyPr vert="horz" lIns="91440" tIns="45720" rIns="91440" bIns="45720" rtlCol="0" anchor="t">
            <a:normAutofit/>
          </a:bodyPr>
          <a:lstStyle/>
          <a:p>
            <a:r>
              <a:rPr lang="en-US" dirty="0">
                <a:ea typeface="+mn-lt"/>
                <a:cs typeface="+mn-lt"/>
              </a:rPr>
              <a:t>The first step in writing a well-fortified web application starts prior to any software being written.</a:t>
            </a:r>
          </a:p>
          <a:p>
            <a:r>
              <a:rPr lang="en-US" dirty="0">
                <a:ea typeface="+mn-lt"/>
                <a:cs typeface="+mn-lt"/>
              </a:rPr>
              <a:t>In the architecture phase of any new product or feature, deep attention to detail should be spent on the data that flows throughout the application.</a:t>
            </a:r>
          </a:p>
          <a:p>
            <a:r>
              <a:rPr lang="en-US" dirty="0">
                <a:solidFill>
                  <a:srgbClr val="000000"/>
                </a:solidFill>
                <a:ea typeface="+mn-lt"/>
                <a:cs typeface="+mn-lt"/>
              </a:rPr>
              <a:t>Defensive software architecture refers to the design and implementation of software systems with a primary focus on security and robustness. </a:t>
            </a:r>
          </a:p>
          <a:p>
            <a:r>
              <a:rPr lang="en-US" dirty="0">
                <a:solidFill>
                  <a:srgbClr val="000000"/>
                </a:solidFill>
                <a:ea typeface="+mn-lt"/>
                <a:cs typeface="+mn-lt"/>
              </a:rPr>
              <a:t>The goal is to build systems that can withstand various types of cyber threats, attacks, and unexpected failures. </a:t>
            </a:r>
            <a:endParaRPr lang="en-US">
              <a:solidFill>
                <a:srgbClr val="000000"/>
              </a:solidFill>
              <a:cs typeface="Calibri"/>
            </a:endParaRPr>
          </a:p>
        </p:txBody>
      </p:sp>
    </p:spTree>
    <p:extLst>
      <p:ext uri="{BB962C8B-B14F-4D97-AF65-F5344CB8AC3E}">
        <p14:creationId xmlns:p14="http://schemas.microsoft.com/office/powerpoint/2010/main" val="1762927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AD7D2-0246-1F31-46DF-622810FB4F59}"/>
              </a:ext>
            </a:extLst>
          </p:cNvPr>
          <p:cNvSpPr>
            <a:spLocks noGrp="1"/>
          </p:cNvSpPr>
          <p:nvPr>
            <p:ph type="title"/>
          </p:nvPr>
        </p:nvSpPr>
        <p:spPr/>
        <p:txBody>
          <a:bodyPr>
            <a:normAutofit/>
          </a:bodyPr>
          <a:lstStyle/>
          <a:p>
            <a:r>
              <a:rPr lang="en-US" dirty="0">
                <a:solidFill>
                  <a:srgbClr val="000000"/>
                </a:solidFill>
                <a:ea typeface="+mj-lt"/>
                <a:cs typeface="+mj-lt"/>
              </a:rPr>
              <a:t>Key principles and practices associated with defensive software architecture</a:t>
            </a:r>
            <a:endParaRPr lang="en-US" dirty="0"/>
          </a:p>
        </p:txBody>
      </p:sp>
      <p:sp>
        <p:nvSpPr>
          <p:cNvPr id="3" name="Content Placeholder 2">
            <a:extLst>
              <a:ext uri="{FF2B5EF4-FFF2-40B4-BE49-F238E27FC236}">
                <a16:creationId xmlns:a16="http://schemas.microsoft.com/office/drawing/2014/main" id="{C12AFBCA-4CB3-1B33-574C-386717083F0F}"/>
              </a:ext>
            </a:extLst>
          </p:cNvPr>
          <p:cNvSpPr>
            <a:spLocks noGrp="1"/>
          </p:cNvSpPr>
          <p:nvPr>
            <p:ph idx="1"/>
          </p:nvPr>
        </p:nvSpPr>
        <p:spPr>
          <a:xfrm>
            <a:off x="838200" y="1566833"/>
            <a:ext cx="10515600" cy="4610130"/>
          </a:xfrm>
        </p:spPr>
        <p:txBody>
          <a:bodyPr vert="horz" lIns="91440" tIns="45720" rIns="91440" bIns="45720" rtlCol="0" anchor="t">
            <a:noAutofit/>
          </a:bodyPr>
          <a:lstStyle/>
          <a:p>
            <a:r>
              <a:rPr lang="en-US" dirty="0">
                <a:ea typeface="+mn-lt"/>
                <a:cs typeface="+mn-lt"/>
              </a:rPr>
              <a:t>Security by Design:</a:t>
            </a:r>
            <a:endParaRPr lang="en-US">
              <a:cs typeface="Calibri" panose="020F0502020204030204"/>
            </a:endParaRPr>
          </a:p>
          <a:p>
            <a:r>
              <a:rPr lang="en-US" dirty="0">
                <a:solidFill>
                  <a:srgbClr val="000000"/>
                </a:solidFill>
                <a:ea typeface="+mn-lt"/>
                <a:cs typeface="+mn-lt"/>
              </a:rPr>
              <a:t>Layered</a:t>
            </a:r>
            <a:r>
              <a:rPr lang="en-US" dirty="0">
                <a:ea typeface="+mn-lt"/>
                <a:cs typeface="+mn-lt"/>
              </a:rPr>
              <a:t> Security:</a:t>
            </a:r>
            <a:endParaRPr lang="en-US">
              <a:ea typeface="+mn-lt"/>
              <a:cs typeface="+mn-lt"/>
            </a:endParaRPr>
          </a:p>
          <a:p>
            <a:r>
              <a:rPr lang="en-US" dirty="0">
                <a:ea typeface="+mn-lt"/>
                <a:cs typeface="+mn-lt"/>
              </a:rPr>
              <a:t>Least Privilege Principle:</a:t>
            </a:r>
            <a:endParaRPr lang="en-US">
              <a:cs typeface="Calibri"/>
            </a:endParaRPr>
          </a:p>
          <a:p>
            <a:r>
              <a:rPr lang="en-US" dirty="0">
                <a:ea typeface="+mn-lt"/>
                <a:cs typeface="+mn-lt"/>
              </a:rPr>
              <a:t>Data Encryption:</a:t>
            </a:r>
            <a:endParaRPr lang="en-US">
              <a:cs typeface="Calibri"/>
            </a:endParaRPr>
          </a:p>
          <a:p>
            <a:r>
              <a:rPr lang="en-US" dirty="0">
                <a:ea typeface="+mn-lt"/>
                <a:cs typeface="+mn-lt"/>
              </a:rPr>
              <a:t>Input Validation and Sanitization:</a:t>
            </a:r>
            <a:endParaRPr lang="en-US">
              <a:cs typeface="Calibri"/>
            </a:endParaRPr>
          </a:p>
          <a:p>
            <a:r>
              <a:rPr lang="en-US" dirty="0">
                <a:ea typeface="+mn-lt"/>
                <a:cs typeface="+mn-lt"/>
              </a:rPr>
              <a:t>Error Handling and Logging:</a:t>
            </a:r>
            <a:endParaRPr lang="en-US">
              <a:cs typeface="Calibri"/>
            </a:endParaRPr>
          </a:p>
          <a:p>
            <a:r>
              <a:rPr lang="en-US" dirty="0">
                <a:ea typeface="+mn-lt"/>
                <a:cs typeface="+mn-lt"/>
              </a:rPr>
              <a:t>Secure Communication Protocols:</a:t>
            </a:r>
            <a:endParaRPr lang="en-US">
              <a:cs typeface="Calibri"/>
            </a:endParaRPr>
          </a:p>
          <a:p>
            <a:r>
              <a:rPr lang="en-US" dirty="0">
                <a:ea typeface="+mn-lt"/>
                <a:cs typeface="+mn-lt"/>
              </a:rPr>
              <a:t>Regular Security Audits and Testing:</a:t>
            </a:r>
            <a:endParaRPr lang="en-US">
              <a:cs typeface="Calibri"/>
            </a:endParaRPr>
          </a:p>
          <a:p>
            <a:r>
              <a:rPr lang="en-US" dirty="0">
                <a:ea typeface="+mn-lt"/>
                <a:cs typeface="+mn-lt"/>
              </a:rPr>
              <a:t>Dependency Management:</a:t>
            </a:r>
            <a:endParaRPr lang="en-US">
              <a:cs typeface="Calibri"/>
            </a:endParaRPr>
          </a:p>
          <a:p>
            <a:r>
              <a:rPr lang="en-US" dirty="0">
                <a:ea typeface="+mn-lt"/>
                <a:cs typeface="+mn-lt"/>
              </a:rPr>
              <a:t>Incident Response Planning:</a:t>
            </a:r>
            <a:endParaRPr lang="en-US">
              <a:cs typeface="Calibri"/>
            </a:endParaRPr>
          </a:p>
          <a:p>
            <a:endParaRPr lang="en-US"/>
          </a:p>
        </p:txBody>
      </p:sp>
    </p:spTree>
    <p:extLst>
      <p:ext uri="{BB962C8B-B14F-4D97-AF65-F5344CB8AC3E}">
        <p14:creationId xmlns:p14="http://schemas.microsoft.com/office/powerpoint/2010/main" val="11219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51E3-8932-2053-1098-B2D68D134E3B}"/>
              </a:ext>
            </a:extLst>
          </p:cNvPr>
          <p:cNvSpPr>
            <a:spLocks noGrp="1"/>
          </p:cNvSpPr>
          <p:nvPr>
            <p:ph type="title"/>
          </p:nvPr>
        </p:nvSpPr>
        <p:spPr/>
        <p:txBody>
          <a:bodyPr/>
          <a:lstStyle/>
          <a:p>
            <a:r>
              <a:rPr lang="en-US" dirty="0">
                <a:ea typeface="+mj-lt"/>
                <a:cs typeface="+mj-lt"/>
              </a:rPr>
              <a:t>Comprehensive Code Reviews</a:t>
            </a:r>
            <a:endParaRPr lang="en-US" dirty="0"/>
          </a:p>
        </p:txBody>
      </p:sp>
      <p:sp>
        <p:nvSpPr>
          <p:cNvPr id="3" name="Content Placeholder 2">
            <a:extLst>
              <a:ext uri="{FF2B5EF4-FFF2-40B4-BE49-F238E27FC236}">
                <a16:creationId xmlns:a16="http://schemas.microsoft.com/office/drawing/2014/main" id="{A36776B6-9942-55A0-E4A2-D69BAE4973C8}"/>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Comprehensive code reviews are a crucial aspect of the software development process, aiming to improve code quality, identify bugs, and ensure adherence to coding standards.</a:t>
            </a:r>
          </a:p>
          <a:p>
            <a:r>
              <a:rPr lang="en-US" dirty="0">
                <a:ea typeface="+mn-lt"/>
                <a:cs typeface="+mn-lt"/>
              </a:rPr>
              <a:t>Code review processes improve quality assurance, reduce technical debt, and eliminate easy-to-find programming mistakes.</a:t>
            </a:r>
          </a:p>
          <a:p>
            <a:r>
              <a:rPr lang="en-US" dirty="0">
                <a:ea typeface="+mn-lt"/>
                <a:cs typeface="+mn-lt"/>
              </a:rPr>
              <a:t>Code reviews are also a crucial step in ensuring that released code meets security standards.</a:t>
            </a:r>
          </a:p>
          <a:p>
            <a:r>
              <a:rPr lang="en-US" dirty="0">
                <a:ea typeface="+mn-lt"/>
                <a:cs typeface="+mn-lt"/>
              </a:rPr>
              <a:t>In order to reduce conflict of interest, commits to source code version control should not only be reviewed by members of the committer’s team, but also by an unrelated team </a:t>
            </a:r>
            <a:endParaRPr lang="en-US" dirty="0">
              <a:cs typeface="Calibri"/>
            </a:endParaRPr>
          </a:p>
        </p:txBody>
      </p:sp>
    </p:spTree>
    <p:extLst>
      <p:ext uri="{BB962C8B-B14F-4D97-AF65-F5344CB8AC3E}">
        <p14:creationId xmlns:p14="http://schemas.microsoft.com/office/powerpoint/2010/main" val="1938533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05BF4-8FCB-18C1-A8D1-AAB53D27CA73}"/>
              </a:ext>
            </a:extLst>
          </p:cNvPr>
          <p:cNvSpPr>
            <a:spLocks noGrp="1"/>
          </p:cNvSpPr>
          <p:nvPr>
            <p:ph type="title"/>
          </p:nvPr>
        </p:nvSpPr>
        <p:spPr/>
        <p:txBody>
          <a:bodyPr/>
          <a:lstStyle/>
          <a:p>
            <a:r>
              <a:rPr lang="en-US" dirty="0">
                <a:ea typeface="+mj-lt"/>
                <a:cs typeface="+mj-lt"/>
              </a:rPr>
              <a:t>The major points to look out for are:</a:t>
            </a:r>
            <a:endParaRPr lang="en-US" dirty="0"/>
          </a:p>
        </p:txBody>
      </p:sp>
      <p:sp>
        <p:nvSpPr>
          <p:cNvPr id="3" name="Content Placeholder 2">
            <a:extLst>
              <a:ext uri="{FF2B5EF4-FFF2-40B4-BE49-F238E27FC236}">
                <a16:creationId xmlns:a16="http://schemas.microsoft.com/office/drawing/2014/main" id="{FE89D310-D2FF-B052-1F6D-95A213151ED3}"/>
              </a:ext>
            </a:extLst>
          </p:cNvPr>
          <p:cNvSpPr>
            <a:spLocks noGrp="1"/>
          </p:cNvSpPr>
          <p:nvPr>
            <p:ph idx="1"/>
          </p:nvPr>
        </p:nvSpPr>
        <p:spPr/>
        <p:txBody>
          <a:bodyPr vert="horz" lIns="91440" tIns="45720" rIns="91440" bIns="45720" rtlCol="0" anchor="t">
            <a:normAutofit/>
          </a:bodyPr>
          <a:lstStyle/>
          <a:p>
            <a:r>
              <a:rPr lang="en-US" dirty="0">
                <a:ea typeface="+mn-lt"/>
                <a:cs typeface="+mn-lt"/>
              </a:rPr>
              <a:t>How is data being transmitted from point A to point B (typically over a network, and in a specific format)? </a:t>
            </a:r>
          </a:p>
          <a:p>
            <a:r>
              <a:rPr lang="en-US" dirty="0">
                <a:ea typeface="+mn-lt"/>
                <a:cs typeface="+mn-lt"/>
              </a:rPr>
              <a:t>How is data being stored? </a:t>
            </a:r>
          </a:p>
          <a:p>
            <a:r>
              <a:rPr lang="en-US" dirty="0">
                <a:ea typeface="+mn-lt"/>
                <a:cs typeface="+mn-lt"/>
              </a:rPr>
              <a:t>When data gets to the client, how is it presented to the user? </a:t>
            </a:r>
          </a:p>
          <a:p>
            <a:r>
              <a:rPr lang="en-US" dirty="0">
                <a:ea typeface="+mn-lt"/>
                <a:cs typeface="+mn-lt"/>
              </a:rPr>
              <a:t>When data gets to the server, what operations occur on it and how is it persisted?</a:t>
            </a:r>
            <a:endParaRPr lang="en-US">
              <a:cs typeface="Calibri"/>
            </a:endParaRPr>
          </a:p>
        </p:txBody>
      </p:sp>
    </p:spTree>
    <p:extLst>
      <p:ext uri="{BB962C8B-B14F-4D97-AF65-F5344CB8AC3E}">
        <p14:creationId xmlns:p14="http://schemas.microsoft.com/office/powerpoint/2010/main" val="2441647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70281-DF86-2DE5-61CA-6142423A5BA7}"/>
              </a:ext>
            </a:extLst>
          </p:cNvPr>
          <p:cNvSpPr>
            <a:spLocks noGrp="1"/>
          </p:cNvSpPr>
          <p:nvPr>
            <p:ph type="title"/>
          </p:nvPr>
        </p:nvSpPr>
        <p:spPr/>
        <p:txBody>
          <a:bodyPr/>
          <a:lstStyle/>
          <a:p>
            <a:r>
              <a:rPr lang="en-US" dirty="0">
                <a:ea typeface="+mj-lt"/>
                <a:cs typeface="+mj-lt"/>
              </a:rPr>
              <a:t>Vulnerability Discovery</a:t>
            </a:r>
            <a:endParaRPr lang="en-US" dirty="0"/>
          </a:p>
        </p:txBody>
      </p:sp>
      <p:sp>
        <p:nvSpPr>
          <p:cNvPr id="3" name="Content Placeholder 2">
            <a:extLst>
              <a:ext uri="{FF2B5EF4-FFF2-40B4-BE49-F238E27FC236}">
                <a16:creationId xmlns:a16="http://schemas.microsoft.com/office/drawing/2014/main" id="{5E83D433-67F4-52B1-C5E3-CCE26E903F6E}"/>
              </a:ext>
            </a:extLst>
          </p:cNvPr>
          <p:cNvSpPr>
            <a:spLocks noGrp="1"/>
          </p:cNvSpPr>
          <p:nvPr>
            <p:ph idx="1"/>
          </p:nvPr>
        </p:nvSpPr>
        <p:spPr>
          <a:xfrm>
            <a:off x="838200" y="1609965"/>
            <a:ext cx="10515600" cy="5098960"/>
          </a:xfrm>
        </p:spPr>
        <p:txBody>
          <a:bodyPr vert="horz" lIns="91440" tIns="45720" rIns="91440" bIns="45720" rtlCol="0" anchor="t">
            <a:normAutofit lnSpcReduction="10000"/>
          </a:bodyPr>
          <a:lstStyle/>
          <a:p>
            <a:r>
              <a:rPr lang="en-US" dirty="0">
                <a:ea typeface="+mn-lt"/>
                <a:cs typeface="+mn-lt"/>
              </a:rPr>
              <a:t>The old-fashioned way of finding vulnerabilities is either by customer notification or (worst case) widespread public disclosure. </a:t>
            </a:r>
          </a:p>
          <a:p>
            <a:r>
              <a:rPr lang="en-US" dirty="0">
                <a:ea typeface="+mn-lt"/>
                <a:cs typeface="+mn-lt"/>
              </a:rPr>
              <a:t>More modern methods for finding vulnerabilities exist, and can save your product from a wave of bad PR, lawsuits, and loss of customers.</a:t>
            </a:r>
          </a:p>
          <a:p>
            <a:r>
              <a:rPr lang="en-US" dirty="0">
                <a:ea typeface="+mn-lt"/>
                <a:cs typeface="+mn-lt"/>
              </a:rPr>
              <a:t>Today’s most security conscious companies use a combination of the following:</a:t>
            </a:r>
          </a:p>
          <a:p>
            <a:pPr lvl="1">
              <a:buFont typeface="Courier New" panose="020B0604020202020204" pitchFamily="34" charset="0"/>
              <a:buChar char="o"/>
            </a:pPr>
            <a:r>
              <a:rPr lang="en-US" dirty="0">
                <a:ea typeface="+mn-lt"/>
                <a:cs typeface="+mn-lt"/>
              </a:rPr>
              <a:t>Bug bounty programs </a:t>
            </a:r>
          </a:p>
          <a:p>
            <a:pPr lvl="1">
              <a:buFont typeface="Courier New" panose="020B0604020202020204" pitchFamily="34" charset="0"/>
              <a:buChar char="o"/>
            </a:pPr>
            <a:r>
              <a:rPr lang="en-US" dirty="0">
                <a:ea typeface="+mn-lt"/>
                <a:cs typeface="+mn-lt"/>
              </a:rPr>
              <a:t>Internal red/blue teams </a:t>
            </a:r>
          </a:p>
          <a:p>
            <a:pPr lvl="1">
              <a:buFont typeface="Courier New" panose="020B0604020202020204" pitchFamily="34" charset="0"/>
              <a:buChar char="o"/>
            </a:pPr>
            <a:r>
              <a:rPr lang="en-US" dirty="0">
                <a:ea typeface="+mn-lt"/>
                <a:cs typeface="+mn-lt"/>
              </a:rPr>
              <a:t>Third-party penetration testers </a:t>
            </a:r>
          </a:p>
          <a:p>
            <a:pPr lvl="1">
              <a:buFont typeface="Courier New" panose="020B0604020202020204" pitchFamily="34" charset="0"/>
              <a:buChar char="o"/>
            </a:pPr>
            <a:r>
              <a:rPr lang="en-US" dirty="0">
                <a:ea typeface="+mn-lt"/>
                <a:cs typeface="+mn-lt"/>
              </a:rPr>
              <a:t>Corporate incentives for engineers to log known vulnerabilities</a:t>
            </a:r>
          </a:p>
          <a:p>
            <a:r>
              <a:rPr lang="en-US" dirty="0">
                <a:ea typeface="+mn-lt"/>
                <a:cs typeface="+mn-lt"/>
              </a:rPr>
              <a:t>By making use of one or more of these techniques to find vulnerabilities before your customers or the public do</a:t>
            </a:r>
            <a:endParaRPr lang="en-US" dirty="0">
              <a:cs typeface="Calibri"/>
            </a:endParaRPr>
          </a:p>
        </p:txBody>
      </p:sp>
    </p:spTree>
    <p:extLst>
      <p:ext uri="{BB962C8B-B14F-4D97-AF65-F5344CB8AC3E}">
        <p14:creationId xmlns:p14="http://schemas.microsoft.com/office/powerpoint/2010/main" val="2147333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D6C2C-7050-15BD-B3C1-F1CA8E3DCEB0}"/>
              </a:ext>
            </a:extLst>
          </p:cNvPr>
          <p:cNvSpPr>
            <a:spLocks noGrp="1"/>
          </p:cNvSpPr>
          <p:nvPr>
            <p:ph type="title"/>
          </p:nvPr>
        </p:nvSpPr>
        <p:spPr/>
        <p:txBody>
          <a:bodyPr/>
          <a:lstStyle/>
          <a:p>
            <a:r>
              <a:rPr lang="en-US" dirty="0">
                <a:ea typeface="+mj-lt"/>
                <a:cs typeface="+mj-lt"/>
              </a:rPr>
              <a:t>Vulnerability Analysis</a:t>
            </a:r>
            <a:endParaRPr lang="en-US" dirty="0"/>
          </a:p>
        </p:txBody>
      </p:sp>
      <p:sp>
        <p:nvSpPr>
          <p:cNvPr id="3" name="Content Placeholder 2">
            <a:extLst>
              <a:ext uri="{FF2B5EF4-FFF2-40B4-BE49-F238E27FC236}">
                <a16:creationId xmlns:a16="http://schemas.microsoft.com/office/drawing/2014/main" id="{295E8BD7-FC12-82EA-B7FC-53D3CEEE20FE}"/>
              </a:ext>
            </a:extLst>
          </p:cNvPr>
          <p:cNvSpPr>
            <a:spLocks noGrp="1"/>
          </p:cNvSpPr>
          <p:nvPr>
            <p:ph idx="1"/>
          </p:nvPr>
        </p:nvSpPr>
        <p:spPr>
          <a:xfrm>
            <a:off x="838200" y="1609965"/>
            <a:ext cx="10515600" cy="5127714"/>
          </a:xfrm>
        </p:spPr>
        <p:txBody>
          <a:bodyPr vert="horz" lIns="91440" tIns="45720" rIns="91440" bIns="45720" rtlCol="0" anchor="t">
            <a:normAutofit/>
          </a:bodyPr>
          <a:lstStyle/>
          <a:p>
            <a:r>
              <a:rPr lang="en-US" dirty="0">
                <a:cs typeface="Calibri"/>
              </a:rPr>
              <a:t>A vulnerability assessment is the process of defining, identifying, classifying and prioritizing vulnerabilities in computer systems, applications and network infrastructures.</a:t>
            </a:r>
          </a:p>
          <a:p>
            <a:r>
              <a:rPr lang="en-US" dirty="0">
                <a:ea typeface="+mn-lt"/>
                <a:cs typeface="+mn-lt"/>
              </a:rPr>
              <a:t>After finding a vulnerability in your web application, there are several steps that should be taken to properly triage, prioritize, and manage that vulnerability.</a:t>
            </a:r>
          </a:p>
          <a:p>
            <a:r>
              <a:rPr lang="en-US" dirty="0">
                <a:ea typeface="+mn-lt"/>
                <a:cs typeface="+mn-lt"/>
              </a:rPr>
              <a:t>Risk and priority can be derived from: • </a:t>
            </a:r>
          </a:p>
          <a:p>
            <a:pPr lvl="1">
              <a:buFont typeface="Courier New" panose="020B0604020202020204" pitchFamily="34" charset="0"/>
              <a:buChar char="o"/>
            </a:pPr>
            <a:r>
              <a:rPr lang="en-US" dirty="0">
                <a:ea typeface="+mn-lt"/>
                <a:cs typeface="+mn-lt"/>
              </a:rPr>
              <a:t>Financial risk to the company </a:t>
            </a:r>
            <a:endParaRPr lang="en-US">
              <a:ea typeface="+mn-lt"/>
              <a:cs typeface="+mn-lt"/>
            </a:endParaRPr>
          </a:p>
          <a:p>
            <a:pPr lvl="1">
              <a:buFont typeface="Courier New" panose="020B0604020202020204" pitchFamily="34" charset="0"/>
              <a:buChar char="o"/>
            </a:pPr>
            <a:r>
              <a:rPr lang="en-US">
                <a:ea typeface="+mn-lt"/>
                <a:cs typeface="+mn-lt"/>
              </a:rPr>
              <a:t>Difficulty of exploitation </a:t>
            </a:r>
          </a:p>
          <a:p>
            <a:pPr lvl="1">
              <a:buFont typeface="Courier New" panose="020B0604020202020204" pitchFamily="34" charset="0"/>
              <a:buChar char="o"/>
            </a:pPr>
            <a:r>
              <a:rPr lang="en-US" dirty="0">
                <a:ea typeface="+mn-lt"/>
                <a:cs typeface="+mn-lt"/>
              </a:rPr>
              <a:t>Type of data compromised </a:t>
            </a:r>
          </a:p>
          <a:p>
            <a:pPr lvl="1">
              <a:buFont typeface="Courier New" panose="020B0604020202020204" pitchFamily="34" charset="0"/>
              <a:buChar char="o"/>
            </a:pPr>
            <a:r>
              <a:rPr lang="en-US" dirty="0">
                <a:ea typeface="+mn-lt"/>
                <a:cs typeface="+mn-lt"/>
              </a:rPr>
              <a:t>Existing contractual agreements </a:t>
            </a:r>
            <a:endParaRPr lang="en-US">
              <a:ea typeface="+mn-lt"/>
              <a:cs typeface="+mn-lt"/>
            </a:endParaRPr>
          </a:p>
          <a:p>
            <a:pPr lvl="1">
              <a:buFont typeface="Courier New" panose="020B0604020202020204" pitchFamily="34" charset="0"/>
              <a:buChar char="o"/>
            </a:pPr>
            <a:r>
              <a:rPr lang="en-US" dirty="0">
                <a:ea typeface="+mn-lt"/>
                <a:cs typeface="+mn-lt"/>
              </a:rPr>
              <a:t>Mitigation measures already in place</a:t>
            </a:r>
            <a:endParaRPr lang="en-US">
              <a:cs typeface="Calibri"/>
            </a:endParaRPr>
          </a:p>
        </p:txBody>
      </p:sp>
    </p:spTree>
    <p:extLst>
      <p:ext uri="{BB962C8B-B14F-4D97-AF65-F5344CB8AC3E}">
        <p14:creationId xmlns:p14="http://schemas.microsoft.com/office/powerpoint/2010/main" val="3947983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6CFB1-E463-4A26-58AA-5DE76C42BFA1}"/>
              </a:ext>
            </a:extLst>
          </p:cNvPr>
          <p:cNvSpPr>
            <a:spLocks noGrp="1"/>
          </p:cNvSpPr>
          <p:nvPr>
            <p:ph type="title"/>
          </p:nvPr>
        </p:nvSpPr>
        <p:spPr/>
        <p:txBody>
          <a:bodyPr/>
          <a:lstStyle/>
          <a:p>
            <a:r>
              <a:rPr lang="en-US" dirty="0">
                <a:ea typeface="+mj-lt"/>
                <a:cs typeface="+mj-lt"/>
              </a:rPr>
              <a:t>Vulnerability Management</a:t>
            </a:r>
            <a:endParaRPr lang="en-US" dirty="0"/>
          </a:p>
        </p:txBody>
      </p:sp>
      <p:sp>
        <p:nvSpPr>
          <p:cNvPr id="3" name="Content Placeholder 2">
            <a:extLst>
              <a:ext uri="{FF2B5EF4-FFF2-40B4-BE49-F238E27FC236}">
                <a16:creationId xmlns:a16="http://schemas.microsoft.com/office/drawing/2014/main" id="{313FEC5B-2C40-25A8-2DD2-C92A4BE1D7E1}"/>
              </a:ext>
            </a:extLst>
          </p:cNvPr>
          <p:cNvSpPr>
            <a:spLocks noGrp="1"/>
          </p:cNvSpPr>
          <p:nvPr>
            <p:ph idx="1"/>
          </p:nvPr>
        </p:nvSpPr>
        <p:spPr/>
        <p:txBody>
          <a:bodyPr vert="horz" lIns="91440" tIns="45720" rIns="91440" bIns="45720" rtlCol="0" anchor="t">
            <a:normAutofit/>
          </a:bodyPr>
          <a:lstStyle/>
          <a:p>
            <a:r>
              <a:rPr lang="en-US" dirty="0">
                <a:ea typeface="+mn-lt"/>
                <a:cs typeface="+mn-lt"/>
              </a:rPr>
              <a:t>After determining the risk and prioritization of a vulnerability, the next step involves developing tracking methods to ensure the solution is progressing in a timely manner and alongside your contractual obligations.</a:t>
            </a:r>
          </a:p>
          <a:p>
            <a:r>
              <a:rPr lang="en-US" dirty="0">
                <a:ea typeface="+mn-lt"/>
                <a:cs typeface="+mn-lt"/>
              </a:rPr>
              <a:t>During this time frame if the vulnerability can be recorded, additional logging should be put in place to ensure that no hacker attempts to take advantage of the vulnerability while the fix is being developed. </a:t>
            </a:r>
          </a:p>
          <a:p>
            <a:r>
              <a:rPr lang="en-US" dirty="0">
                <a:ea typeface="+mn-lt"/>
                <a:cs typeface="+mn-lt"/>
              </a:rPr>
              <a:t>Managing vulnerabilities is an ongoing process. </a:t>
            </a:r>
          </a:p>
          <a:p>
            <a:r>
              <a:rPr lang="en-US" dirty="0">
                <a:ea typeface="+mn-lt"/>
                <a:cs typeface="+mn-lt"/>
              </a:rPr>
              <a:t>Your vulnerability management process should be carefully planned out and written down so that your progress can be recorded. </a:t>
            </a:r>
            <a:endParaRPr lang="en-US">
              <a:cs typeface="Calibri"/>
            </a:endParaRPr>
          </a:p>
        </p:txBody>
      </p:sp>
    </p:spTree>
    <p:extLst>
      <p:ext uri="{BB962C8B-B14F-4D97-AF65-F5344CB8AC3E}">
        <p14:creationId xmlns:p14="http://schemas.microsoft.com/office/powerpoint/2010/main" val="4032365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94B25-3925-C170-9BB2-80BE9663A895}"/>
              </a:ext>
            </a:extLst>
          </p:cNvPr>
          <p:cNvSpPr>
            <a:spLocks noGrp="1"/>
          </p:cNvSpPr>
          <p:nvPr>
            <p:ph type="title"/>
          </p:nvPr>
        </p:nvSpPr>
        <p:spPr/>
        <p:txBody>
          <a:bodyPr/>
          <a:lstStyle/>
          <a:p>
            <a:r>
              <a:rPr lang="en-US" dirty="0">
                <a:ea typeface="+mj-lt"/>
                <a:cs typeface="+mj-lt"/>
              </a:rPr>
              <a:t>Regression Testing</a:t>
            </a:r>
            <a:endParaRPr lang="en-US" dirty="0"/>
          </a:p>
        </p:txBody>
      </p:sp>
      <p:sp>
        <p:nvSpPr>
          <p:cNvPr id="3" name="Content Placeholder 2">
            <a:extLst>
              <a:ext uri="{FF2B5EF4-FFF2-40B4-BE49-F238E27FC236}">
                <a16:creationId xmlns:a16="http://schemas.microsoft.com/office/drawing/2014/main" id="{8CA1B209-85EC-EB7B-1F91-F91A1097E458}"/>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Regression testing is performed to find out whether the updates or changes had caused new defects in the existing functions.</a:t>
            </a:r>
          </a:p>
          <a:p>
            <a:r>
              <a:rPr lang="en-US" dirty="0">
                <a:solidFill>
                  <a:srgbClr val="000000"/>
                </a:solidFill>
                <a:latin typeface="Calibri"/>
                <a:ea typeface="+mn-lt"/>
                <a:cs typeface="Calibri"/>
              </a:rPr>
              <a:t>Regression testing is re-running functional and non-functional tests to ensure that previously developed and tested software still performs as expected after a change.</a:t>
            </a:r>
          </a:p>
          <a:p>
            <a:r>
              <a:rPr lang="en-US" dirty="0">
                <a:ea typeface="+mn-lt"/>
                <a:cs typeface="+mn-lt"/>
              </a:rPr>
              <a:t>After deploying a fix that resolves a vulnerability, the next step is to write a regression test that will assert that the fix is valid and the vulnerability no longer exists.</a:t>
            </a:r>
            <a:endParaRPr lang="en-US" dirty="0">
              <a:cs typeface="Calibri"/>
            </a:endParaRPr>
          </a:p>
          <a:p>
            <a:endParaRPr lang="en-US" dirty="0">
              <a:cs typeface="Calibri"/>
            </a:endParaRPr>
          </a:p>
        </p:txBody>
      </p:sp>
    </p:spTree>
    <p:extLst>
      <p:ext uri="{BB962C8B-B14F-4D97-AF65-F5344CB8AC3E}">
        <p14:creationId xmlns:p14="http://schemas.microsoft.com/office/powerpoint/2010/main" val="3611558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C80AB-F284-6BC7-0F21-59681785A5D4}"/>
              </a:ext>
            </a:extLst>
          </p:cNvPr>
          <p:cNvSpPr>
            <a:spLocks noGrp="1"/>
          </p:cNvSpPr>
          <p:nvPr>
            <p:ph type="title"/>
          </p:nvPr>
        </p:nvSpPr>
        <p:spPr/>
        <p:txBody>
          <a:bodyPr/>
          <a:lstStyle/>
          <a:p>
            <a:r>
              <a:rPr lang="en-US" dirty="0">
                <a:ea typeface="+mj-lt"/>
                <a:cs typeface="+mj-lt"/>
              </a:rPr>
              <a:t>Mitigation Strategies</a:t>
            </a:r>
            <a:endParaRPr lang="en-US" dirty="0"/>
          </a:p>
        </p:txBody>
      </p:sp>
      <p:sp>
        <p:nvSpPr>
          <p:cNvPr id="3" name="Content Placeholder 2">
            <a:extLst>
              <a:ext uri="{FF2B5EF4-FFF2-40B4-BE49-F238E27FC236}">
                <a16:creationId xmlns:a16="http://schemas.microsoft.com/office/drawing/2014/main" id="{6A627AFC-1D8F-B847-E982-5C4CED4F852C}"/>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The  practice of reducing the impact of potential risks by developing a plan to manage, eliminate, or limit setbacks as much as possible.</a:t>
            </a:r>
          </a:p>
          <a:p>
            <a:r>
              <a:rPr lang="en-US" dirty="0">
                <a:solidFill>
                  <a:srgbClr val="000000"/>
                </a:solidFill>
                <a:ea typeface="+mn-lt"/>
                <a:cs typeface="+mn-lt"/>
              </a:rPr>
              <a:t>This is a practice that happens all the way from the architecture phase to the regression testing phase.</a:t>
            </a:r>
          </a:p>
          <a:p>
            <a:r>
              <a:rPr lang="en-US" dirty="0">
                <a:solidFill>
                  <a:srgbClr val="000000"/>
                </a:solidFill>
                <a:ea typeface="+mn-lt"/>
                <a:cs typeface="+mn-lt"/>
              </a:rPr>
              <a:t>Mitigation comes in the form of secure coding best practices, secure application architecture, regression testing frameworks, secure software development life cycle (SSDL), and secure-by-default developer mindset and development frameworks.</a:t>
            </a:r>
            <a:endParaRPr lang="en-US" dirty="0">
              <a:solidFill>
                <a:srgbClr val="000000"/>
              </a:solidFill>
              <a:cs typeface="Calibri" panose="020F0502020204030204"/>
            </a:endParaRPr>
          </a:p>
        </p:txBody>
      </p:sp>
    </p:spTree>
    <p:extLst>
      <p:ext uri="{BB962C8B-B14F-4D97-AF65-F5344CB8AC3E}">
        <p14:creationId xmlns:p14="http://schemas.microsoft.com/office/powerpoint/2010/main" val="3671879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4DE8-F70F-E383-91F2-2D39F1C9D258}"/>
              </a:ext>
            </a:extLst>
          </p:cNvPr>
          <p:cNvSpPr>
            <a:spLocks noGrp="1"/>
          </p:cNvSpPr>
          <p:nvPr>
            <p:ph type="ctrTitle"/>
          </p:nvPr>
        </p:nvSpPr>
        <p:spPr/>
        <p:txBody>
          <a:bodyPr/>
          <a:lstStyle/>
          <a:p>
            <a:r>
              <a:rPr lang="en-US" dirty="0">
                <a:ea typeface="+mj-lt"/>
                <a:cs typeface="+mj-lt"/>
              </a:rPr>
              <a:t>Secure Application Architecture</a:t>
            </a:r>
            <a:endParaRPr lang="en-US" dirty="0"/>
          </a:p>
        </p:txBody>
      </p:sp>
      <p:sp>
        <p:nvSpPr>
          <p:cNvPr id="3" name="Content Placeholder 2">
            <a:extLst>
              <a:ext uri="{FF2B5EF4-FFF2-40B4-BE49-F238E27FC236}">
                <a16:creationId xmlns:a16="http://schemas.microsoft.com/office/drawing/2014/main" id="{3F68A0EB-F3EB-EA59-BFD1-444F7945C0D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86763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A6861B-DE66-3820-C7BA-3D1B5DFA043D}"/>
              </a:ext>
            </a:extLst>
          </p:cNvPr>
          <p:cNvSpPr>
            <a:spLocks noGrp="1"/>
          </p:cNvSpPr>
          <p:nvPr>
            <p:ph idx="1"/>
          </p:nvPr>
        </p:nvSpPr>
        <p:spPr>
          <a:xfrm>
            <a:off x="838200" y="632305"/>
            <a:ext cx="10515600" cy="5544658"/>
          </a:xfrm>
        </p:spPr>
        <p:txBody>
          <a:bodyPr vert="horz" lIns="91440" tIns="45720" rIns="91440" bIns="45720" rtlCol="0" anchor="t">
            <a:normAutofit/>
          </a:bodyPr>
          <a:lstStyle/>
          <a:p>
            <a:r>
              <a:rPr lang="en-US" dirty="0">
                <a:ea typeface="+mn-lt"/>
                <a:cs typeface="+mn-lt"/>
              </a:rPr>
              <a:t>In software engineering, the role of an architect is to design modules at a high level and evaluate the best ways for modules to communicate with each other.</a:t>
            </a:r>
          </a:p>
          <a:p>
            <a:r>
              <a:rPr lang="en-US" dirty="0">
                <a:ea typeface="+mn-lt"/>
                <a:cs typeface="+mn-lt"/>
              </a:rPr>
              <a:t>building software architecture is a delicate process that carries a large amount of risk because re-architecture and refactor are expensive processes once an application has already been built.</a:t>
            </a:r>
            <a:endParaRPr lang="en-US"/>
          </a:p>
          <a:p>
            <a:r>
              <a:rPr lang="en-US" dirty="0">
                <a:ea typeface="+mn-lt"/>
                <a:cs typeface="+mn-lt"/>
              </a:rPr>
              <a:t> Security architecture includes a similar risk profile to software or building architecture. </a:t>
            </a:r>
            <a:endParaRPr lang="en-US">
              <a:ea typeface="+mn-lt"/>
              <a:cs typeface="+mn-lt"/>
            </a:endParaRPr>
          </a:p>
          <a:p>
            <a:r>
              <a:rPr lang="en-US" dirty="0">
                <a:ea typeface="+mn-lt"/>
                <a:cs typeface="+mn-lt"/>
              </a:rPr>
              <a:t>Often, vulnerabilities can be prevented easily in the architecture phase with careful planning and evaluation. </a:t>
            </a:r>
            <a:endParaRPr lang="en-US">
              <a:cs typeface="Calibri"/>
            </a:endParaRPr>
          </a:p>
        </p:txBody>
      </p:sp>
    </p:spTree>
    <p:extLst>
      <p:ext uri="{BB962C8B-B14F-4D97-AF65-F5344CB8AC3E}">
        <p14:creationId xmlns:p14="http://schemas.microsoft.com/office/powerpoint/2010/main" val="2174419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0D228-4A8F-408E-9B79-CC33C9363D1E}"/>
              </a:ext>
            </a:extLst>
          </p:cNvPr>
          <p:cNvSpPr>
            <a:spLocks noGrp="1"/>
          </p:cNvSpPr>
          <p:nvPr>
            <p:ph type="title"/>
          </p:nvPr>
        </p:nvSpPr>
        <p:spPr/>
        <p:txBody>
          <a:bodyPr/>
          <a:lstStyle/>
          <a:p>
            <a:r>
              <a:rPr lang="en-US" dirty="0">
                <a:ea typeface="+mj-lt"/>
                <a:cs typeface="+mj-lt"/>
              </a:rPr>
              <a:t>Analyzing Feature Requirements</a:t>
            </a:r>
            <a:endParaRPr lang="en-US" dirty="0"/>
          </a:p>
        </p:txBody>
      </p:sp>
      <p:sp>
        <p:nvSpPr>
          <p:cNvPr id="3" name="Content Placeholder 2">
            <a:extLst>
              <a:ext uri="{FF2B5EF4-FFF2-40B4-BE49-F238E27FC236}">
                <a16:creationId xmlns:a16="http://schemas.microsoft.com/office/drawing/2014/main" id="{0C291A88-B5C6-3B06-73D7-D222D2933E60}"/>
              </a:ext>
            </a:extLst>
          </p:cNvPr>
          <p:cNvSpPr>
            <a:spLocks noGrp="1"/>
          </p:cNvSpPr>
          <p:nvPr>
            <p:ph idx="1"/>
          </p:nvPr>
        </p:nvSpPr>
        <p:spPr/>
        <p:txBody>
          <a:bodyPr vert="horz" lIns="91440" tIns="45720" rIns="91440" bIns="45720" rtlCol="0" anchor="t">
            <a:normAutofit/>
          </a:bodyPr>
          <a:lstStyle/>
          <a:p>
            <a:r>
              <a:rPr lang="en-US" dirty="0">
                <a:ea typeface="+mn-lt"/>
                <a:cs typeface="+mn-lt"/>
              </a:rPr>
              <a:t>collect all the business requirements that the product or feature is expected to implement.</a:t>
            </a:r>
          </a:p>
          <a:p>
            <a:r>
              <a:rPr lang="en-US" dirty="0">
                <a:cs typeface="Calibri" panose="020F0502020204030204"/>
              </a:rPr>
              <a:t>Case Study:</a:t>
            </a:r>
          </a:p>
          <a:p>
            <a:r>
              <a:rPr lang="en-US" dirty="0" err="1">
                <a:ea typeface="+mn-lt"/>
                <a:cs typeface="+mn-lt"/>
              </a:rPr>
              <a:t>MegaBank</a:t>
            </a:r>
            <a:r>
              <a:rPr lang="en-US" dirty="0">
                <a:ea typeface="+mn-lt"/>
                <a:cs typeface="+mn-lt"/>
              </a:rPr>
              <a:t> has decided to capitalize on its newly found popularity by beginning its own merchandising brand. </a:t>
            </a:r>
            <a:r>
              <a:rPr lang="en-US" dirty="0" err="1">
                <a:ea typeface="+mn-lt"/>
                <a:cs typeface="+mn-lt"/>
              </a:rPr>
              <a:t>MegaBank’s</a:t>
            </a:r>
            <a:r>
              <a:rPr lang="en-US" dirty="0">
                <a:ea typeface="+mn-lt"/>
                <a:cs typeface="+mn-lt"/>
              </a:rPr>
              <a:t> new merchandising brand, </a:t>
            </a:r>
            <a:r>
              <a:rPr lang="en-US" dirty="0" err="1">
                <a:ea typeface="+mn-lt"/>
                <a:cs typeface="+mn-lt"/>
              </a:rPr>
              <a:t>MegaMerch</a:t>
            </a:r>
            <a:r>
              <a:rPr lang="en-US" dirty="0">
                <a:ea typeface="+mn-lt"/>
                <a:cs typeface="+mn-lt"/>
              </a:rPr>
              <a:t>, will offer a collection of high-quality cotton T-shirts, comfortable cotton/elastic sweatpants, and men’s and women’s swimwear with the </a:t>
            </a:r>
            <a:r>
              <a:rPr lang="en-US" dirty="0" err="1">
                <a:ea typeface="+mn-lt"/>
                <a:cs typeface="+mn-lt"/>
              </a:rPr>
              <a:t>MegaMerch</a:t>
            </a:r>
            <a:r>
              <a:rPr lang="en-US" dirty="0">
                <a:ea typeface="+mn-lt"/>
                <a:cs typeface="+mn-lt"/>
              </a:rPr>
              <a:t> (MM) logo.</a:t>
            </a:r>
            <a:endParaRPr lang="en-US" dirty="0">
              <a:cs typeface="Calibri" panose="020F0502020204030204"/>
            </a:endParaRPr>
          </a:p>
        </p:txBody>
      </p:sp>
    </p:spTree>
    <p:extLst>
      <p:ext uri="{BB962C8B-B14F-4D97-AF65-F5344CB8AC3E}">
        <p14:creationId xmlns:p14="http://schemas.microsoft.com/office/powerpoint/2010/main" val="3787484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A2880E-00B8-9088-967B-291A47AFBB01}"/>
              </a:ext>
            </a:extLst>
          </p:cNvPr>
          <p:cNvSpPr>
            <a:spLocks noGrp="1"/>
          </p:cNvSpPr>
          <p:nvPr>
            <p:ph idx="1"/>
          </p:nvPr>
        </p:nvSpPr>
        <p:spPr>
          <a:xfrm>
            <a:off x="838200" y="157853"/>
            <a:ext cx="10515600" cy="6565449"/>
          </a:xfrm>
        </p:spPr>
        <p:txBody>
          <a:bodyPr vert="horz" lIns="91440" tIns="45720" rIns="91440" bIns="45720" rtlCol="0" anchor="t">
            <a:normAutofit/>
          </a:bodyPr>
          <a:lstStyle/>
          <a:p>
            <a:r>
              <a:rPr lang="en-US" dirty="0">
                <a:ea typeface="+mn-lt"/>
                <a:cs typeface="+mn-lt"/>
              </a:rPr>
              <a:t>In order to distribute merchandise under the new </a:t>
            </a:r>
            <a:r>
              <a:rPr lang="en-US" dirty="0" err="1">
                <a:ea typeface="+mn-lt"/>
                <a:cs typeface="+mn-lt"/>
              </a:rPr>
              <a:t>MegaMerch</a:t>
            </a:r>
            <a:r>
              <a:rPr lang="en-US" dirty="0">
                <a:ea typeface="+mn-lt"/>
                <a:cs typeface="+mn-lt"/>
              </a:rPr>
              <a:t> brand, </a:t>
            </a:r>
            <a:r>
              <a:rPr lang="en-US" dirty="0" err="1">
                <a:ea typeface="+mn-lt"/>
                <a:cs typeface="+mn-lt"/>
              </a:rPr>
              <a:t>MegaBank</a:t>
            </a:r>
            <a:r>
              <a:rPr lang="en-US" dirty="0">
                <a:ea typeface="+mn-lt"/>
                <a:cs typeface="+mn-lt"/>
              </a:rPr>
              <a:t> would like to set up an ecommerce application that meets the following requirements: </a:t>
            </a:r>
          </a:p>
          <a:p>
            <a:pPr lvl="1">
              <a:buFont typeface="Courier New" panose="020B0604020202020204" pitchFamily="34" charset="0"/>
              <a:buChar char="o"/>
            </a:pPr>
            <a:r>
              <a:rPr lang="en-US" dirty="0">
                <a:ea typeface="+mn-lt"/>
                <a:cs typeface="+mn-lt"/>
              </a:rPr>
              <a:t>Users can create accounts and sign in. </a:t>
            </a:r>
            <a:endParaRPr lang="en-US">
              <a:ea typeface="+mn-lt"/>
              <a:cs typeface="+mn-lt"/>
            </a:endParaRPr>
          </a:p>
          <a:p>
            <a:pPr lvl="1">
              <a:buFont typeface="Courier New" panose="020B0604020202020204" pitchFamily="34" charset="0"/>
              <a:buChar char="o"/>
            </a:pPr>
            <a:r>
              <a:rPr lang="en-US" dirty="0">
                <a:ea typeface="+mn-lt"/>
                <a:cs typeface="+mn-lt"/>
              </a:rPr>
              <a:t>User accounts contain the user’s full name, address, and date of birth. </a:t>
            </a:r>
          </a:p>
          <a:p>
            <a:pPr lvl="1">
              <a:buFont typeface="Courier New" panose="020B0604020202020204" pitchFamily="34" charset="0"/>
              <a:buChar char="o"/>
            </a:pPr>
            <a:r>
              <a:rPr lang="en-US" dirty="0">
                <a:ea typeface="+mn-lt"/>
                <a:cs typeface="+mn-lt"/>
              </a:rPr>
              <a:t>Users can access the front page of the store that shows items. </a:t>
            </a:r>
          </a:p>
          <a:p>
            <a:pPr lvl="1">
              <a:buFont typeface="Courier New" panose="020B0604020202020204" pitchFamily="34" charset="0"/>
              <a:buChar char="o"/>
            </a:pPr>
            <a:r>
              <a:rPr lang="en-US" dirty="0">
                <a:ea typeface="+mn-lt"/>
                <a:cs typeface="+mn-lt"/>
              </a:rPr>
              <a:t>Users can search for specific items. </a:t>
            </a:r>
          </a:p>
          <a:p>
            <a:pPr lvl="1">
              <a:buFont typeface="Courier New" panose="020B0604020202020204" pitchFamily="34" charset="0"/>
              <a:buChar char="o"/>
            </a:pPr>
            <a:r>
              <a:rPr lang="en-US" dirty="0">
                <a:ea typeface="+mn-lt"/>
                <a:cs typeface="+mn-lt"/>
              </a:rPr>
              <a:t>Users can save credit cards and bank accounts for later use. </a:t>
            </a:r>
            <a:endParaRPr lang="en-US">
              <a:ea typeface="+mn-lt"/>
              <a:cs typeface="+mn-lt"/>
            </a:endParaRPr>
          </a:p>
          <a:p>
            <a:r>
              <a:rPr lang="en-US" dirty="0">
                <a:ea typeface="+mn-lt"/>
                <a:cs typeface="+mn-lt"/>
              </a:rPr>
              <a:t>A high-level analysis of these requirements tells us a few important tidbits of information:  </a:t>
            </a:r>
          </a:p>
          <a:p>
            <a:pPr lvl="1">
              <a:buFont typeface="Courier New" panose="020B0604020202020204" pitchFamily="34" charset="0"/>
              <a:buChar char="o"/>
            </a:pPr>
            <a:r>
              <a:rPr lang="en-US" dirty="0">
                <a:ea typeface="+mn-lt"/>
                <a:cs typeface="+mn-lt"/>
              </a:rPr>
              <a:t>We are storing credentials. </a:t>
            </a:r>
            <a:endParaRPr lang="en-US">
              <a:ea typeface="+mn-lt"/>
              <a:cs typeface="+mn-lt"/>
            </a:endParaRPr>
          </a:p>
          <a:p>
            <a:pPr lvl="1">
              <a:buFont typeface="Courier New" panose="020B0604020202020204" pitchFamily="34" charset="0"/>
              <a:buChar char="o"/>
            </a:pPr>
            <a:r>
              <a:rPr lang="en-US" dirty="0">
                <a:ea typeface="+mn-lt"/>
                <a:cs typeface="+mn-lt"/>
              </a:rPr>
              <a:t>We are storing personal identifier information. </a:t>
            </a:r>
            <a:endParaRPr lang="en-US">
              <a:ea typeface="+mn-lt"/>
              <a:cs typeface="+mn-lt"/>
            </a:endParaRPr>
          </a:p>
          <a:p>
            <a:pPr lvl="1">
              <a:buFont typeface="Courier New" panose="020B0604020202020204" pitchFamily="34" charset="0"/>
              <a:buChar char="o"/>
            </a:pPr>
            <a:r>
              <a:rPr lang="en-US" dirty="0">
                <a:ea typeface="+mn-lt"/>
                <a:cs typeface="+mn-lt"/>
              </a:rPr>
              <a:t>Users have elevated privileges compared to guests. </a:t>
            </a:r>
            <a:endParaRPr lang="en-US">
              <a:ea typeface="+mn-lt"/>
              <a:cs typeface="+mn-lt"/>
            </a:endParaRPr>
          </a:p>
          <a:p>
            <a:pPr lvl="1">
              <a:buFont typeface="Courier New" panose="020B0604020202020204" pitchFamily="34" charset="0"/>
              <a:buChar char="o"/>
            </a:pPr>
            <a:r>
              <a:rPr lang="en-US" dirty="0">
                <a:ea typeface="+mn-lt"/>
                <a:cs typeface="+mn-lt"/>
              </a:rPr>
              <a:t>Users can search through existing items. </a:t>
            </a:r>
          </a:p>
          <a:p>
            <a:pPr lvl="1">
              <a:buFont typeface="Courier New" panose="020B0604020202020204" pitchFamily="34" charset="0"/>
              <a:buChar char="o"/>
            </a:pPr>
            <a:r>
              <a:rPr lang="en-US" dirty="0">
                <a:ea typeface="+mn-lt"/>
                <a:cs typeface="+mn-lt"/>
              </a:rPr>
              <a:t>We are storing financial data.</a:t>
            </a:r>
            <a:endParaRPr lang="en-US" dirty="0">
              <a:cs typeface="Calibri"/>
            </a:endParaRPr>
          </a:p>
        </p:txBody>
      </p:sp>
    </p:spTree>
    <p:extLst>
      <p:ext uri="{BB962C8B-B14F-4D97-AF65-F5344CB8AC3E}">
        <p14:creationId xmlns:p14="http://schemas.microsoft.com/office/powerpoint/2010/main" val="2944589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AAC908-DCDF-18F1-D4D1-E1CD21E47556}"/>
              </a:ext>
            </a:extLst>
          </p:cNvPr>
          <p:cNvSpPr>
            <a:spLocks noGrp="1"/>
          </p:cNvSpPr>
          <p:nvPr>
            <p:ph idx="1"/>
          </p:nvPr>
        </p:nvSpPr>
        <p:spPr>
          <a:xfrm>
            <a:off x="838200" y="689814"/>
            <a:ext cx="10515600" cy="5487149"/>
          </a:xfrm>
        </p:spPr>
        <p:txBody>
          <a:bodyPr vert="horz" lIns="91440" tIns="45720" rIns="91440" bIns="45720" rtlCol="0" anchor="t">
            <a:normAutofit/>
          </a:bodyPr>
          <a:lstStyle/>
          <a:p>
            <a:pPr marL="0" indent="0">
              <a:buNone/>
            </a:pPr>
            <a:r>
              <a:rPr lang="en-US" dirty="0">
                <a:ea typeface="+mn-lt"/>
                <a:cs typeface="+mn-lt"/>
              </a:rPr>
              <a:t>A few of the risk areas derived from this analysis are as follows: </a:t>
            </a:r>
          </a:p>
          <a:p>
            <a:r>
              <a:rPr lang="en-US" dirty="0">
                <a:ea typeface="+mn-lt"/>
                <a:cs typeface="+mn-lt"/>
              </a:rPr>
              <a:t>Authentication and authorization: How do we handle sessions, logins, and cookies? </a:t>
            </a:r>
          </a:p>
          <a:p>
            <a:r>
              <a:rPr lang="en-US" dirty="0">
                <a:ea typeface="+mn-lt"/>
                <a:cs typeface="+mn-lt"/>
              </a:rPr>
              <a:t>Personal data: Is it handled differently than other data? Do laws affect how we should handle this data? </a:t>
            </a:r>
          </a:p>
          <a:p>
            <a:r>
              <a:rPr lang="en-US" dirty="0">
                <a:ea typeface="+mn-lt"/>
                <a:cs typeface="+mn-lt"/>
              </a:rPr>
              <a:t>Search engine: How is the search engine implemented? Does it draw from the primary database as its single source of truth or use a separate cached database?</a:t>
            </a:r>
            <a:endParaRPr lang="en-US">
              <a:cs typeface="Calibri" panose="020F0502020204030204"/>
            </a:endParaRPr>
          </a:p>
        </p:txBody>
      </p:sp>
    </p:spTree>
    <p:extLst>
      <p:ext uri="{BB962C8B-B14F-4D97-AF65-F5344CB8AC3E}">
        <p14:creationId xmlns:p14="http://schemas.microsoft.com/office/powerpoint/2010/main" val="911731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A4106-73C5-F951-D0DF-05ED7290D325}"/>
              </a:ext>
            </a:extLst>
          </p:cNvPr>
          <p:cNvSpPr>
            <a:spLocks noGrp="1"/>
          </p:cNvSpPr>
          <p:nvPr>
            <p:ph type="title"/>
          </p:nvPr>
        </p:nvSpPr>
        <p:spPr/>
        <p:txBody>
          <a:bodyPr/>
          <a:lstStyle/>
          <a:p>
            <a:r>
              <a:rPr lang="en-US" dirty="0">
                <a:ea typeface="+mj-lt"/>
                <a:cs typeface="+mj-lt"/>
              </a:rPr>
              <a:t>Authentication and Authorization</a:t>
            </a:r>
            <a:endParaRPr lang="en-US" dirty="0"/>
          </a:p>
        </p:txBody>
      </p:sp>
      <p:sp>
        <p:nvSpPr>
          <p:cNvPr id="3" name="Content Placeholder 2">
            <a:extLst>
              <a:ext uri="{FF2B5EF4-FFF2-40B4-BE49-F238E27FC236}">
                <a16:creationId xmlns:a16="http://schemas.microsoft.com/office/drawing/2014/main" id="{2C97BFDC-909B-F8FB-17A3-43D8DAE9A0B6}"/>
              </a:ext>
            </a:extLst>
          </p:cNvPr>
          <p:cNvSpPr>
            <a:spLocks noGrp="1"/>
          </p:cNvSpPr>
          <p:nvPr>
            <p:ph idx="1"/>
          </p:nvPr>
        </p:nvSpPr>
        <p:spPr>
          <a:xfrm>
            <a:off x="838200" y="1523701"/>
            <a:ext cx="10515600" cy="5027073"/>
          </a:xfrm>
        </p:spPr>
        <p:txBody>
          <a:bodyPr vert="horz" lIns="91440" tIns="45720" rIns="91440" bIns="45720" rtlCol="0" anchor="t">
            <a:normAutofit/>
          </a:bodyPr>
          <a:lstStyle/>
          <a:p>
            <a:r>
              <a:rPr lang="en-US" dirty="0">
                <a:ea typeface="+mn-lt"/>
                <a:cs typeface="+mn-lt"/>
              </a:rPr>
              <a:t>Authentication and Authorization System is important as application is going to store credentials and offer a different user experience to guests and registered users.</a:t>
            </a:r>
          </a:p>
          <a:p>
            <a:r>
              <a:rPr lang="en-US" dirty="0">
                <a:ea typeface="+mn-lt"/>
                <a:cs typeface="+mn-lt"/>
              </a:rPr>
              <a:t>This means application must allow users to log in, as well as be able to differentiate among different tiers of users when determining what actions these users are allowed.</a:t>
            </a:r>
          </a:p>
          <a:p>
            <a:r>
              <a:rPr lang="en-US" dirty="0">
                <a:ea typeface="+mn-lt"/>
                <a:cs typeface="+mn-lt"/>
              </a:rPr>
              <a:t>we </a:t>
            </a:r>
            <a:r>
              <a:rPr lang="en-US">
                <a:ea typeface="+mn-lt"/>
                <a:cs typeface="+mn-lt"/>
              </a:rPr>
              <a:t>must</a:t>
            </a:r>
            <a:r>
              <a:rPr lang="en-US" dirty="0">
                <a:ea typeface="+mn-lt"/>
                <a:cs typeface="+mn-lt"/>
              </a:rPr>
              <a:t> consider the following risks: •</a:t>
            </a:r>
          </a:p>
          <a:p>
            <a:pPr lvl="1">
              <a:buFont typeface="Courier New" panose="020B0604020202020204" pitchFamily="34" charset="0"/>
              <a:buChar char="o"/>
            </a:pPr>
            <a:r>
              <a:rPr lang="en-US" dirty="0">
                <a:ea typeface="+mn-lt"/>
                <a:cs typeface="+mn-lt"/>
              </a:rPr>
              <a:t>How do we handle data in transit? </a:t>
            </a:r>
            <a:endParaRPr lang="en-US">
              <a:ea typeface="+mn-lt"/>
              <a:cs typeface="+mn-lt"/>
            </a:endParaRPr>
          </a:p>
          <a:p>
            <a:pPr lvl="1">
              <a:buFont typeface="Courier New" panose="020B0604020202020204" pitchFamily="34" charset="0"/>
              <a:buChar char="o"/>
            </a:pPr>
            <a:r>
              <a:rPr lang="en-US" dirty="0">
                <a:ea typeface="+mn-lt"/>
                <a:cs typeface="+mn-lt"/>
              </a:rPr>
              <a:t>How do we handle the storage of credentials? </a:t>
            </a:r>
            <a:endParaRPr lang="en-US">
              <a:ea typeface="+mn-lt"/>
              <a:cs typeface="+mn-lt"/>
            </a:endParaRPr>
          </a:p>
          <a:p>
            <a:pPr lvl="1">
              <a:buFont typeface="Courier New" panose="020B0604020202020204" pitchFamily="34" charset="0"/>
              <a:buChar char="o"/>
            </a:pPr>
            <a:r>
              <a:rPr lang="en-US" dirty="0">
                <a:ea typeface="+mn-lt"/>
                <a:cs typeface="+mn-lt"/>
              </a:rPr>
              <a:t>How do we handle various authorization levels of users?</a:t>
            </a:r>
            <a:endParaRPr lang="en-US">
              <a:cs typeface="Calibri" panose="020F0502020204030204"/>
            </a:endParaRPr>
          </a:p>
        </p:txBody>
      </p:sp>
    </p:spTree>
    <p:extLst>
      <p:ext uri="{BB962C8B-B14F-4D97-AF65-F5344CB8AC3E}">
        <p14:creationId xmlns:p14="http://schemas.microsoft.com/office/powerpoint/2010/main" val="3650606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D958B-9A95-C563-671E-3F507DE07711}"/>
              </a:ext>
            </a:extLst>
          </p:cNvPr>
          <p:cNvSpPr>
            <a:spLocks noGrp="1"/>
          </p:cNvSpPr>
          <p:nvPr>
            <p:ph type="title"/>
          </p:nvPr>
        </p:nvSpPr>
        <p:spPr/>
        <p:txBody>
          <a:bodyPr/>
          <a:lstStyle/>
          <a:p>
            <a:pPr lvl="1">
              <a:spcBef>
                <a:spcPts val="500"/>
              </a:spcBef>
            </a:pPr>
            <a:r>
              <a:rPr lang="en-US" sz="4400" dirty="0">
                <a:latin typeface="Calibri"/>
                <a:cs typeface="Calibri"/>
              </a:rPr>
              <a:t>How do we handle data in transit? </a:t>
            </a:r>
            <a:endParaRPr lang="en-US" sz="4400" dirty="0">
              <a:solidFill>
                <a:srgbClr val="000000"/>
              </a:solidFill>
              <a:latin typeface="Calibri"/>
              <a:cs typeface="Calibri"/>
            </a:endParaRPr>
          </a:p>
          <a:p>
            <a:endParaRPr lang="en-US" dirty="0">
              <a:cs typeface="Calibri Light"/>
            </a:endParaRPr>
          </a:p>
        </p:txBody>
      </p:sp>
      <p:sp>
        <p:nvSpPr>
          <p:cNvPr id="3" name="Content Placeholder 2">
            <a:extLst>
              <a:ext uri="{FF2B5EF4-FFF2-40B4-BE49-F238E27FC236}">
                <a16:creationId xmlns:a16="http://schemas.microsoft.com/office/drawing/2014/main" id="{B3BC06D4-D321-0BF3-2E81-7B30E2E80991}"/>
              </a:ext>
            </a:extLst>
          </p:cNvPr>
          <p:cNvSpPr>
            <a:spLocks noGrp="1"/>
          </p:cNvSpPr>
          <p:nvPr>
            <p:ph idx="1"/>
          </p:nvPr>
        </p:nvSpPr>
        <p:spPr/>
        <p:txBody>
          <a:bodyPr vert="horz" lIns="91440" tIns="45720" rIns="91440" bIns="45720" rtlCol="0" anchor="t">
            <a:normAutofit/>
          </a:bodyPr>
          <a:lstStyle/>
          <a:p>
            <a:r>
              <a:rPr lang="en-US" dirty="0">
                <a:ea typeface="+mn-lt"/>
                <a:cs typeface="+mn-lt"/>
              </a:rPr>
              <a:t>Secure Sockets Layer and Transport Layer Security</a:t>
            </a:r>
          </a:p>
          <a:p>
            <a:pPr lvl="1">
              <a:buFont typeface="Courier New" panose="020B0604020202020204" pitchFamily="34" charset="0"/>
              <a:buChar char="o"/>
            </a:pPr>
            <a:r>
              <a:rPr lang="en-US" dirty="0">
                <a:ea typeface="+mn-lt"/>
                <a:cs typeface="+mn-lt"/>
              </a:rPr>
              <a:t>Secure Sockets Layer (SSL) and Transport Layer Security (TLS) are the two major cryptographic protocols in use today for securing in-transit data from malicious eyes in the middle of any network. </a:t>
            </a:r>
          </a:p>
          <a:p>
            <a:pPr lvl="1">
              <a:buFont typeface="Courier New" panose="020B0604020202020204" pitchFamily="34" charset="0"/>
              <a:buChar char="o"/>
            </a:pPr>
            <a:r>
              <a:rPr lang="en-US" dirty="0">
                <a:ea typeface="+mn-lt"/>
                <a:cs typeface="+mn-lt"/>
              </a:rPr>
              <a:t>TSL cannot interpolate with older versions of SSL due to the amount of architectural differences between the two. </a:t>
            </a:r>
          </a:p>
          <a:p>
            <a:pPr lvl="1">
              <a:buFont typeface="Courier New" panose="020B0604020202020204" pitchFamily="34" charset="0"/>
              <a:buChar char="o"/>
            </a:pPr>
            <a:r>
              <a:rPr lang="en-US" dirty="0">
                <a:ea typeface="+mn-lt"/>
                <a:cs typeface="+mn-lt"/>
              </a:rPr>
              <a:t>TLS offers the most rigid security, while SSL has higher adoption but multiple vulnerabilities that reduce its integrity as a cryptographic protocol.</a:t>
            </a:r>
            <a:endParaRPr lang="en-US" dirty="0">
              <a:cs typeface="Calibri"/>
            </a:endParaRPr>
          </a:p>
        </p:txBody>
      </p:sp>
    </p:spTree>
    <p:extLst>
      <p:ext uri="{BB962C8B-B14F-4D97-AF65-F5344CB8AC3E}">
        <p14:creationId xmlns:p14="http://schemas.microsoft.com/office/powerpoint/2010/main" val="37133856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8D102C4E-59DD-F187-D908-04D9DAF993EF}"/>
              </a:ext>
            </a:extLst>
          </p:cNvPr>
          <p:cNvPicPr>
            <a:picLocks noGrp="1" noChangeAspect="1"/>
          </p:cNvPicPr>
          <p:nvPr>
            <p:ph idx="1"/>
          </p:nvPr>
        </p:nvPicPr>
        <p:blipFill rotWithShape="1">
          <a:blip r:embed="rId3"/>
          <a:srcRect l="22635" t="29043" r="27087" b="8251"/>
          <a:stretch/>
        </p:blipFill>
        <p:spPr>
          <a:xfrm>
            <a:off x="2125412" y="643466"/>
            <a:ext cx="7941175" cy="5571067"/>
          </a:xfrm>
          <a:prstGeom prst="rect">
            <a:avLst/>
          </a:prstGeom>
        </p:spPr>
      </p:pic>
    </p:spTree>
    <p:extLst>
      <p:ext uri="{BB962C8B-B14F-4D97-AF65-F5344CB8AC3E}">
        <p14:creationId xmlns:p14="http://schemas.microsoft.com/office/powerpoint/2010/main" val="2136226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ACC8F-4D02-49AC-8CD4-D83E80CECD98}"/>
              </a:ext>
            </a:extLst>
          </p:cNvPr>
          <p:cNvSpPr>
            <a:spLocks noGrp="1"/>
          </p:cNvSpPr>
          <p:nvPr>
            <p:ph type="title"/>
          </p:nvPr>
        </p:nvSpPr>
        <p:spPr>
          <a:xfrm>
            <a:off x="838200" y="5691"/>
            <a:ext cx="10515600" cy="1325563"/>
          </a:xfrm>
        </p:spPr>
        <p:txBody>
          <a:bodyPr/>
          <a:lstStyle/>
          <a:p>
            <a:r>
              <a:rPr lang="en-US" dirty="0">
                <a:ea typeface="+mj-lt"/>
                <a:cs typeface="+mj-lt"/>
              </a:rPr>
              <a:t>Secure Credentials</a:t>
            </a:r>
            <a:endParaRPr lang="en-US" dirty="0"/>
          </a:p>
        </p:txBody>
      </p:sp>
      <p:sp>
        <p:nvSpPr>
          <p:cNvPr id="3" name="Content Placeholder 2">
            <a:extLst>
              <a:ext uri="{FF2B5EF4-FFF2-40B4-BE49-F238E27FC236}">
                <a16:creationId xmlns:a16="http://schemas.microsoft.com/office/drawing/2014/main" id="{38BC8366-6289-19A6-65BC-71FDFD30C664}"/>
              </a:ext>
            </a:extLst>
          </p:cNvPr>
          <p:cNvSpPr>
            <a:spLocks noGrp="1"/>
          </p:cNvSpPr>
          <p:nvPr>
            <p:ph idx="1"/>
          </p:nvPr>
        </p:nvSpPr>
        <p:spPr>
          <a:xfrm>
            <a:off x="838200" y="1250532"/>
            <a:ext cx="10515600" cy="5559034"/>
          </a:xfrm>
        </p:spPr>
        <p:txBody>
          <a:bodyPr vert="horz" lIns="91440" tIns="45720" rIns="91440" bIns="45720" rtlCol="0" anchor="t">
            <a:normAutofit fontScale="92500" lnSpcReduction="10000"/>
          </a:bodyPr>
          <a:lstStyle/>
          <a:p>
            <a:r>
              <a:rPr lang="en-US" dirty="0">
                <a:ea typeface="+mn-lt"/>
                <a:cs typeface="+mn-lt"/>
              </a:rPr>
              <a:t>Creating a secure password has less to do with the length and number of special characters, but instead has everything to do with the patterns that can be found in the password. </a:t>
            </a:r>
          </a:p>
          <a:p>
            <a:r>
              <a:rPr lang="en-US" dirty="0">
                <a:ea typeface="+mn-lt"/>
                <a:cs typeface="+mn-lt"/>
              </a:rPr>
              <a:t>In cryptography, this is known as entropy—the amount of randomness and uncertainty. You want passwords with a lot of entropy.</a:t>
            </a:r>
          </a:p>
          <a:p>
            <a:r>
              <a:rPr lang="en-US" dirty="0">
                <a:ea typeface="+mn-lt"/>
                <a:cs typeface="+mn-lt"/>
              </a:rPr>
              <a:t>it is not so much the length of the password that will protect you, but instead the lack of observable patterns and avoidance of common words and phrases.</a:t>
            </a:r>
          </a:p>
          <a:p>
            <a:r>
              <a:rPr lang="en-US" dirty="0">
                <a:ea typeface="+mn-lt"/>
                <a:cs typeface="+mn-lt"/>
              </a:rPr>
              <a:t>Instead, we should make it difficult for a user to develop a password that contains a number of</a:t>
            </a:r>
            <a:r>
              <a:rPr lang="en-US">
                <a:ea typeface="+mn-lt"/>
                <a:cs typeface="+mn-lt"/>
              </a:rPr>
              <a:t> well-known patterns by having certain requirements.</a:t>
            </a:r>
            <a:endParaRPr lang="en-US" dirty="0">
              <a:ea typeface="+mn-lt"/>
              <a:cs typeface="+mn-lt"/>
            </a:endParaRPr>
          </a:p>
          <a:p>
            <a:r>
              <a:rPr lang="en-US" dirty="0">
                <a:ea typeface="+mn-lt"/>
                <a:cs typeface="+mn-lt"/>
              </a:rPr>
              <a:t> For example, we can reject any password in a top one thousand password </a:t>
            </a:r>
            <a:r>
              <a:rPr lang="en-US">
                <a:ea typeface="+mn-lt"/>
                <a:cs typeface="+mn-lt"/>
              </a:rPr>
              <a:t>list and tell the user it is too common.</a:t>
            </a:r>
          </a:p>
          <a:p>
            <a:r>
              <a:rPr lang="en-US" dirty="0">
                <a:ea typeface="+mn-lt"/>
                <a:cs typeface="+mn-lt"/>
              </a:rPr>
              <a:t> We should also prevent our users from using birthdates, first name, last name, or any part of their address. </a:t>
            </a:r>
            <a:endParaRPr lang="en-US">
              <a:cs typeface="Calibri"/>
            </a:endParaRPr>
          </a:p>
        </p:txBody>
      </p:sp>
    </p:spTree>
    <p:extLst>
      <p:ext uri="{BB962C8B-B14F-4D97-AF65-F5344CB8AC3E}">
        <p14:creationId xmlns:p14="http://schemas.microsoft.com/office/powerpoint/2010/main" val="25221169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A525D-2DF0-BFDB-873D-570EB5EC190D}"/>
              </a:ext>
            </a:extLst>
          </p:cNvPr>
          <p:cNvSpPr>
            <a:spLocks noGrp="1"/>
          </p:cNvSpPr>
          <p:nvPr>
            <p:ph type="title"/>
          </p:nvPr>
        </p:nvSpPr>
        <p:spPr/>
        <p:txBody>
          <a:bodyPr/>
          <a:lstStyle/>
          <a:p>
            <a:r>
              <a:rPr lang="en-US" dirty="0">
                <a:ea typeface="+mj-lt"/>
                <a:cs typeface="+mj-lt"/>
              </a:rPr>
              <a:t>How do we handle the storage of credentials?</a:t>
            </a:r>
            <a:endParaRPr lang="en-US" dirty="0"/>
          </a:p>
        </p:txBody>
      </p:sp>
      <p:sp>
        <p:nvSpPr>
          <p:cNvPr id="3" name="Content Placeholder 2">
            <a:extLst>
              <a:ext uri="{FF2B5EF4-FFF2-40B4-BE49-F238E27FC236}">
                <a16:creationId xmlns:a16="http://schemas.microsoft.com/office/drawing/2014/main" id="{246BBA3D-CCD4-1257-0D44-8563DAB4F5E6}"/>
              </a:ext>
            </a:extLst>
          </p:cNvPr>
          <p:cNvSpPr>
            <a:spLocks noGrp="1"/>
          </p:cNvSpPr>
          <p:nvPr>
            <p:ph idx="1"/>
          </p:nvPr>
        </p:nvSpPr>
        <p:spPr/>
        <p:txBody>
          <a:bodyPr vert="horz" lIns="91440" tIns="45720" rIns="91440" bIns="45720" rtlCol="0" anchor="t">
            <a:normAutofit/>
          </a:bodyPr>
          <a:lstStyle/>
          <a:p>
            <a:r>
              <a:rPr lang="en-US" dirty="0">
                <a:ea typeface="+mn-lt"/>
                <a:cs typeface="+mn-lt"/>
              </a:rPr>
              <a:t>Hashing Credentials</a:t>
            </a:r>
          </a:p>
          <a:p>
            <a:pPr lvl="1">
              <a:buFont typeface="Courier New" panose="020B0604020202020204" pitchFamily="34" charset="0"/>
              <a:buChar char="o"/>
            </a:pPr>
            <a:r>
              <a:rPr lang="en-US" dirty="0">
                <a:ea typeface="+mn-lt"/>
                <a:cs typeface="+mn-lt"/>
              </a:rPr>
              <a:t>When storing sensitive credentials, we should never store in plain text. </a:t>
            </a:r>
          </a:p>
          <a:p>
            <a:pPr lvl="1">
              <a:buFont typeface="Courier New" panose="020B0604020202020204" pitchFamily="34" charset="0"/>
              <a:buChar char="o"/>
            </a:pPr>
            <a:r>
              <a:rPr lang="en-US" dirty="0">
                <a:ea typeface="+mn-lt"/>
                <a:cs typeface="+mn-lt"/>
              </a:rPr>
              <a:t>Instead, we should hash the password the first time we see it prior to storing it.</a:t>
            </a:r>
            <a:endParaRPr lang="en-US" dirty="0">
              <a:cs typeface="Calibri"/>
            </a:endParaRPr>
          </a:p>
          <a:p>
            <a:pPr lvl="1">
              <a:buFont typeface="Courier New" panose="020B0604020202020204" pitchFamily="34" charset="0"/>
              <a:buChar char="o"/>
            </a:pPr>
            <a:r>
              <a:rPr lang="en-US" dirty="0">
                <a:ea typeface="+mn-lt"/>
                <a:cs typeface="+mn-lt"/>
              </a:rPr>
              <a:t>hashing algorithms are not reversible.</a:t>
            </a:r>
            <a:endParaRPr lang="en-US" dirty="0">
              <a:cs typeface="Calibri"/>
            </a:endParaRPr>
          </a:p>
          <a:p>
            <a:pPr lvl="1">
              <a:buFont typeface="Courier New" panose="020B0604020202020204" pitchFamily="34" charset="0"/>
              <a:buChar char="o"/>
            </a:pPr>
            <a:r>
              <a:rPr lang="en-US" dirty="0">
                <a:ea typeface="+mn-lt"/>
                <a:cs typeface="+mn-lt"/>
              </a:rPr>
              <a:t>Today’s hashing algorithms can represent multiple-megabyte strings of characters in just 128 to 264 bits of data.</a:t>
            </a:r>
            <a:endParaRPr lang="en-US" dirty="0">
              <a:cs typeface="Calibri"/>
            </a:endParaRPr>
          </a:p>
          <a:p>
            <a:pPr lvl="1">
              <a:buFont typeface="Courier New" panose="020B0604020202020204" pitchFamily="34" charset="0"/>
              <a:buChar char="o"/>
            </a:pPr>
            <a:r>
              <a:rPr lang="en-US" dirty="0">
                <a:ea typeface="+mn-lt"/>
                <a:cs typeface="+mn-lt"/>
              </a:rPr>
              <a:t>hash is that modern hashing algorithms have almost no collision in practical application</a:t>
            </a:r>
            <a:endParaRPr lang="en-US" dirty="0">
              <a:cs typeface="Calibri"/>
            </a:endParaRPr>
          </a:p>
          <a:p>
            <a:pPr lvl="1">
              <a:buFont typeface="Courier New" panose="020B0604020202020204" pitchFamily="34" charset="0"/>
              <a:buChar char="o"/>
            </a:pPr>
            <a:r>
              <a:rPr lang="en-US" dirty="0">
                <a:ea typeface="+mn-lt"/>
                <a:cs typeface="+mn-lt"/>
              </a:rPr>
              <a:t>When cracking passwords, slow hashing algorithms are essential because the hacker will be automating the password to hash process.</a:t>
            </a:r>
            <a:endParaRPr lang="en-US" dirty="0">
              <a:cs typeface="Calibri"/>
            </a:endParaRPr>
          </a:p>
          <a:p>
            <a:pPr lvl="1">
              <a:buFont typeface="Courier New" panose="020B0604020202020204" pitchFamily="34" charset="0"/>
              <a:buChar char="o"/>
            </a:pPr>
            <a:endParaRPr lang="en-US" dirty="0">
              <a:cs typeface="Calibri"/>
            </a:endParaRPr>
          </a:p>
        </p:txBody>
      </p:sp>
    </p:spTree>
    <p:extLst>
      <p:ext uri="{BB962C8B-B14F-4D97-AF65-F5344CB8AC3E}">
        <p14:creationId xmlns:p14="http://schemas.microsoft.com/office/powerpoint/2010/main" val="1451742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37C296-39DB-06BF-2084-C396F7F60E97}"/>
              </a:ext>
            </a:extLst>
          </p:cNvPr>
          <p:cNvSpPr>
            <a:spLocks noGrp="1"/>
          </p:cNvSpPr>
          <p:nvPr>
            <p:ph idx="1"/>
          </p:nvPr>
        </p:nvSpPr>
        <p:spPr>
          <a:xfrm>
            <a:off x="838200" y="215361"/>
            <a:ext cx="10515600" cy="6493564"/>
          </a:xfrm>
        </p:spPr>
        <p:txBody>
          <a:bodyPr vert="horz" lIns="91440" tIns="45720" rIns="91440" bIns="45720" rtlCol="0" anchor="t">
            <a:normAutofit/>
          </a:bodyPr>
          <a:lstStyle/>
          <a:p>
            <a:r>
              <a:rPr lang="en-US" dirty="0">
                <a:ea typeface="+mn-lt"/>
                <a:cs typeface="+mn-lt"/>
              </a:rPr>
              <a:t>Let’s consider three cases where a hacker gets access to </a:t>
            </a:r>
            <a:r>
              <a:rPr lang="en-US" dirty="0" err="1">
                <a:ea typeface="+mn-lt"/>
                <a:cs typeface="+mn-lt"/>
              </a:rPr>
              <a:t>MegaMerch’s</a:t>
            </a:r>
            <a:r>
              <a:rPr lang="en-US" dirty="0">
                <a:ea typeface="+mn-lt"/>
                <a:cs typeface="+mn-lt"/>
              </a:rPr>
              <a:t> databases: </a:t>
            </a:r>
          </a:p>
          <a:p>
            <a:pPr lvl="1">
              <a:buFont typeface="Courier New" panose="020B0604020202020204" pitchFamily="34" charset="0"/>
              <a:buChar char="o"/>
            </a:pPr>
            <a:r>
              <a:rPr lang="en-US" sz="2800" dirty="0">
                <a:solidFill>
                  <a:srgbClr val="FF0000"/>
                </a:solidFill>
                <a:ea typeface="+mn-lt"/>
                <a:cs typeface="+mn-lt"/>
              </a:rPr>
              <a:t>Case #1</a:t>
            </a:r>
          </a:p>
          <a:p>
            <a:pPr lvl="1">
              <a:buFont typeface="Courier New" panose="020B0604020202020204" pitchFamily="34" charset="0"/>
              <a:buChar char="o"/>
            </a:pPr>
            <a:r>
              <a:rPr lang="en-US" sz="2800" dirty="0">
                <a:solidFill>
                  <a:srgbClr val="FF0000"/>
                </a:solidFill>
                <a:ea typeface="+mn-lt"/>
                <a:cs typeface="+mn-lt"/>
              </a:rPr>
              <a:t>Passwords stored in plain text </a:t>
            </a:r>
          </a:p>
          <a:p>
            <a:pPr lvl="1">
              <a:buFont typeface="Courier New" panose="020B0604020202020204" pitchFamily="34" charset="0"/>
              <a:buChar char="o"/>
            </a:pPr>
            <a:r>
              <a:rPr lang="en-US" sz="2800" dirty="0">
                <a:solidFill>
                  <a:srgbClr val="FF0000"/>
                </a:solidFill>
                <a:ea typeface="+mn-lt"/>
                <a:cs typeface="+mn-lt"/>
              </a:rPr>
              <a:t>Result : All passwords compromised</a:t>
            </a:r>
          </a:p>
          <a:p>
            <a:pPr lvl="1">
              <a:buFont typeface="Courier New" panose="020B0604020202020204" pitchFamily="34" charset="0"/>
              <a:buChar char="o"/>
            </a:pPr>
            <a:r>
              <a:rPr lang="en-US" sz="2800" dirty="0">
                <a:ea typeface="+mn-lt"/>
                <a:cs typeface="+mn-lt"/>
              </a:rPr>
              <a:t> </a:t>
            </a:r>
            <a:r>
              <a:rPr lang="en-US" sz="2800" dirty="0">
                <a:solidFill>
                  <a:schemeClr val="accent2">
                    <a:lumMod val="50000"/>
                  </a:schemeClr>
                </a:solidFill>
                <a:ea typeface="+mn-lt"/>
                <a:cs typeface="+mn-lt"/>
              </a:rPr>
              <a:t>Case #2 </a:t>
            </a:r>
          </a:p>
          <a:p>
            <a:pPr lvl="1">
              <a:buFont typeface="Courier New" panose="020B0604020202020204" pitchFamily="34" charset="0"/>
              <a:buChar char="o"/>
            </a:pPr>
            <a:r>
              <a:rPr lang="en-US" sz="2800" dirty="0">
                <a:solidFill>
                  <a:schemeClr val="accent2">
                    <a:lumMod val="50000"/>
                  </a:schemeClr>
                </a:solidFill>
                <a:ea typeface="+mn-lt"/>
                <a:cs typeface="+mn-lt"/>
              </a:rPr>
              <a:t>Passwords hashed with MD5 algorithm </a:t>
            </a:r>
          </a:p>
          <a:p>
            <a:pPr lvl="1">
              <a:buFont typeface="Courier New" panose="020B0604020202020204" pitchFamily="34" charset="0"/>
              <a:buChar char="o"/>
            </a:pPr>
            <a:r>
              <a:rPr lang="en-US" sz="2800" dirty="0">
                <a:solidFill>
                  <a:schemeClr val="accent2">
                    <a:lumMod val="50000"/>
                  </a:schemeClr>
                </a:solidFill>
                <a:ea typeface="+mn-lt"/>
                <a:cs typeface="+mn-lt"/>
              </a:rPr>
              <a:t>Result :  Hacker can crack some of the passwords using rainbow tables (a precomputed table of </a:t>
            </a:r>
            <a:r>
              <a:rPr lang="en-US" sz="2800" err="1">
                <a:solidFill>
                  <a:schemeClr val="accent2">
                    <a:lumMod val="50000"/>
                  </a:schemeClr>
                </a:solidFill>
                <a:ea typeface="+mn-lt"/>
                <a:cs typeface="+mn-lt"/>
              </a:rPr>
              <a:t>hash→password</a:t>
            </a:r>
            <a:r>
              <a:rPr lang="en-US" sz="2800" dirty="0">
                <a:solidFill>
                  <a:schemeClr val="accent2">
                    <a:lumMod val="50000"/>
                  </a:schemeClr>
                </a:solidFill>
                <a:ea typeface="+mn-lt"/>
                <a:cs typeface="+mn-lt"/>
              </a:rPr>
              <a:t>; weaker hashing algorithms are susceptible to these)</a:t>
            </a:r>
            <a:r>
              <a:rPr lang="en-US" sz="2800" dirty="0">
                <a:ea typeface="+mn-lt"/>
                <a:cs typeface="+mn-lt"/>
              </a:rPr>
              <a:t> </a:t>
            </a:r>
          </a:p>
          <a:p>
            <a:pPr lvl="1">
              <a:buFont typeface="Courier New" panose="020B0604020202020204" pitchFamily="34" charset="0"/>
              <a:buChar char="o"/>
            </a:pPr>
            <a:r>
              <a:rPr lang="en-US" sz="2800" dirty="0">
                <a:ea typeface="+mn-lt"/>
                <a:cs typeface="+mn-lt"/>
              </a:rPr>
              <a:t>Case #3 Passwords hashed with </a:t>
            </a:r>
            <a:r>
              <a:rPr lang="en-US" sz="2800" dirty="0" err="1">
                <a:ea typeface="+mn-lt"/>
                <a:cs typeface="+mn-lt"/>
              </a:rPr>
              <a:t>BCrypt</a:t>
            </a:r>
            <a:endParaRPr lang="en-US" sz="2800" dirty="0">
              <a:ea typeface="+mn-lt"/>
              <a:cs typeface="+mn-lt"/>
            </a:endParaRPr>
          </a:p>
          <a:p>
            <a:pPr lvl="1">
              <a:buFont typeface="Courier New" panose="020B0604020202020204" pitchFamily="34" charset="0"/>
              <a:buChar char="o"/>
            </a:pPr>
            <a:r>
              <a:rPr lang="en-US" sz="2800" dirty="0">
                <a:ea typeface="+mn-lt"/>
                <a:cs typeface="+mn-lt"/>
              </a:rPr>
              <a:t>Result : It is unlikely any passwords will be cracked</a:t>
            </a:r>
            <a:endParaRPr lang="en-US" sz="2800">
              <a:cs typeface="Calibri" panose="020F0502020204030204"/>
            </a:endParaRPr>
          </a:p>
        </p:txBody>
      </p:sp>
    </p:spTree>
    <p:extLst>
      <p:ext uri="{BB962C8B-B14F-4D97-AF65-F5344CB8AC3E}">
        <p14:creationId xmlns:p14="http://schemas.microsoft.com/office/powerpoint/2010/main" val="14079667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F2AAA-6FD6-2ECE-2E37-6CFE4AAEF119}"/>
              </a:ext>
            </a:extLst>
          </p:cNvPr>
          <p:cNvSpPr>
            <a:spLocks noGrp="1"/>
          </p:cNvSpPr>
          <p:nvPr>
            <p:ph type="title"/>
          </p:nvPr>
        </p:nvSpPr>
        <p:spPr/>
        <p:txBody>
          <a:bodyPr/>
          <a:lstStyle/>
          <a:p>
            <a:r>
              <a:rPr lang="en-US" dirty="0" err="1">
                <a:cs typeface="Calibri Light"/>
              </a:rPr>
              <a:t>Bcrypt</a:t>
            </a:r>
            <a:endParaRPr lang="en-US" dirty="0" err="1"/>
          </a:p>
        </p:txBody>
      </p:sp>
      <p:sp>
        <p:nvSpPr>
          <p:cNvPr id="3" name="Content Placeholder 2">
            <a:extLst>
              <a:ext uri="{FF2B5EF4-FFF2-40B4-BE49-F238E27FC236}">
                <a16:creationId xmlns:a16="http://schemas.microsoft.com/office/drawing/2014/main" id="{0D5D6530-F904-AE70-9A2D-0479C3A37EDC}"/>
              </a:ext>
            </a:extLst>
          </p:cNvPr>
          <p:cNvSpPr>
            <a:spLocks noGrp="1"/>
          </p:cNvSpPr>
          <p:nvPr>
            <p:ph idx="1"/>
          </p:nvPr>
        </p:nvSpPr>
        <p:spPr>
          <a:xfrm>
            <a:off x="838200" y="1394305"/>
            <a:ext cx="10515600" cy="5098959"/>
          </a:xfrm>
        </p:spPr>
        <p:txBody>
          <a:bodyPr vert="horz" lIns="91440" tIns="45720" rIns="91440" bIns="45720" rtlCol="0" anchor="t">
            <a:normAutofit fontScale="92500"/>
          </a:bodyPr>
          <a:lstStyle/>
          <a:p>
            <a:r>
              <a:rPr lang="en-US" dirty="0">
                <a:ea typeface="+mn-lt"/>
                <a:cs typeface="+mn-lt"/>
              </a:rPr>
              <a:t>the “B” comes from Blowfish Cipher, a symmetric-key block cipher</a:t>
            </a:r>
            <a:endParaRPr lang="en-US" dirty="0">
              <a:cs typeface="Calibri"/>
            </a:endParaRPr>
          </a:p>
          <a:p>
            <a:r>
              <a:rPr lang="en-US" dirty="0">
                <a:ea typeface="+mn-lt"/>
                <a:cs typeface="+mn-lt"/>
              </a:rPr>
              <a:t>“Crypt” is the name of the default hashing function that shipped with Unix OSs.</a:t>
            </a:r>
            <a:endParaRPr lang="en-US" dirty="0">
              <a:cs typeface="Calibri"/>
            </a:endParaRPr>
          </a:p>
          <a:p>
            <a:r>
              <a:rPr lang="en-US" dirty="0" err="1">
                <a:cs typeface="Calibri"/>
              </a:rPr>
              <a:t>Bcrypt</a:t>
            </a:r>
            <a:r>
              <a:rPr lang="en-US" dirty="0">
                <a:cs typeface="Calibri"/>
              </a:rPr>
              <a:t> is a valuable tool to use to hash and store passwords. Its major benefits include:</a:t>
            </a:r>
            <a:endParaRPr lang="en-US" dirty="0"/>
          </a:p>
          <a:p>
            <a:r>
              <a:rPr lang="en-US" dirty="0">
                <a:cs typeface="Calibri"/>
              </a:rPr>
              <a:t> </a:t>
            </a:r>
            <a:r>
              <a:rPr lang="en-US" dirty="0" err="1">
                <a:cs typeface="Calibri"/>
              </a:rPr>
              <a:t>Bcrypt</a:t>
            </a:r>
            <a:r>
              <a:rPr lang="en-US" dirty="0">
                <a:cs typeface="Calibri"/>
              </a:rPr>
              <a:t> is a slow-functioning algorithm that takes time to create password hashes and requires time to decrypt them, significantly slowing hacker attempts to break the </a:t>
            </a:r>
            <a:r>
              <a:rPr lang="en-US" dirty="0" err="1">
                <a:cs typeface="Calibri"/>
              </a:rPr>
              <a:t>bcrypt</a:t>
            </a:r>
            <a:r>
              <a:rPr lang="en-US" dirty="0">
                <a:cs typeface="Calibri"/>
              </a:rPr>
              <a:t> hash.</a:t>
            </a:r>
          </a:p>
          <a:p>
            <a:r>
              <a:rPr lang="en-US" dirty="0">
                <a:solidFill>
                  <a:srgbClr val="000000"/>
                </a:solidFill>
                <a:latin typeface="Calibri"/>
                <a:cs typeface="Calibri"/>
              </a:rPr>
              <a:t>Adding a random piece of data and hashing it with the password helps generate unique password hashes resistant to rainbow table attacks. </a:t>
            </a:r>
          </a:p>
          <a:p>
            <a:r>
              <a:rPr lang="en-US" dirty="0" err="1">
                <a:solidFill>
                  <a:srgbClr val="000000"/>
                </a:solidFill>
                <a:latin typeface="Calibri"/>
                <a:cs typeface="Calibri"/>
              </a:rPr>
              <a:t>Bcrypt</a:t>
            </a:r>
            <a:r>
              <a:rPr lang="en-US" dirty="0">
                <a:solidFill>
                  <a:srgbClr val="000000"/>
                </a:solidFill>
                <a:latin typeface="Calibri"/>
                <a:cs typeface="Calibri"/>
              </a:rPr>
              <a:t> is an adaptive tool that can evolve with hardware and software optimization.</a:t>
            </a:r>
          </a:p>
        </p:txBody>
      </p:sp>
    </p:spTree>
    <p:extLst>
      <p:ext uri="{BB962C8B-B14F-4D97-AF65-F5344CB8AC3E}">
        <p14:creationId xmlns:p14="http://schemas.microsoft.com/office/powerpoint/2010/main" val="15267952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5E2D1-D66C-85EC-6445-F6ADE9AF7D7C}"/>
              </a:ext>
            </a:extLst>
          </p:cNvPr>
          <p:cNvSpPr>
            <a:spLocks noGrp="1"/>
          </p:cNvSpPr>
          <p:nvPr>
            <p:ph type="title"/>
          </p:nvPr>
        </p:nvSpPr>
        <p:spPr/>
        <p:txBody>
          <a:bodyPr/>
          <a:lstStyle/>
          <a:p>
            <a:r>
              <a:rPr lang="en-US" dirty="0">
                <a:ea typeface="+mj-lt"/>
                <a:cs typeface="+mj-lt"/>
              </a:rPr>
              <a:t>PBKDF2</a:t>
            </a:r>
            <a:endParaRPr lang="en-US" dirty="0"/>
          </a:p>
        </p:txBody>
      </p:sp>
      <p:sp>
        <p:nvSpPr>
          <p:cNvPr id="3" name="Content Placeholder 2">
            <a:extLst>
              <a:ext uri="{FF2B5EF4-FFF2-40B4-BE49-F238E27FC236}">
                <a16:creationId xmlns:a16="http://schemas.microsoft.com/office/drawing/2014/main" id="{77BA618E-FC87-38C8-E4ED-EF9BD9381DC1}"/>
              </a:ext>
            </a:extLst>
          </p:cNvPr>
          <p:cNvSpPr>
            <a:spLocks noGrp="1"/>
          </p:cNvSpPr>
          <p:nvPr>
            <p:ph idx="1"/>
          </p:nvPr>
        </p:nvSpPr>
        <p:spPr>
          <a:xfrm>
            <a:off x="838200" y="1825625"/>
            <a:ext cx="10515600" cy="4768281"/>
          </a:xfrm>
        </p:spPr>
        <p:txBody>
          <a:bodyPr vert="horz" lIns="91440" tIns="45720" rIns="91440" bIns="45720" rtlCol="0" anchor="t">
            <a:normAutofit/>
          </a:bodyPr>
          <a:lstStyle/>
          <a:p>
            <a:r>
              <a:rPr lang="en-US" dirty="0">
                <a:solidFill>
                  <a:srgbClr val="000000"/>
                </a:solidFill>
                <a:ea typeface="+mn-lt"/>
                <a:cs typeface="+mn-lt"/>
              </a:rPr>
              <a:t>PBKDF2 (Password-Based Key Derivation Function 2) is a widely used method of protecting passwords. </a:t>
            </a:r>
          </a:p>
          <a:p>
            <a:r>
              <a:rPr lang="en-US" dirty="0">
                <a:solidFill>
                  <a:srgbClr val="000000"/>
                </a:solidFill>
                <a:ea typeface="+mn-lt"/>
                <a:cs typeface="+mn-lt"/>
              </a:rPr>
              <a:t>A key derivation function such as PBKDF2 is designed to make it more difficult for an attacker to crack a password, even if they possess the hashed password value.</a:t>
            </a:r>
          </a:p>
          <a:p>
            <a:r>
              <a:rPr lang="en-US" dirty="0">
                <a:solidFill>
                  <a:srgbClr val="000000"/>
                </a:solidFill>
                <a:ea typeface="+mn-lt"/>
                <a:cs typeface="+mn-lt"/>
              </a:rPr>
              <a:t>PBKDF2 is based on a concept known as key stretching. </a:t>
            </a:r>
          </a:p>
          <a:p>
            <a:r>
              <a:rPr lang="en-US" dirty="0">
                <a:solidFill>
                  <a:srgbClr val="000000"/>
                </a:solidFill>
                <a:ea typeface="+mn-lt"/>
                <a:cs typeface="+mn-lt"/>
              </a:rPr>
              <a:t>Key stretching algorithms will rapidly generate a hash on the first attempt, but each additional attempt will become slower and slower.</a:t>
            </a:r>
          </a:p>
          <a:p>
            <a:r>
              <a:rPr lang="en-US" dirty="0">
                <a:solidFill>
                  <a:srgbClr val="000000"/>
                </a:solidFill>
                <a:ea typeface="+mn-lt"/>
                <a:cs typeface="+mn-lt"/>
              </a:rPr>
              <a:t> As a result, PBKDF2 makes brute forcing a computationally expensive process.</a:t>
            </a:r>
            <a:endParaRPr lang="en-US"/>
          </a:p>
        </p:txBody>
      </p:sp>
    </p:spTree>
    <p:extLst>
      <p:ext uri="{BB962C8B-B14F-4D97-AF65-F5344CB8AC3E}">
        <p14:creationId xmlns:p14="http://schemas.microsoft.com/office/powerpoint/2010/main" val="20560148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ADB8A-3E40-E0B6-5056-FB27F3632282}"/>
              </a:ext>
            </a:extLst>
          </p:cNvPr>
          <p:cNvSpPr>
            <a:spLocks noGrp="1"/>
          </p:cNvSpPr>
          <p:nvPr>
            <p:ph type="title"/>
          </p:nvPr>
        </p:nvSpPr>
        <p:spPr/>
        <p:txBody>
          <a:bodyPr/>
          <a:lstStyle/>
          <a:p>
            <a:r>
              <a:rPr lang="en-US" dirty="0">
                <a:cs typeface="Calibri Light"/>
              </a:rPr>
              <a:t>2FA</a:t>
            </a:r>
            <a:endParaRPr lang="en-US" dirty="0"/>
          </a:p>
        </p:txBody>
      </p:sp>
      <p:sp>
        <p:nvSpPr>
          <p:cNvPr id="3" name="Content Placeholder 2">
            <a:extLst>
              <a:ext uri="{FF2B5EF4-FFF2-40B4-BE49-F238E27FC236}">
                <a16:creationId xmlns:a16="http://schemas.microsoft.com/office/drawing/2014/main" id="{73F2D2AC-5E08-09A3-B9CA-565DD71D7F96}"/>
              </a:ext>
            </a:extLst>
          </p:cNvPr>
          <p:cNvSpPr>
            <a:spLocks noGrp="1"/>
          </p:cNvSpPr>
          <p:nvPr>
            <p:ph idx="1"/>
          </p:nvPr>
        </p:nvSpPr>
        <p:spPr/>
        <p:txBody>
          <a:bodyPr vert="horz" lIns="91440" tIns="45720" rIns="91440" bIns="45720" rtlCol="0" anchor="t">
            <a:normAutofit/>
          </a:bodyPr>
          <a:lstStyle/>
          <a:p>
            <a:r>
              <a:rPr lang="en-US" dirty="0">
                <a:solidFill>
                  <a:srgbClr val="000000"/>
                </a:solidFill>
                <a:latin typeface="Calibri"/>
                <a:cs typeface="Calibri"/>
              </a:rPr>
              <a:t>Two Factor Authentication (2FA or TFA) is the technical term for the process of requiring a user to verify their identity in two unique ways before they are granted access to the system. </a:t>
            </a:r>
            <a:endParaRPr lang="en-US" dirty="0"/>
          </a:p>
          <a:p>
            <a:r>
              <a:rPr lang="en-US" dirty="0">
                <a:solidFill>
                  <a:srgbClr val="000000"/>
                </a:solidFill>
                <a:latin typeface="Calibri"/>
                <a:cs typeface="Calibri"/>
              </a:rPr>
              <a:t>Traditionally, users have relied on and are accustomed to authentication systems that require them to provide a unique identifier such as an email address, username or phone number and a correct password or pin to gain access to the system.</a:t>
            </a:r>
            <a:endParaRPr lang="en-US" dirty="0"/>
          </a:p>
        </p:txBody>
      </p:sp>
    </p:spTree>
    <p:extLst>
      <p:ext uri="{BB962C8B-B14F-4D97-AF65-F5344CB8AC3E}">
        <p14:creationId xmlns:p14="http://schemas.microsoft.com/office/powerpoint/2010/main" val="5314096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CF4A8-6D5F-62F0-1A4E-366C6CAA0F1B}"/>
              </a:ext>
            </a:extLst>
          </p:cNvPr>
          <p:cNvSpPr>
            <a:spLocks noGrp="1"/>
          </p:cNvSpPr>
          <p:nvPr>
            <p:ph type="title"/>
          </p:nvPr>
        </p:nvSpPr>
        <p:spPr/>
        <p:txBody>
          <a:bodyPr/>
          <a:lstStyle/>
          <a:p>
            <a:r>
              <a:rPr lang="en-US" dirty="0">
                <a:ea typeface="+mj-lt"/>
                <a:cs typeface="+mj-lt"/>
              </a:rPr>
              <a:t>PII and Financial Data</a:t>
            </a:r>
            <a:endParaRPr lang="en-US" dirty="0"/>
          </a:p>
        </p:txBody>
      </p:sp>
      <p:sp>
        <p:nvSpPr>
          <p:cNvPr id="3" name="Content Placeholder 2">
            <a:extLst>
              <a:ext uri="{FF2B5EF4-FFF2-40B4-BE49-F238E27FC236}">
                <a16:creationId xmlns:a16="http://schemas.microsoft.com/office/drawing/2014/main" id="{8BE5A69F-3EB5-7157-8ED5-018833436C35}"/>
              </a:ext>
            </a:extLst>
          </p:cNvPr>
          <p:cNvSpPr>
            <a:spLocks noGrp="1"/>
          </p:cNvSpPr>
          <p:nvPr>
            <p:ph idx="1"/>
          </p:nvPr>
        </p:nvSpPr>
        <p:spPr>
          <a:xfrm>
            <a:off x="838200" y="1466192"/>
            <a:ext cx="10515600" cy="5070204"/>
          </a:xfrm>
        </p:spPr>
        <p:txBody>
          <a:bodyPr vert="horz" lIns="91440" tIns="45720" rIns="91440" bIns="45720" rtlCol="0" anchor="t">
            <a:normAutofit fontScale="85000" lnSpcReduction="10000"/>
          </a:bodyPr>
          <a:lstStyle/>
          <a:p>
            <a:r>
              <a:rPr lang="en-US" dirty="0">
                <a:solidFill>
                  <a:srgbClr val="000000"/>
                </a:solidFill>
                <a:ea typeface="+mn-lt"/>
                <a:cs typeface="+mn-lt"/>
              </a:rPr>
              <a:t>Personally identifiable information (PII) uses data to confirm an individual's identity. </a:t>
            </a:r>
          </a:p>
          <a:p>
            <a:r>
              <a:rPr lang="en-US" dirty="0">
                <a:solidFill>
                  <a:srgbClr val="000000"/>
                </a:solidFill>
                <a:ea typeface="+mn-lt"/>
                <a:cs typeface="+mn-lt"/>
              </a:rPr>
              <a:t>Sensitive personally identifiable information can include your full name, Social Security Number, driver's license, financial information, and medical records.</a:t>
            </a:r>
          </a:p>
          <a:p>
            <a:r>
              <a:rPr lang="en-US">
                <a:solidFill>
                  <a:srgbClr val="000000"/>
                </a:solidFill>
                <a:ea typeface="+mn-lt"/>
                <a:cs typeface="+mn-lt"/>
              </a:rPr>
              <a:t>Non-sensitive personally identifiable information is easily accessible from public sources and can include your zip code, race, gender, and date of birth.</a:t>
            </a:r>
            <a:endParaRPr lang="en-US" dirty="0">
              <a:solidFill>
                <a:srgbClr val="000000"/>
              </a:solidFill>
              <a:cs typeface="Calibri"/>
            </a:endParaRPr>
          </a:p>
          <a:p>
            <a:r>
              <a:rPr lang="en-US">
                <a:solidFill>
                  <a:srgbClr val="000000"/>
                </a:solidFill>
                <a:ea typeface="+mn-lt"/>
                <a:cs typeface="+mn-lt"/>
              </a:rPr>
              <a:t>Passports contain personally identifiable information.</a:t>
            </a:r>
            <a:endParaRPr lang="en-US"/>
          </a:p>
          <a:p>
            <a:r>
              <a:rPr lang="en-US">
                <a:solidFill>
                  <a:srgbClr val="000000"/>
                </a:solidFill>
                <a:ea typeface="+mn-lt"/>
                <a:cs typeface="+mn-lt"/>
              </a:rPr>
              <a:t>Social media sites may be considered non-sensitive personally identifiable information.</a:t>
            </a:r>
            <a:endParaRPr lang="en-US"/>
          </a:p>
          <a:p>
            <a:r>
              <a:rPr lang="en-US" dirty="0">
                <a:solidFill>
                  <a:srgbClr val="000000"/>
                </a:solidFill>
                <a:ea typeface="+mn-lt"/>
                <a:cs typeface="+mn-lt"/>
              </a:rPr>
              <a:t>Similar rules to PII apply to financial data, such as credit card numbers (also included under PII laws in some countries).</a:t>
            </a:r>
          </a:p>
          <a:p>
            <a:r>
              <a:rPr lang="en-US" dirty="0">
                <a:solidFill>
                  <a:srgbClr val="000000"/>
                </a:solidFill>
                <a:ea typeface="+mn-lt"/>
                <a:cs typeface="+mn-lt"/>
              </a:rPr>
              <a:t>A smaller company might find that rather than storing PII and financial details on its own, a more effective strategy could be to outsource the storage of such data to a compliant business that specializes in data storage of that type.</a:t>
            </a:r>
          </a:p>
        </p:txBody>
      </p:sp>
    </p:spTree>
    <p:extLst>
      <p:ext uri="{BB962C8B-B14F-4D97-AF65-F5344CB8AC3E}">
        <p14:creationId xmlns:p14="http://schemas.microsoft.com/office/powerpoint/2010/main" val="18099686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C13D5-1E0E-0654-0306-79B6A58255EF}"/>
              </a:ext>
            </a:extLst>
          </p:cNvPr>
          <p:cNvSpPr>
            <a:spLocks noGrp="1"/>
          </p:cNvSpPr>
          <p:nvPr>
            <p:ph type="title"/>
          </p:nvPr>
        </p:nvSpPr>
        <p:spPr/>
        <p:txBody>
          <a:bodyPr/>
          <a:lstStyle/>
          <a:p>
            <a:r>
              <a:rPr lang="en-US" dirty="0">
                <a:ea typeface="+mj-lt"/>
                <a:cs typeface="+mj-lt"/>
              </a:rPr>
              <a:t>Searching</a:t>
            </a:r>
            <a:endParaRPr lang="en-US" dirty="0"/>
          </a:p>
        </p:txBody>
      </p:sp>
      <p:sp>
        <p:nvSpPr>
          <p:cNvPr id="3" name="Content Placeholder 2">
            <a:extLst>
              <a:ext uri="{FF2B5EF4-FFF2-40B4-BE49-F238E27FC236}">
                <a16:creationId xmlns:a16="http://schemas.microsoft.com/office/drawing/2014/main" id="{85368B9D-3BA8-39B1-9E97-EDF230BC3C34}"/>
              </a:ext>
            </a:extLst>
          </p:cNvPr>
          <p:cNvSpPr>
            <a:spLocks noGrp="1"/>
          </p:cNvSpPr>
          <p:nvPr>
            <p:ph idx="1"/>
          </p:nvPr>
        </p:nvSpPr>
        <p:spPr/>
        <p:txBody>
          <a:bodyPr vert="horz" lIns="91440" tIns="45720" rIns="91440" bIns="45720" rtlCol="0" anchor="t">
            <a:normAutofit/>
          </a:bodyPr>
          <a:lstStyle/>
          <a:p>
            <a:r>
              <a:rPr lang="en-US" dirty="0">
                <a:ea typeface="+mn-lt"/>
                <a:cs typeface="+mn-lt"/>
              </a:rPr>
              <a:t>Any web application implementing its own custom search engine should consider the implications of such a task. </a:t>
            </a:r>
          </a:p>
          <a:p>
            <a:r>
              <a:rPr lang="en-US" dirty="0">
                <a:ea typeface="+mn-lt"/>
                <a:cs typeface="+mn-lt"/>
              </a:rPr>
              <a:t>Search engines typically require data to be stored in a way that makes particular queries very efficient. </a:t>
            </a:r>
          </a:p>
          <a:p>
            <a:r>
              <a:rPr lang="en-US" dirty="0">
                <a:ea typeface="+mn-lt"/>
                <a:cs typeface="+mn-lt"/>
              </a:rPr>
              <a:t>How data is ideally stored in a search engine is much different than how data is ideally stored in a general purpose database.</a:t>
            </a:r>
          </a:p>
          <a:p>
            <a:r>
              <a:rPr lang="en-US" dirty="0">
                <a:ea typeface="+mn-lt"/>
                <a:cs typeface="+mn-lt"/>
              </a:rPr>
              <a:t>most web applications implementing a search engine will need a separate database from which the search engine draws its data.</a:t>
            </a:r>
            <a:endParaRPr lang="en-US" dirty="0">
              <a:cs typeface="Calibri"/>
            </a:endParaRPr>
          </a:p>
        </p:txBody>
      </p:sp>
    </p:spTree>
    <p:extLst>
      <p:ext uri="{BB962C8B-B14F-4D97-AF65-F5344CB8AC3E}">
        <p14:creationId xmlns:p14="http://schemas.microsoft.com/office/powerpoint/2010/main" val="1759954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77022-2ABF-ACCF-D0D5-89925DF4DBD3}"/>
              </a:ext>
            </a:extLst>
          </p:cNvPr>
          <p:cNvSpPr>
            <a:spLocks noGrp="1"/>
          </p:cNvSpPr>
          <p:nvPr>
            <p:ph type="title"/>
          </p:nvPr>
        </p:nvSpPr>
        <p:spPr/>
        <p:txBody>
          <a:bodyPr/>
          <a:lstStyle/>
          <a:p>
            <a:endParaRPr lang="en-US"/>
          </a:p>
        </p:txBody>
      </p:sp>
      <p:pic>
        <p:nvPicPr>
          <p:cNvPr id="5" name="Content Placeholder 4" descr="A screenshot of a computer&#10;&#10;Description automatically generated">
            <a:extLst>
              <a:ext uri="{FF2B5EF4-FFF2-40B4-BE49-F238E27FC236}">
                <a16:creationId xmlns:a16="http://schemas.microsoft.com/office/drawing/2014/main" id="{CED93FD4-BA3D-D1A1-669D-45A8C0B73069}"/>
              </a:ext>
            </a:extLst>
          </p:cNvPr>
          <p:cNvPicPr>
            <a:picLocks noGrp="1" noChangeAspect="1"/>
          </p:cNvPicPr>
          <p:nvPr>
            <p:ph idx="1"/>
          </p:nvPr>
        </p:nvPicPr>
        <p:blipFill rotWithShape="1">
          <a:blip r:embed="rId2"/>
          <a:srcRect l="21336" t="32343" r="26531" b="10561"/>
          <a:stretch/>
        </p:blipFill>
        <p:spPr>
          <a:xfrm>
            <a:off x="644745" y="1034870"/>
            <a:ext cx="7025365" cy="4339110"/>
          </a:xfrm>
        </p:spPr>
      </p:pic>
      <p:sp>
        <p:nvSpPr>
          <p:cNvPr id="6" name="TextBox 5">
            <a:extLst>
              <a:ext uri="{FF2B5EF4-FFF2-40B4-BE49-F238E27FC236}">
                <a16:creationId xmlns:a16="http://schemas.microsoft.com/office/drawing/2014/main" id="{52BA5C83-037D-3131-A596-A54AD812951D}"/>
              </a:ext>
            </a:extLst>
          </p:cNvPr>
          <p:cNvSpPr txBox="1"/>
          <p:nvPr/>
        </p:nvSpPr>
        <p:spPr>
          <a:xfrm>
            <a:off x="8045570" y="2352135"/>
            <a:ext cx="27432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4D5156"/>
                </a:solidFill>
                <a:latin typeface="arial"/>
                <a:cs typeface="arial"/>
              </a:rPr>
              <a:t>Elasticsearch is a search engine based on the Lucene library. It provides a distributed, multitenant-capable full-text search engine with an HTTP web interface and schema-free JSON documents</a:t>
            </a:r>
            <a:endParaRPr lang="en-US"/>
          </a:p>
        </p:txBody>
      </p:sp>
    </p:spTree>
    <p:extLst>
      <p:ext uri="{BB962C8B-B14F-4D97-AF65-F5344CB8AC3E}">
        <p14:creationId xmlns:p14="http://schemas.microsoft.com/office/powerpoint/2010/main" val="42198849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A5211-11B6-6AB7-C459-C4990C8597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B72572-F34C-D409-C0F9-B9EE2227A136}"/>
              </a:ext>
            </a:extLst>
          </p:cNvPr>
          <p:cNvSpPr>
            <a:spLocks noGrp="1"/>
          </p:cNvSpPr>
          <p:nvPr>
            <p:ph type="title"/>
          </p:nvPr>
        </p:nvSpPr>
        <p:spPr/>
        <p:txBody>
          <a:bodyPr/>
          <a:lstStyle/>
          <a:p>
            <a:r>
              <a:rPr lang="en-US" dirty="0">
                <a:cs typeface="Calibri Light"/>
              </a:rPr>
              <a:t>Outline</a:t>
            </a:r>
            <a:endParaRPr lang="en-US" dirty="0"/>
          </a:p>
        </p:txBody>
      </p:sp>
      <p:sp>
        <p:nvSpPr>
          <p:cNvPr id="3" name="Content Placeholder 2">
            <a:extLst>
              <a:ext uri="{FF2B5EF4-FFF2-40B4-BE49-F238E27FC236}">
                <a16:creationId xmlns:a16="http://schemas.microsoft.com/office/drawing/2014/main" id="{1692A209-60DB-94DC-AAA5-08E194BDA9C5}"/>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Securing Modern Web Applications</a:t>
            </a:r>
          </a:p>
          <a:p>
            <a:r>
              <a:rPr lang="en-US" dirty="0">
                <a:ea typeface="+mn-lt"/>
                <a:cs typeface="+mn-lt"/>
              </a:rPr>
              <a:t>Secure Application Architecture</a:t>
            </a:r>
          </a:p>
          <a:p>
            <a:r>
              <a:rPr lang="en-US" dirty="0">
                <a:solidFill>
                  <a:srgbClr val="FF0000"/>
                </a:solidFill>
                <a:ea typeface="+mn-lt"/>
                <a:cs typeface="+mn-lt"/>
              </a:rPr>
              <a:t>Reviewing Code for Security</a:t>
            </a:r>
          </a:p>
          <a:p>
            <a:r>
              <a:rPr lang="en-US" dirty="0">
                <a:ea typeface="+mn-lt"/>
                <a:cs typeface="+mn-lt"/>
              </a:rPr>
              <a:t>Vulnerability Discovery, </a:t>
            </a:r>
            <a:endParaRPr lang="en-US" dirty="0">
              <a:cs typeface="Calibri"/>
            </a:endParaRPr>
          </a:p>
          <a:p>
            <a:r>
              <a:rPr lang="en-US" dirty="0">
                <a:ea typeface="+mn-lt"/>
                <a:cs typeface="+mn-lt"/>
              </a:rPr>
              <a:t>Defending Against XSS Attacks, Defending Against CSRF Attacks, </a:t>
            </a:r>
            <a:endParaRPr lang="en-US" dirty="0"/>
          </a:p>
          <a:p>
            <a:r>
              <a:rPr lang="en-US" dirty="0">
                <a:ea typeface="+mn-lt"/>
                <a:cs typeface="+mn-lt"/>
              </a:rPr>
              <a:t>Defending Against XXE, Defending Against Injection attacks, </a:t>
            </a:r>
            <a:endParaRPr lang="en-US"/>
          </a:p>
          <a:p>
            <a:r>
              <a:rPr lang="en-US" dirty="0">
                <a:ea typeface="+mn-lt"/>
                <a:cs typeface="+mn-lt"/>
              </a:rPr>
              <a:t>Defending Against DoS, Defending against CORS based attacks</a:t>
            </a:r>
            <a:endParaRPr lang="en-US" dirty="0"/>
          </a:p>
          <a:p>
            <a:r>
              <a:rPr lang="en-US" dirty="0">
                <a:ea typeface="+mn-lt"/>
                <a:cs typeface="+mn-lt"/>
              </a:rPr>
              <a:t>Self-learning Topics: Implement the countermeasures to the attacks using open-source tools</a:t>
            </a:r>
            <a:endParaRPr lang="en-US" dirty="0"/>
          </a:p>
        </p:txBody>
      </p:sp>
    </p:spTree>
    <p:extLst>
      <p:ext uri="{BB962C8B-B14F-4D97-AF65-F5344CB8AC3E}">
        <p14:creationId xmlns:p14="http://schemas.microsoft.com/office/powerpoint/2010/main" val="34630446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1289B-2CD8-E35E-4831-5A9BEE8BABC8}"/>
              </a:ext>
            </a:extLst>
          </p:cNvPr>
          <p:cNvSpPr>
            <a:spLocks noGrp="1"/>
          </p:cNvSpPr>
          <p:nvPr>
            <p:ph type="ctrTitle"/>
          </p:nvPr>
        </p:nvSpPr>
        <p:spPr/>
        <p:txBody>
          <a:bodyPr/>
          <a:lstStyle/>
          <a:p>
            <a:r>
              <a:rPr lang="en-US" dirty="0">
                <a:cs typeface="Calibri Light"/>
              </a:rPr>
              <a:t>Reviewing Code for Security</a:t>
            </a:r>
            <a:endParaRPr lang="en-US" dirty="0"/>
          </a:p>
        </p:txBody>
      </p:sp>
      <p:sp>
        <p:nvSpPr>
          <p:cNvPr id="3" name="Content Placeholder 2">
            <a:extLst>
              <a:ext uri="{FF2B5EF4-FFF2-40B4-BE49-F238E27FC236}">
                <a16:creationId xmlns:a16="http://schemas.microsoft.com/office/drawing/2014/main" id="{C9F3753C-0481-65CA-8BC1-094F966616E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13778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7ACA44-98AE-7F82-B16B-9AC811D5D30B}"/>
              </a:ext>
            </a:extLst>
          </p:cNvPr>
          <p:cNvSpPr>
            <a:spLocks noGrp="1"/>
          </p:cNvSpPr>
          <p:nvPr>
            <p:ph idx="1"/>
          </p:nvPr>
        </p:nvSpPr>
        <p:spPr>
          <a:xfrm>
            <a:off x="838200" y="229739"/>
            <a:ext cx="10515600" cy="5947224"/>
          </a:xfrm>
        </p:spPr>
        <p:txBody>
          <a:bodyPr vert="horz" lIns="91440" tIns="45720" rIns="91440" bIns="45720" rtlCol="0" anchor="t">
            <a:normAutofit fontScale="92500"/>
          </a:bodyPr>
          <a:lstStyle/>
          <a:p>
            <a:r>
              <a:rPr lang="en-US" dirty="0">
                <a:solidFill>
                  <a:srgbClr val="000000"/>
                </a:solidFill>
                <a:ea typeface="+mn-lt"/>
                <a:cs typeface="+mn-lt"/>
              </a:rPr>
              <a:t>Code review is a critical component of the software development lifecycle. </a:t>
            </a:r>
          </a:p>
          <a:p>
            <a:r>
              <a:rPr lang="en-US" dirty="0">
                <a:solidFill>
                  <a:srgbClr val="000000"/>
                </a:solidFill>
                <a:ea typeface="+mn-lt"/>
                <a:cs typeface="+mn-lt"/>
              </a:rPr>
              <a:t>It serves as a crucial checkpoint to identify and rectify security vulnerabilities, ensuring that software remains resilient to potential threats throughout its lifespan</a:t>
            </a:r>
          </a:p>
          <a:p>
            <a:pPr>
              <a:lnSpc>
                <a:spcPct val="80000"/>
              </a:lnSpc>
            </a:pPr>
            <a:r>
              <a:rPr lang="en-US" dirty="0">
                <a:solidFill>
                  <a:srgbClr val="000000"/>
                </a:solidFill>
                <a:ea typeface="+mn-lt"/>
                <a:cs typeface="+mn-lt"/>
              </a:rPr>
              <a:t>Purpose: The primary goal of a secure code review is to identify and mitigate security vulnerabilities in the codebase, reducing the risk of potential security breaches and vulnerabilities being exploited.</a:t>
            </a:r>
            <a:endParaRPr lang="en-US" dirty="0">
              <a:solidFill>
                <a:srgbClr val="000000"/>
              </a:solidFill>
              <a:cs typeface="Calibri"/>
            </a:endParaRPr>
          </a:p>
          <a:p>
            <a:pPr>
              <a:lnSpc>
                <a:spcPct val="80000"/>
              </a:lnSpc>
            </a:pPr>
            <a:r>
              <a:rPr lang="en-US">
                <a:solidFill>
                  <a:srgbClr val="000000"/>
                </a:solidFill>
                <a:ea typeface="+mn-lt"/>
                <a:cs typeface="+mn-lt"/>
              </a:rPr>
              <a:t>Focus: A secure code review specifically looks for security-related issues, such as input validation problems, authentication and authorization flaws, data leakage, hardcoded data, SQL injection, Cross-Site Scripting (XSS), and other vulnerabilities that could be exploited by attackers.</a:t>
            </a:r>
            <a:endParaRPr lang="en-US"/>
          </a:p>
          <a:p>
            <a:pPr>
              <a:lnSpc>
                <a:spcPct val="80000"/>
              </a:lnSpc>
            </a:pPr>
            <a:r>
              <a:rPr lang="en-US">
                <a:solidFill>
                  <a:srgbClr val="000000"/>
                </a:solidFill>
                <a:ea typeface="+mn-lt"/>
                <a:cs typeface="+mn-lt"/>
              </a:rPr>
              <a:t>Participants: Secure code reviews often involve security experts or specialized security teams in addition to developers. These experts have a deep understanding of security principles and threats and can identify potential security issues that might be missed in a standard code review.</a:t>
            </a:r>
            <a:endParaRPr lang="en-US"/>
          </a:p>
          <a:p>
            <a:endParaRPr lang="en-US" dirty="0">
              <a:solidFill>
                <a:srgbClr val="000000"/>
              </a:solidFill>
              <a:cs typeface="Calibri"/>
            </a:endParaRPr>
          </a:p>
        </p:txBody>
      </p:sp>
    </p:spTree>
    <p:extLst>
      <p:ext uri="{BB962C8B-B14F-4D97-AF65-F5344CB8AC3E}">
        <p14:creationId xmlns:p14="http://schemas.microsoft.com/office/powerpoint/2010/main" val="34909876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98072-F7C6-F174-D85F-B8316C5F430B}"/>
              </a:ext>
            </a:extLst>
          </p:cNvPr>
          <p:cNvSpPr>
            <a:spLocks noGrp="1"/>
          </p:cNvSpPr>
          <p:nvPr>
            <p:ph type="title"/>
          </p:nvPr>
        </p:nvSpPr>
        <p:spPr/>
        <p:txBody>
          <a:bodyPr/>
          <a:lstStyle/>
          <a:p>
            <a:r>
              <a:rPr lang="en-US" dirty="0">
                <a:ea typeface="+mj-lt"/>
                <a:cs typeface="+mj-lt"/>
              </a:rPr>
              <a:t>How to Start a Code Review</a:t>
            </a:r>
            <a:endParaRPr lang="en-US" dirty="0"/>
          </a:p>
        </p:txBody>
      </p:sp>
      <p:sp>
        <p:nvSpPr>
          <p:cNvPr id="3" name="Content Placeholder 2">
            <a:extLst>
              <a:ext uri="{FF2B5EF4-FFF2-40B4-BE49-F238E27FC236}">
                <a16:creationId xmlns:a16="http://schemas.microsoft.com/office/drawing/2014/main" id="{5E97B6F2-9ADD-956B-D356-99E55720FF09}"/>
              </a:ext>
            </a:extLst>
          </p:cNvPr>
          <p:cNvSpPr>
            <a:spLocks noGrp="1"/>
          </p:cNvSpPr>
          <p:nvPr>
            <p:ph idx="1"/>
          </p:nvPr>
        </p:nvSpPr>
        <p:spPr>
          <a:xfrm>
            <a:off x="838200" y="1408682"/>
            <a:ext cx="10515600" cy="5314620"/>
          </a:xfrm>
        </p:spPr>
        <p:txBody>
          <a:bodyPr vert="horz" lIns="91440" tIns="45720" rIns="91440" bIns="45720" rtlCol="0" anchor="t">
            <a:normAutofit/>
          </a:bodyPr>
          <a:lstStyle/>
          <a:p>
            <a:r>
              <a:rPr lang="en-US" dirty="0">
                <a:ea typeface="+mn-lt"/>
                <a:cs typeface="+mn-lt"/>
              </a:rPr>
              <a:t>A first step in reviewing code for security is to pull the branch in question down to a local development machine. </a:t>
            </a:r>
          </a:p>
          <a:p>
            <a:r>
              <a:rPr lang="en-US" dirty="0">
                <a:ea typeface="+mn-lt"/>
                <a:cs typeface="+mn-lt"/>
              </a:rPr>
              <a:t>Here is a common local review flow that can be done from the terminal: </a:t>
            </a:r>
          </a:p>
          <a:p>
            <a:pPr lvl="1">
              <a:buFont typeface="Courier New" panose="020B0604020202020204" pitchFamily="34" charset="0"/>
              <a:buChar char="o"/>
            </a:pPr>
            <a:r>
              <a:rPr lang="en-US" dirty="0">
                <a:ea typeface="+mn-lt"/>
                <a:cs typeface="+mn-lt"/>
              </a:rPr>
              <a:t> Check out master with git checkout master. </a:t>
            </a:r>
          </a:p>
          <a:p>
            <a:pPr lvl="1">
              <a:buFont typeface="Courier New" panose="020B0604020202020204" pitchFamily="34" charset="0"/>
              <a:buChar char="o"/>
            </a:pPr>
            <a:r>
              <a:rPr lang="en-US" dirty="0">
                <a:ea typeface="+mn-lt"/>
                <a:cs typeface="+mn-lt"/>
              </a:rPr>
              <a:t>Fetch and merge the latest master with git pull origin master. </a:t>
            </a:r>
          </a:p>
          <a:p>
            <a:pPr lvl="1">
              <a:buFont typeface="Courier New" panose="020B0604020202020204" pitchFamily="34" charset="0"/>
              <a:buChar char="o"/>
            </a:pPr>
            <a:r>
              <a:rPr lang="en-US">
                <a:ea typeface="+mn-lt"/>
                <a:cs typeface="+mn-lt"/>
              </a:rPr>
              <a:t>Check out the feature branch with git checkout &lt;username&gt;/feature. </a:t>
            </a:r>
          </a:p>
          <a:p>
            <a:pPr lvl="1">
              <a:buFont typeface="Courier New" panose="020B0604020202020204" pitchFamily="34" charset="0"/>
              <a:buChar char="o"/>
            </a:pPr>
            <a:r>
              <a:rPr lang="en-US" dirty="0">
                <a:ea typeface="+mn-lt"/>
                <a:cs typeface="+mn-lt"/>
              </a:rPr>
              <a:t>Run a diff against the master with git diff origin/master... </a:t>
            </a:r>
          </a:p>
          <a:p>
            <a:r>
              <a:rPr lang="en-US" dirty="0">
                <a:ea typeface="+mn-lt"/>
                <a:cs typeface="+mn-lt"/>
              </a:rPr>
              <a:t>The git diff command should return two things: </a:t>
            </a:r>
            <a:endParaRPr lang="en-US">
              <a:ea typeface="+mn-lt"/>
              <a:cs typeface="+mn-lt"/>
            </a:endParaRPr>
          </a:p>
          <a:p>
            <a:pPr lvl="1">
              <a:buFont typeface="Courier New" panose="020B0604020202020204" pitchFamily="34" charset="0"/>
              <a:buChar char="o"/>
            </a:pPr>
            <a:r>
              <a:rPr lang="en-US" dirty="0">
                <a:ea typeface="+mn-lt"/>
                <a:cs typeface="+mn-lt"/>
              </a:rPr>
              <a:t>A list of files that differ on master and the current branch </a:t>
            </a:r>
          </a:p>
          <a:p>
            <a:pPr lvl="1">
              <a:buFont typeface="Courier New" panose="020B0604020202020204" pitchFamily="34" charset="0"/>
              <a:buChar char="o"/>
            </a:pPr>
            <a:r>
              <a:rPr lang="en-US" dirty="0">
                <a:ea typeface="+mn-lt"/>
                <a:cs typeface="+mn-lt"/>
              </a:rPr>
              <a:t>A list of changes in those files between master and the current branch </a:t>
            </a:r>
            <a:endParaRPr lang="en-US">
              <a:cs typeface="Calibri"/>
            </a:endParaRPr>
          </a:p>
        </p:txBody>
      </p:sp>
    </p:spTree>
    <p:extLst>
      <p:ext uri="{BB962C8B-B14F-4D97-AF65-F5344CB8AC3E}">
        <p14:creationId xmlns:p14="http://schemas.microsoft.com/office/powerpoint/2010/main" val="21158190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EA725-37E3-3A78-C2BE-24B0B1F5DF7E}"/>
              </a:ext>
            </a:extLst>
          </p:cNvPr>
          <p:cNvSpPr>
            <a:spLocks noGrp="1"/>
          </p:cNvSpPr>
          <p:nvPr>
            <p:ph type="title"/>
          </p:nvPr>
        </p:nvSpPr>
        <p:spPr/>
        <p:txBody>
          <a:bodyPr/>
          <a:lstStyle/>
          <a:p>
            <a:r>
              <a:rPr lang="en-US" dirty="0">
                <a:ea typeface="+mj-lt"/>
                <a:cs typeface="+mj-lt"/>
              </a:rPr>
              <a:t>Archetypical Vulnerabilities Versus Custom Logic Bugs</a:t>
            </a:r>
            <a:endParaRPr lang="en-US" dirty="0"/>
          </a:p>
        </p:txBody>
      </p:sp>
      <p:sp>
        <p:nvSpPr>
          <p:cNvPr id="3" name="Content Placeholder 2">
            <a:extLst>
              <a:ext uri="{FF2B5EF4-FFF2-40B4-BE49-F238E27FC236}">
                <a16:creationId xmlns:a16="http://schemas.microsoft.com/office/drawing/2014/main" id="{5C13D440-C8A0-2591-3F3D-F632F5476FD4}"/>
              </a:ext>
            </a:extLst>
          </p:cNvPr>
          <p:cNvSpPr>
            <a:spLocks noGrp="1"/>
          </p:cNvSpPr>
          <p:nvPr>
            <p:ph idx="1"/>
          </p:nvPr>
        </p:nvSpPr>
        <p:spPr>
          <a:xfrm>
            <a:off x="838200" y="1825625"/>
            <a:ext cx="10515600" cy="4667639"/>
          </a:xfrm>
        </p:spPr>
        <p:txBody>
          <a:bodyPr vert="horz" lIns="91440" tIns="45720" rIns="91440" bIns="45720" rtlCol="0" anchor="t">
            <a:normAutofit fontScale="92500" lnSpcReduction="10000"/>
          </a:bodyPr>
          <a:lstStyle/>
          <a:p>
            <a:r>
              <a:rPr lang="en-US" dirty="0">
                <a:cs typeface="Calibri"/>
              </a:rPr>
              <a:t>Archetypical Vulnerabilities:</a:t>
            </a:r>
          </a:p>
          <a:p>
            <a:pPr lvl="1"/>
            <a:r>
              <a:rPr lang="en-US" dirty="0">
                <a:cs typeface="Calibri"/>
              </a:rPr>
              <a:t>Definition: Archetypical vulnerabilities refer to common and well-known security issues that have been identified and categorized over time.</a:t>
            </a:r>
          </a:p>
          <a:p>
            <a:r>
              <a:rPr lang="en-US" dirty="0">
                <a:cs typeface="Calibri"/>
              </a:rPr>
              <a:t>Examples:</a:t>
            </a:r>
            <a:endParaRPr lang="en-US" dirty="0"/>
          </a:p>
          <a:p>
            <a:pPr lvl="1"/>
            <a:r>
              <a:rPr lang="en-US" dirty="0">
                <a:cs typeface="Calibri"/>
              </a:rPr>
              <a:t>Buffer overflows</a:t>
            </a:r>
          </a:p>
          <a:p>
            <a:pPr lvl="1"/>
            <a:r>
              <a:rPr lang="en-US" dirty="0">
                <a:cs typeface="Calibri"/>
              </a:rPr>
              <a:t>SQL injection</a:t>
            </a:r>
          </a:p>
          <a:p>
            <a:pPr lvl="1"/>
            <a:r>
              <a:rPr lang="en-US" dirty="0">
                <a:cs typeface="Calibri"/>
              </a:rPr>
              <a:t>Cross-Site Scripting (XSS)</a:t>
            </a:r>
          </a:p>
          <a:p>
            <a:pPr lvl="1"/>
            <a:r>
              <a:rPr lang="en-US" dirty="0">
                <a:cs typeface="Calibri"/>
              </a:rPr>
              <a:t>Cross-Site Request Forgery (CSRF)</a:t>
            </a:r>
          </a:p>
          <a:p>
            <a:pPr lvl="1"/>
            <a:r>
              <a:rPr lang="en-US" dirty="0">
                <a:cs typeface="Calibri"/>
              </a:rPr>
              <a:t>Insecure Direct Object References (IDOR)</a:t>
            </a:r>
          </a:p>
          <a:p>
            <a:r>
              <a:rPr lang="en-US">
                <a:cs typeface="Calibri"/>
              </a:rPr>
              <a:t>Detection: Automated tools and static code analyzers are effective at identifying many archetypical vulnerabilities. Security standards such as OWASP (Open Web Application Security Project) provide guidelines for addressing these issues.</a:t>
            </a:r>
            <a:endParaRPr lang="en-US"/>
          </a:p>
          <a:p>
            <a:endParaRPr lang="en-US" dirty="0">
              <a:cs typeface="Calibri"/>
            </a:endParaRPr>
          </a:p>
        </p:txBody>
      </p:sp>
    </p:spTree>
    <p:extLst>
      <p:ext uri="{BB962C8B-B14F-4D97-AF65-F5344CB8AC3E}">
        <p14:creationId xmlns:p14="http://schemas.microsoft.com/office/powerpoint/2010/main" val="2817090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02E37-C339-1150-BAB5-545BDD8A9751}"/>
              </a:ext>
            </a:extLst>
          </p:cNvPr>
          <p:cNvSpPr>
            <a:spLocks noGrp="1"/>
          </p:cNvSpPr>
          <p:nvPr>
            <p:ph type="title"/>
          </p:nvPr>
        </p:nvSpPr>
        <p:spPr/>
        <p:txBody>
          <a:bodyPr/>
          <a:lstStyle/>
          <a:p>
            <a:r>
              <a:rPr lang="en-US">
                <a:cs typeface="Calibri Light"/>
              </a:rPr>
              <a:t>Archetypical Vulnerabilities Versus Custom Logic Bugs</a:t>
            </a:r>
            <a:endParaRPr lang="en-US"/>
          </a:p>
        </p:txBody>
      </p:sp>
      <p:sp>
        <p:nvSpPr>
          <p:cNvPr id="3" name="Content Placeholder 2">
            <a:extLst>
              <a:ext uri="{FF2B5EF4-FFF2-40B4-BE49-F238E27FC236}">
                <a16:creationId xmlns:a16="http://schemas.microsoft.com/office/drawing/2014/main" id="{F740A136-6BE7-CB8D-E95B-0D614F7807B5}"/>
              </a:ext>
            </a:extLst>
          </p:cNvPr>
          <p:cNvSpPr>
            <a:spLocks noGrp="1"/>
          </p:cNvSpPr>
          <p:nvPr>
            <p:ph idx="1"/>
          </p:nvPr>
        </p:nvSpPr>
        <p:spPr>
          <a:xfrm>
            <a:off x="514780" y="1652707"/>
            <a:ext cx="10515600" cy="4840168"/>
          </a:xfrm>
        </p:spPr>
        <p:txBody>
          <a:bodyPr vert="horz" lIns="91440" tIns="45720" rIns="91440" bIns="45720" rtlCol="0" anchor="t">
            <a:normAutofit fontScale="92500" lnSpcReduction="10000"/>
          </a:bodyPr>
          <a:lstStyle/>
          <a:p>
            <a:r>
              <a:rPr lang="en-US" dirty="0">
                <a:cs typeface="Calibri"/>
              </a:rPr>
              <a:t>Custom Logic Bugs:</a:t>
            </a:r>
          </a:p>
          <a:p>
            <a:pPr lvl="1"/>
            <a:r>
              <a:rPr lang="en-US" dirty="0">
                <a:cs typeface="Calibri"/>
              </a:rPr>
              <a:t>Definition: Custom logic bugs are unique issues that arise from flaws in the specific logic or design of the code. These bugs are not necessarily part of well-known vulnerability categories but may still lead to security or functional issues.</a:t>
            </a:r>
          </a:p>
          <a:p>
            <a:r>
              <a:rPr lang="en-US" dirty="0">
                <a:cs typeface="Calibri"/>
              </a:rPr>
              <a:t>Examples:</a:t>
            </a:r>
            <a:endParaRPr lang="en-US" dirty="0"/>
          </a:p>
          <a:p>
            <a:pPr lvl="1"/>
            <a:r>
              <a:rPr lang="en-US" dirty="0">
                <a:cs typeface="Calibri"/>
              </a:rPr>
              <a:t>Business logic errors (e.g., incorrect authorization checks)</a:t>
            </a:r>
          </a:p>
          <a:p>
            <a:pPr lvl="1"/>
            <a:r>
              <a:rPr lang="en-US" dirty="0">
                <a:cs typeface="Calibri"/>
              </a:rPr>
              <a:t>Race conditions</a:t>
            </a:r>
          </a:p>
          <a:p>
            <a:pPr lvl="1"/>
            <a:r>
              <a:rPr lang="en-US" dirty="0">
                <a:cs typeface="Calibri"/>
              </a:rPr>
              <a:t>Misuse of cryptographic functions</a:t>
            </a:r>
          </a:p>
          <a:p>
            <a:pPr lvl="1"/>
            <a:r>
              <a:rPr lang="en-US" dirty="0">
                <a:cs typeface="Calibri"/>
              </a:rPr>
              <a:t>Logic flaws in authentication mechanisms</a:t>
            </a:r>
          </a:p>
          <a:p>
            <a:r>
              <a:rPr lang="en-US" dirty="0">
                <a:cs typeface="Calibri"/>
              </a:rPr>
              <a:t>Detection: Custom logic bugs often require manual code review and a deep understanding of the application's intended behavior. Automated tools may not be as effective in identifying these issues, and testing scenarios may need to be crafted to uncover such bugs.</a:t>
            </a:r>
            <a:endParaRPr lang="en-US" dirty="0"/>
          </a:p>
          <a:p>
            <a:endParaRPr lang="en-US" dirty="0">
              <a:cs typeface="Calibri"/>
            </a:endParaRPr>
          </a:p>
        </p:txBody>
      </p:sp>
    </p:spTree>
    <p:extLst>
      <p:ext uri="{BB962C8B-B14F-4D97-AF65-F5344CB8AC3E}">
        <p14:creationId xmlns:p14="http://schemas.microsoft.com/office/powerpoint/2010/main" val="26679642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E555C-2273-8036-41CC-7AC35C97475B}"/>
              </a:ext>
            </a:extLst>
          </p:cNvPr>
          <p:cNvSpPr>
            <a:spLocks noGrp="1"/>
          </p:cNvSpPr>
          <p:nvPr>
            <p:ph type="title"/>
          </p:nvPr>
        </p:nvSpPr>
        <p:spPr>
          <a:xfrm>
            <a:off x="685800" y="85725"/>
            <a:ext cx="10515600" cy="792163"/>
          </a:xfrm>
        </p:spPr>
        <p:txBody>
          <a:bodyPr/>
          <a:lstStyle/>
          <a:p>
            <a:r>
              <a:rPr lang="en-US" dirty="0">
                <a:ea typeface="+mj-lt"/>
                <a:cs typeface="+mj-lt"/>
              </a:rPr>
              <a:t>Where to Start a Security Review</a:t>
            </a:r>
            <a:endParaRPr lang="en-US" dirty="0"/>
          </a:p>
        </p:txBody>
      </p:sp>
      <p:sp>
        <p:nvSpPr>
          <p:cNvPr id="3" name="Content Placeholder 2">
            <a:extLst>
              <a:ext uri="{FF2B5EF4-FFF2-40B4-BE49-F238E27FC236}">
                <a16:creationId xmlns:a16="http://schemas.microsoft.com/office/drawing/2014/main" id="{B098D2CB-EDDE-A032-7FA9-B84F8A68D963}"/>
              </a:ext>
            </a:extLst>
          </p:cNvPr>
          <p:cNvSpPr>
            <a:spLocks noGrp="1"/>
          </p:cNvSpPr>
          <p:nvPr>
            <p:ph idx="1"/>
          </p:nvPr>
        </p:nvSpPr>
        <p:spPr>
          <a:xfrm>
            <a:off x="838200" y="936625"/>
            <a:ext cx="10515600" cy="5722938"/>
          </a:xfrm>
        </p:spPr>
        <p:txBody>
          <a:bodyPr vert="horz" lIns="91440" tIns="45720" rIns="91440" bIns="45720" rtlCol="0" anchor="t">
            <a:normAutofit fontScale="92500" lnSpcReduction="10000"/>
          </a:bodyPr>
          <a:lstStyle/>
          <a:p>
            <a:r>
              <a:rPr lang="en-US">
                <a:ea typeface="+mn-lt"/>
                <a:cs typeface="+mn-lt"/>
              </a:rPr>
              <a:t>An author propose a framework to simplify the security code review process </a:t>
            </a:r>
            <a:r>
              <a:rPr lang="en-US" dirty="0">
                <a:ea typeface="+mn-lt"/>
                <a:cs typeface="+mn-lt"/>
              </a:rPr>
              <a:t>and </a:t>
            </a:r>
            <a:r>
              <a:rPr lang="en-US">
                <a:ea typeface="+mn-lt"/>
                <a:cs typeface="+mn-lt"/>
              </a:rPr>
              <a:t>help you get started with a security review.</a:t>
            </a:r>
            <a:endParaRPr lang="en-US" dirty="0">
              <a:ea typeface="+mn-lt"/>
              <a:cs typeface="+mn-lt"/>
            </a:endParaRPr>
          </a:p>
          <a:p>
            <a:r>
              <a:rPr lang="en-US" dirty="0">
                <a:ea typeface="+mn-lt"/>
                <a:cs typeface="+mn-lt"/>
              </a:rPr>
              <a:t>Imagine a basic web application with two components: a client in the browser, and a server that talks to that client.</a:t>
            </a:r>
          </a:p>
          <a:p>
            <a:r>
              <a:rPr lang="en-US" dirty="0">
                <a:ea typeface="+mn-lt"/>
                <a:cs typeface="+mn-lt"/>
              </a:rPr>
              <a:t>a good place to start in the actual source code is anywhere that a client (browser) makes a request to the server.</a:t>
            </a:r>
          </a:p>
          <a:p>
            <a:r>
              <a:rPr lang="en-US" dirty="0">
                <a:ea typeface="+mn-lt"/>
                <a:cs typeface="+mn-lt"/>
              </a:rPr>
              <a:t>After evaluating the client itself, you should follow the client’s API calls back to the server.</a:t>
            </a:r>
          </a:p>
          <a:p>
            <a:r>
              <a:rPr lang="en-US" dirty="0">
                <a:ea typeface="+mn-lt"/>
                <a:cs typeface="+mn-lt"/>
              </a:rPr>
              <a:t>Once this is complete, you should probably consider tracing the helper methods, dependencies, and functionality those APIs rely on.</a:t>
            </a:r>
          </a:p>
          <a:p>
            <a:r>
              <a:rPr lang="en-US" dirty="0">
                <a:ea typeface="+mn-lt"/>
                <a:cs typeface="+mn-lt"/>
              </a:rPr>
              <a:t>Next, cover the bases by looking over every bit of functionality that could be exposed to the client but isn’t directly called.</a:t>
            </a:r>
          </a:p>
          <a:p>
            <a:r>
              <a:rPr lang="en-US" dirty="0">
                <a:ea typeface="+mn-lt"/>
                <a:cs typeface="+mn-lt"/>
              </a:rPr>
              <a:t>Finally, after those major points in the codebase have been covered, dedicate your time to the rest of the codebase.</a:t>
            </a:r>
            <a:endParaRPr lang="en-US" dirty="0">
              <a:ea typeface="Calibri" panose="020F0502020204030204"/>
              <a:cs typeface="Calibri" panose="020F0502020204030204"/>
            </a:endParaRPr>
          </a:p>
        </p:txBody>
      </p:sp>
    </p:spTree>
    <p:extLst>
      <p:ext uri="{BB962C8B-B14F-4D97-AF65-F5344CB8AC3E}">
        <p14:creationId xmlns:p14="http://schemas.microsoft.com/office/powerpoint/2010/main" val="12187039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2321F8-7E73-2F27-EA62-9CECF2290332}"/>
              </a:ext>
            </a:extLst>
          </p:cNvPr>
          <p:cNvSpPr>
            <a:spLocks noGrp="1"/>
          </p:cNvSpPr>
          <p:nvPr>
            <p:ph idx="1"/>
          </p:nvPr>
        </p:nvSpPr>
        <p:spPr>
          <a:xfrm>
            <a:off x="579408" y="200984"/>
            <a:ext cx="10774392" cy="6421677"/>
          </a:xfrm>
        </p:spPr>
        <p:txBody>
          <a:bodyPr vert="horz" lIns="91440" tIns="45720" rIns="91440" bIns="45720" rtlCol="0" anchor="t">
            <a:normAutofit lnSpcReduction="10000"/>
          </a:bodyPr>
          <a:lstStyle/>
          <a:p>
            <a:r>
              <a:rPr lang="en-US" dirty="0">
                <a:ea typeface="+mn-lt"/>
                <a:cs typeface="+mn-lt"/>
              </a:rPr>
              <a:t>To summarize, an effective way of determining what code to review in a security review of a web application is as follows: </a:t>
            </a:r>
          </a:p>
          <a:p>
            <a:pPr lvl="1">
              <a:buFont typeface="Courier New" panose="020B0604020202020204" pitchFamily="34" charset="0"/>
              <a:buChar char="o"/>
            </a:pPr>
            <a:r>
              <a:rPr lang="en-US" dirty="0">
                <a:ea typeface="+mn-lt"/>
                <a:cs typeface="+mn-lt"/>
              </a:rPr>
              <a:t>Evaluate the client-side code to gain understanding of the business logic and understand what functionality users will be capable of using. </a:t>
            </a:r>
          </a:p>
          <a:p>
            <a:pPr lvl="1">
              <a:buFont typeface="Courier New" panose="020B0604020202020204" pitchFamily="34" charset="0"/>
              <a:buChar char="o"/>
            </a:pPr>
            <a:r>
              <a:rPr lang="en-US" dirty="0">
                <a:ea typeface="+mn-lt"/>
                <a:cs typeface="+mn-lt"/>
              </a:rPr>
              <a:t>Using knowledge gained from the client review, begin evaluating the API layer, in particular, the APIs you found via the client review. In doing this, you should be able to get a good understanding of what dependencies the API layer relies on to </a:t>
            </a:r>
            <a:r>
              <a:rPr lang="en-US">
                <a:ea typeface="+mn-lt"/>
                <a:cs typeface="+mn-lt"/>
              </a:rPr>
              <a:t>function. </a:t>
            </a:r>
          </a:p>
          <a:p>
            <a:pPr lvl="1">
              <a:buFont typeface="Courier New" panose="020B0604020202020204" pitchFamily="34" charset="0"/>
              <a:buChar char="o"/>
            </a:pPr>
            <a:r>
              <a:rPr lang="en-US" dirty="0">
                <a:ea typeface="+mn-lt"/>
                <a:cs typeface="+mn-lt"/>
              </a:rPr>
              <a:t>Trace the dependencies in the API layer, carefully reviewing databases, helper libraries, logging functions, etc. In doing this, you will get close to having covered the majority of user-facing functionality. </a:t>
            </a:r>
          </a:p>
          <a:p>
            <a:pPr lvl="1">
              <a:buFont typeface="Courier New" panose="020B0604020202020204" pitchFamily="34" charset="0"/>
              <a:buChar char="o"/>
            </a:pPr>
            <a:r>
              <a:rPr lang="en-US" dirty="0">
                <a:ea typeface="+mn-lt"/>
                <a:cs typeface="+mn-lt"/>
              </a:rPr>
              <a:t>Using the knowledge of the structure of the client-linked APIs, attempt to find any public-facing APIs that may be unintentionally exposed or intended for future feature releases. </a:t>
            </a:r>
            <a:r>
              <a:rPr lang="en-US">
                <a:ea typeface="+mn-lt"/>
                <a:cs typeface="+mn-lt"/>
              </a:rPr>
              <a:t>Review these as you find them. </a:t>
            </a:r>
          </a:p>
          <a:p>
            <a:pPr lvl="1">
              <a:buFont typeface="Courier New" panose="020B0604020202020204" pitchFamily="34" charset="0"/>
              <a:buChar char="o"/>
            </a:pPr>
            <a:r>
              <a:rPr lang="en-US" dirty="0">
                <a:ea typeface="+mn-lt"/>
                <a:cs typeface="+mn-lt"/>
              </a:rPr>
              <a:t>Continue on throughout the remainder of the codebase. This should actually be pretty easy because you will already be familiar with the codebase having read through it in an organic method versus trying to brute force an understanding of the application architecture.</a:t>
            </a:r>
            <a:endParaRPr lang="en-US">
              <a:ea typeface="Calibri"/>
              <a:cs typeface="Calibri"/>
            </a:endParaRPr>
          </a:p>
        </p:txBody>
      </p:sp>
    </p:spTree>
    <p:extLst>
      <p:ext uri="{BB962C8B-B14F-4D97-AF65-F5344CB8AC3E}">
        <p14:creationId xmlns:p14="http://schemas.microsoft.com/office/powerpoint/2010/main" val="8634001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047F7-3380-E6C1-E683-0902787F467E}"/>
              </a:ext>
            </a:extLst>
          </p:cNvPr>
          <p:cNvSpPr>
            <a:spLocks noGrp="1"/>
          </p:cNvSpPr>
          <p:nvPr>
            <p:ph type="title"/>
          </p:nvPr>
        </p:nvSpPr>
        <p:spPr>
          <a:xfrm>
            <a:off x="608162" y="-353743"/>
            <a:ext cx="10515600" cy="1325563"/>
          </a:xfrm>
        </p:spPr>
        <p:txBody>
          <a:bodyPr/>
          <a:lstStyle/>
          <a:p>
            <a:r>
              <a:rPr lang="en-US" dirty="0">
                <a:ea typeface="+mj-lt"/>
                <a:cs typeface="+mj-lt"/>
              </a:rPr>
              <a:t>Secure-Coding Anti-Patterns</a:t>
            </a:r>
            <a:endParaRPr lang="en-US" dirty="0"/>
          </a:p>
        </p:txBody>
      </p:sp>
      <p:sp>
        <p:nvSpPr>
          <p:cNvPr id="3" name="Content Placeholder 2">
            <a:extLst>
              <a:ext uri="{FF2B5EF4-FFF2-40B4-BE49-F238E27FC236}">
                <a16:creationId xmlns:a16="http://schemas.microsoft.com/office/drawing/2014/main" id="{26EB2CB7-D0D3-51C6-842E-957E6811DC3F}"/>
              </a:ext>
            </a:extLst>
          </p:cNvPr>
          <p:cNvSpPr>
            <a:spLocks noGrp="1"/>
          </p:cNvSpPr>
          <p:nvPr>
            <p:ph idx="1"/>
          </p:nvPr>
        </p:nvSpPr>
        <p:spPr>
          <a:xfrm>
            <a:off x="363748" y="761702"/>
            <a:ext cx="11507636" cy="6090996"/>
          </a:xfrm>
        </p:spPr>
        <p:txBody>
          <a:bodyPr vert="horz" lIns="91440" tIns="45720" rIns="91440" bIns="45720" rtlCol="0" anchor="t">
            <a:normAutofit fontScale="92500" lnSpcReduction="10000"/>
          </a:bodyPr>
          <a:lstStyle/>
          <a:p>
            <a:r>
              <a:rPr lang="en-US" b="1" dirty="0">
                <a:ea typeface="+mn-lt"/>
                <a:cs typeface="+mn-lt"/>
              </a:rPr>
              <a:t>Secure-Coding Anti-Patterns</a:t>
            </a:r>
            <a:r>
              <a:rPr lang="en-US" dirty="0">
                <a:ea typeface="+mn-lt"/>
                <a:cs typeface="+mn-lt"/>
              </a:rPr>
              <a:t> are common mistakes or flawed approaches in software development that can introduce security vulnerabilities. These anti-patterns lead to weak, insecure code that attackers can exploit. Security reviews at the code level share some similarities with architecture reviews that occur prior to code being written.</a:t>
            </a:r>
            <a:endParaRPr lang="en-US" dirty="0"/>
          </a:p>
          <a:p>
            <a:r>
              <a:rPr lang="en-US" dirty="0">
                <a:ea typeface="+mn-lt"/>
                <a:cs typeface="+mn-lt"/>
              </a:rPr>
              <a:t>There are several anti-patterns to be on the lookout for as you go through any security review. </a:t>
            </a:r>
          </a:p>
          <a:p>
            <a:r>
              <a:rPr lang="en-US" dirty="0">
                <a:ea typeface="+mn-lt"/>
                <a:cs typeface="+mn-lt"/>
              </a:rPr>
              <a:t>Many times, an anti-pattern is just a hastily implemented solution, or a solution that was implemented without the appropriate prior knowledge. Regardless of the cause, understanding how to spot anti-patterns will really help speed up your review process.</a:t>
            </a:r>
          </a:p>
          <a:p>
            <a:r>
              <a:rPr lang="en-US" dirty="0">
                <a:ea typeface="+mn-lt"/>
                <a:cs typeface="+mn-lt"/>
              </a:rPr>
              <a:t>The following anti-patterns are all quite common:</a:t>
            </a:r>
          </a:p>
          <a:p>
            <a:pPr lvl="1">
              <a:buFont typeface="Courier New" panose="020B0604020202020204" pitchFamily="34" charset="0"/>
              <a:buChar char="o"/>
            </a:pPr>
            <a:r>
              <a:rPr lang="en-US" dirty="0">
                <a:ea typeface="+mn-lt"/>
                <a:cs typeface="+mn-lt"/>
              </a:rPr>
              <a:t>Blacklists </a:t>
            </a:r>
          </a:p>
          <a:p>
            <a:pPr lvl="1">
              <a:buFont typeface="Courier New" panose="020B0604020202020204" pitchFamily="34" charset="0"/>
              <a:buChar char="o"/>
            </a:pPr>
            <a:r>
              <a:rPr lang="en-US" dirty="0">
                <a:ea typeface="+mn-lt"/>
                <a:cs typeface="+mn-lt"/>
              </a:rPr>
              <a:t>Boilerplate Code</a:t>
            </a:r>
          </a:p>
          <a:p>
            <a:pPr lvl="1">
              <a:buFont typeface="Courier New" panose="020B0604020202020204" pitchFamily="34" charset="0"/>
              <a:buChar char="o"/>
            </a:pPr>
            <a:r>
              <a:rPr lang="en-US" dirty="0">
                <a:ea typeface="+mn-lt"/>
                <a:cs typeface="+mn-lt"/>
              </a:rPr>
              <a:t>Trust-By-Default Anti-Pattern</a:t>
            </a:r>
          </a:p>
          <a:p>
            <a:pPr lvl="1">
              <a:buFont typeface="Courier New" panose="020B0604020202020204" pitchFamily="34" charset="0"/>
              <a:buChar char="o"/>
            </a:pPr>
            <a:r>
              <a:rPr lang="en-US" dirty="0">
                <a:ea typeface="+mn-lt"/>
                <a:cs typeface="+mn-lt"/>
              </a:rPr>
              <a:t>Client/Server Separation</a:t>
            </a:r>
          </a:p>
          <a:p>
            <a:pPr lvl="1">
              <a:buFont typeface="Courier New" panose="020B0604020202020204" pitchFamily="34" charset="0"/>
              <a:buChar char="o"/>
            </a:pPr>
            <a:endParaRPr lang="en-US" dirty="0">
              <a:ea typeface="+mn-lt"/>
              <a:cs typeface="+mn-lt"/>
            </a:endParaRPr>
          </a:p>
        </p:txBody>
      </p:sp>
    </p:spTree>
    <p:extLst>
      <p:ext uri="{BB962C8B-B14F-4D97-AF65-F5344CB8AC3E}">
        <p14:creationId xmlns:p14="http://schemas.microsoft.com/office/powerpoint/2010/main" val="1389299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287CE-6BF0-155B-4615-F1A19E02BEAF}"/>
              </a:ext>
            </a:extLst>
          </p:cNvPr>
          <p:cNvSpPr>
            <a:spLocks noGrp="1"/>
          </p:cNvSpPr>
          <p:nvPr>
            <p:ph type="title"/>
          </p:nvPr>
        </p:nvSpPr>
        <p:spPr/>
        <p:txBody>
          <a:bodyPr/>
          <a:lstStyle/>
          <a:p>
            <a:r>
              <a:rPr lang="en-US" dirty="0">
                <a:ea typeface="Calibri Light"/>
                <a:cs typeface="Calibri Light"/>
              </a:rPr>
              <a:t>Blacklist Anti-pattern</a:t>
            </a:r>
            <a:endParaRPr lang="en-US" dirty="0"/>
          </a:p>
        </p:txBody>
      </p:sp>
      <p:sp>
        <p:nvSpPr>
          <p:cNvPr id="3" name="Content Placeholder 2">
            <a:extLst>
              <a:ext uri="{FF2B5EF4-FFF2-40B4-BE49-F238E27FC236}">
                <a16:creationId xmlns:a16="http://schemas.microsoft.com/office/drawing/2014/main" id="{D4F60A13-EF6E-F48F-ACFC-2EA70E98EABC}"/>
              </a:ext>
            </a:extLst>
          </p:cNvPr>
          <p:cNvSpPr>
            <a:spLocks noGrp="1"/>
          </p:cNvSpPr>
          <p:nvPr>
            <p:ph idx="1"/>
          </p:nvPr>
        </p:nvSpPr>
        <p:spPr>
          <a:xfrm>
            <a:off x="838200" y="1408682"/>
            <a:ext cx="10515600" cy="5084582"/>
          </a:xfrm>
        </p:spPr>
        <p:txBody>
          <a:bodyPr vert="horz" lIns="91440" tIns="45720" rIns="91440" bIns="45720" rtlCol="0" anchor="t">
            <a:normAutofit/>
          </a:bodyPr>
          <a:lstStyle/>
          <a:p>
            <a:r>
              <a:rPr lang="en-US" dirty="0">
                <a:solidFill>
                  <a:srgbClr val="000000"/>
                </a:solidFill>
                <a:ea typeface="+mn-lt"/>
                <a:cs typeface="+mn-lt"/>
              </a:rPr>
              <a:t>The term "blacklist" in the context of secure coding often refers to a list of items, such as IP addresses, usernames, or keywords, that are considered malicious or undesirable. </a:t>
            </a:r>
          </a:p>
          <a:p>
            <a:r>
              <a:rPr lang="en-US" dirty="0">
                <a:solidFill>
                  <a:srgbClr val="000000"/>
                </a:solidFill>
                <a:ea typeface="+mn-lt"/>
                <a:cs typeface="+mn-lt"/>
              </a:rPr>
              <a:t>Using blacklists as a security measure can be an anti-pattern if not implemented carefully. </a:t>
            </a:r>
          </a:p>
          <a:p>
            <a:r>
              <a:rPr lang="en-US" dirty="0">
                <a:solidFill>
                  <a:srgbClr val="000000"/>
                </a:solidFill>
                <a:ea typeface="Calibri"/>
                <a:cs typeface="Calibri"/>
              </a:rPr>
              <a:t>Blacklist Anti-pattern:</a:t>
            </a:r>
          </a:p>
          <a:p>
            <a:pPr lvl="1">
              <a:buFont typeface="Courier New" panose="020B0604020202020204" pitchFamily="34" charset="0"/>
              <a:buChar char="o"/>
            </a:pPr>
            <a:r>
              <a:rPr lang="en-US" dirty="0">
                <a:solidFill>
                  <a:srgbClr val="000000"/>
                </a:solidFill>
                <a:ea typeface="Calibri"/>
                <a:cs typeface="Calibri"/>
              </a:rPr>
              <a:t>Incomplete Coverage</a:t>
            </a:r>
          </a:p>
          <a:p>
            <a:pPr lvl="1">
              <a:buFont typeface="Courier New" panose="020B0604020202020204" pitchFamily="34" charset="0"/>
              <a:buChar char="o"/>
            </a:pPr>
            <a:r>
              <a:rPr lang="en-US" dirty="0">
                <a:solidFill>
                  <a:srgbClr val="000000"/>
                </a:solidFill>
                <a:ea typeface="+mn-lt"/>
                <a:cs typeface="+mn-lt"/>
              </a:rPr>
              <a:t>Maintenance Challenges</a:t>
            </a:r>
          </a:p>
          <a:p>
            <a:pPr lvl="1">
              <a:buFont typeface="Courier New" panose="020B0604020202020204" pitchFamily="34" charset="0"/>
              <a:buChar char="o"/>
            </a:pPr>
            <a:r>
              <a:rPr lang="en-US" dirty="0">
                <a:solidFill>
                  <a:srgbClr val="000000"/>
                </a:solidFill>
                <a:ea typeface="+mn-lt"/>
                <a:cs typeface="+mn-lt"/>
              </a:rPr>
              <a:t>False Positives/Negatives</a:t>
            </a:r>
            <a:endParaRPr lang="en-US" dirty="0">
              <a:solidFill>
                <a:srgbClr val="000000"/>
              </a:solidFill>
              <a:ea typeface="Calibri"/>
              <a:cs typeface="Calibri"/>
            </a:endParaRPr>
          </a:p>
          <a:p>
            <a:pPr lvl="1">
              <a:buFont typeface="Courier New" panose="020B0604020202020204" pitchFamily="34" charset="0"/>
              <a:buChar char="o"/>
            </a:pPr>
            <a:r>
              <a:rPr lang="en-US" dirty="0">
                <a:solidFill>
                  <a:srgbClr val="000000"/>
                </a:solidFill>
                <a:ea typeface="+mn-lt"/>
                <a:cs typeface="+mn-lt"/>
              </a:rPr>
              <a:t>Resource Exhaustion</a:t>
            </a:r>
            <a:endParaRPr lang="en-US" dirty="0">
              <a:solidFill>
                <a:srgbClr val="000000"/>
              </a:solidFill>
              <a:ea typeface="Calibri"/>
              <a:cs typeface="Calibri"/>
            </a:endParaRPr>
          </a:p>
          <a:p>
            <a:pPr lvl="1">
              <a:buFont typeface="Courier New" panose="020B0604020202020204" pitchFamily="34" charset="0"/>
              <a:buChar char="o"/>
            </a:pPr>
            <a:r>
              <a:rPr lang="en-US" dirty="0">
                <a:solidFill>
                  <a:srgbClr val="000000"/>
                </a:solidFill>
                <a:ea typeface="+mn-lt"/>
                <a:cs typeface="+mn-lt"/>
              </a:rPr>
              <a:t>Lack of Context Awareness</a:t>
            </a:r>
            <a:endParaRPr lang="en-US" dirty="0">
              <a:solidFill>
                <a:srgbClr val="000000"/>
              </a:solidFill>
              <a:ea typeface="Calibri"/>
              <a:cs typeface="Calibri"/>
            </a:endParaRPr>
          </a:p>
          <a:p>
            <a:pPr lvl="1">
              <a:buFont typeface="Courier New" panose="020B0604020202020204" pitchFamily="34" charset="0"/>
              <a:buChar char="o"/>
            </a:pPr>
            <a:endParaRPr lang="en-US" dirty="0">
              <a:solidFill>
                <a:srgbClr val="000000"/>
              </a:solidFill>
              <a:ea typeface="Calibri"/>
              <a:cs typeface="Calibri"/>
            </a:endParaRPr>
          </a:p>
          <a:p>
            <a:endParaRPr lang="en-US" dirty="0">
              <a:solidFill>
                <a:srgbClr val="000000"/>
              </a:solidFill>
              <a:ea typeface="Calibri"/>
              <a:cs typeface="Calibri"/>
            </a:endParaRPr>
          </a:p>
        </p:txBody>
      </p:sp>
    </p:spTree>
    <p:extLst>
      <p:ext uri="{BB962C8B-B14F-4D97-AF65-F5344CB8AC3E}">
        <p14:creationId xmlns:p14="http://schemas.microsoft.com/office/powerpoint/2010/main" val="3743903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BB99C-F32C-E96B-E91E-33F64D54CFEA}"/>
              </a:ext>
            </a:extLst>
          </p:cNvPr>
          <p:cNvSpPr>
            <a:spLocks noGrp="1"/>
          </p:cNvSpPr>
          <p:nvPr>
            <p:ph type="title"/>
          </p:nvPr>
        </p:nvSpPr>
        <p:spPr/>
        <p:txBody>
          <a:bodyPr>
            <a:normAutofit/>
          </a:bodyPr>
          <a:lstStyle/>
          <a:p>
            <a:r>
              <a:rPr lang="en-US" dirty="0">
                <a:ea typeface="+mj-lt"/>
                <a:cs typeface="+mj-lt"/>
              </a:rPr>
              <a:t>Best Practices:</a:t>
            </a:r>
            <a:endParaRPr lang="en-US" dirty="0"/>
          </a:p>
        </p:txBody>
      </p:sp>
      <p:sp>
        <p:nvSpPr>
          <p:cNvPr id="3" name="Content Placeholder 2">
            <a:extLst>
              <a:ext uri="{FF2B5EF4-FFF2-40B4-BE49-F238E27FC236}">
                <a16:creationId xmlns:a16="http://schemas.microsoft.com/office/drawing/2014/main" id="{756D0595-EC16-8E5B-EB95-B157DA1B7B74}"/>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Use blacklists as part of a defense-in-depth strategy, complemented by other security measures.</a:t>
            </a:r>
            <a:endParaRPr lang="en-US" dirty="0">
              <a:solidFill>
                <a:srgbClr val="000000"/>
              </a:solidFill>
              <a:ea typeface="Calibri" panose="020F0502020204030204"/>
              <a:cs typeface="Calibri" panose="020F0502020204030204"/>
            </a:endParaRPr>
          </a:p>
          <a:p>
            <a:r>
              <a:rPr lang="en-US" dirty="0">
                <a:solidFill>
                  <a:srgbClr val="000000"/>
                </a:solidFill>
                <a:ea typeface="+mn-lt"/>
                <a:cs typeface="+mn-lt"/>
              </a:rPr>
              <a:t>Regularly update and maintain blacklists to adapt to evolving threats.</a:t>
            </a:r>
            <a:endParaRPr lang="en-US" dirty="0"/>
          </a:p>
          <a:p>
            <a:r>
              <a:rPr lang="en-US" dirty="0">
                <a:solidFill>
                  <a:srgbClr val="000000"/>
                </a:solidFill>
                <a:ea typeface="+mn-lt"/>
                <a:cs typeface="+mn-lt"/>
              </a:rPr>
              <a:t>Monitor and analyze the effectiveness of blacklists to identify and address false positives and negatives.</a:t>
            </a:r>
            <a:endParaRPr lang="en-US" dirty="0"/>
          </a:p>
          <a:p>
            <a:r>
              <a:rPr lang="en-US" dirty="0">
                <a:solidFill>
                  <a:srgbClr val="000000"/>
                </a:solidFill>
                <a:ea typeface="+mn-lt"/>
                <a:cs typeface="+mn-lt"/>
              </a:rPr>
              <a:t>Implement proactive security measures, such as whitelisting, input validation, and secure coding practices, to reduce reliance on blacklists.</a:t>
            </a:r>
            <a:endParaRPr lang="en-US" dirty="0"/>
          </a:p>
          <a:p>
            <a:pPr marL="0" indent="0">
              <a:buNone/>
            </a:pPr>
            <a:endParaRPr lang="en-US" dirty="0">
              <a:ea typeface="Calibri"/>
              <a:cs typeface="Calibri"/>
            </a:endParaRPr>
          </a:p>
        </p:txBody>
      </p:sp>
    </p:spTree>
    <p:extLst>
      <p:ext uri="{BB962C8B-B14F-4D97-AF65-F5344CB8AC3E}">
        <p14:creationId xmlns:p14="http://schemas.microsoft.com/office/powerpoint/2010/main" val="37958473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EEEED-239F-759B-7625-4399A2721C0B}"/>
              </a:ext>
            </a:extLst>
          </p:cNvPr>
          <p:cNvSpPr>
            <a:spLocks noGrp="1"/>
          </p:cNvSpPr>
          <p:nvPr>
            <p:ph type="title"/>
          </p:nvPr>
        </p:nvSpPr>
        <p:spPr/>
        <p:txBody>
          <a:bodyPr>
            <a:normAutofit/>
          </a:bodyPr>
          <a:lstStyle/>
          <a:p>
            <a:r>
              <a:rPr lang="en-US" dirty="0">
                <a:solidFill>
                  <a:srgbClr val="000000"/>
                </a:solidFill>
                <a:ea typeface="+mj-lt"/>
                <a:cs typeface="+mj-lt"/>
              </a:rPr>
              <a:t>Boilerplate Code anti-pattern</a:t>
            </a:r>
            <a:endParaRPr lang="en-US" dirty="0"/>
          </a:p>
        </p:txBody>
      </p:sp>
      <p:sp>
        <p:nvSpPr>
          <p:cNvPr id="3" name="Content Placeholder 2">
            <a:extLst>
              <a:ext uri="{FF2B5EF4-FFF2-40B4-BE49-F238E27FC236}">
                <a16:creationId xmlns:a16="http://schemas.microsoft.com/office/drawing/2014/main" id="{83A7A7C8-5FEF-A816-4509-E4E5247DBCA6}"/>
              </a:ext>
            </a:extLst>
          </p:cNvPr>
          <p:cNvSpPr>
            <a:spLocks noGrp="1"/>
          </p:cNvSpPr>
          <p:nvPr>
            <p:ph idx="1"/>
          </p:nvPr>
        </p:nvSpPr>
        <p:spPr/>
        <p:txBody>
          <a:bodyPr vert="horz" lIns="91440" tIns="45720" rIns="91440" bIns="45720" rtlCol="0" anchor="t">
            <a:normAutofit fontScale="92500" lnSpcReduction="10000"/>
          </a:bodyPr>
          <a:lstStyle/>
          <a:p>
            <a:r>
              <a:rPr lang="en-US" dirty="0">
                <a:solidFill>
                  <a:srgbClr val="000000"/>
                </a:solidFill>
                <a:ea typeface="+mn-lt"/>
                <a:cs typeface="+mn-lt"/>
              </a:rPr>
              <a:t>The term "boilerplate code" refers to sections of code that are repeated in multiple places with little to no variation. </a:t>
            </a:r>
          </a:p>
          <a:p>
            <a:r>
              <a:rPr lang="en-US" dirty="0">
                <a:solidFill>
                  <a:srgbClr val="000000"/>
                </a:solidFill>
                <a:ea typeface="+mn-lt"/>
                <a:cs typeface="+mn-lt"/>
              </a:rPr>
              <a:t>While some level of repetition is unavoidable in software development, excessive boilerplate code can lead to maintenance challenges, increased potential for errors, and decreased code readability. </a:t>
            </a:r>
          </a:p>
          <a:p>
            <a:r>
              <a:rPr lang="en-US" dirty="0">
                <a:solidFill>
                  <a:srgbClr val="000000"/>
                </a:solidFill>
                <a:ea typeface="Calibri"/>
                <a:cs typeface="Calibri"/>
              </a:rPr>
              <a:t>Here are some considerations and practices to avoid or mitigate the boilerplate code anti-pattern:</a:t>
            </a:r>
          </a:p>
          <a:p>
            <a:pPr lvl="1">
              <a:buFont typeface="Courier New" panose="020B0604020202020204" pitchFamily="34" charset="0"/>
              <a:buChar char="o"/>
            </a:pPr>
            <a:r>
              <a:rPr lang="en-US" dirty="0">
                <a:solidFill>
                  <a:srgbClr val="000000"/>
                </a:solidFill>
                <a:ea typeface="Calibri"/>
                <a:cs typeface="Calibri"/>
              </a:rPr>
              <a:t>Code Duplication</a:t>
            </a:r>
            <a:endParaRPr lang="en-US" dirty="0">
              <a:ea typeface="Calibri"/>
              <a:cs typeface="Calibri"/>
            </a:endParaRPr>
          </a:p>
          <a:p>
            <a:pPr lvl="1">
              <a:buFont typeface="Courier New" panose="020B0604020202020204" pitchFamily="34" charset="0"/>
              <a:buChar char="o"/>
            </a:pPr>
            <a:r>
              <a:rPr lang="en-US" dirty="0">
                <a:solidFill>
                  <a:srgbClr val="000000"/>
                </a:solidFill>
                <a:ea typeface="+mn-lt"/>
                <a:cs typeface="+mn-lt"/>
              </a:rPr>
              <a:t>Maintenance Difficulty</a:t>
            </a:r>
            <a:endParaRPr lang="en-US" dirty="0">
              <a:solidFill>
                <a:srgbClr val="000000"/>
              </a:solidFill>
              <a:ea typeface="Calibri"/>
              <a:cs typeface="Calibri"/>
            </a:endParaRPr>
          </a:p>
          <a:p>
            <a:pPr lvl="1">
              <a:buFont typeface="Courier New" panose="020B0604020202020204" pitchFamily="34" charset="0"/>
              <a:buChar char="o"/>
            </a:pPr>
            <a:r>
              <a:rPr lang="en-US" dirty="0">
                <a:solidFill>
                  <a:srgbClr val="000000"/>
                </a:solidFill>
                <a:ea typeface="+mn-lt"/>
                <a:cs typeface="+mn-lt"/>
              </a:rPr>
              <a:t>Readability and Cognitive Load</a:t>
            </a:r>
            <a:endParaRPr lang="en-US" dirty="0">
              <a:solidFill>
                <a:srgbClr val="000000"/>
              </a:solidFill>
              <a:ea typeface="Calibri"/>
              <a:cs typeface="Calibri"/>
            </a:endParaRPr>
          </a:p>
          <a:p>
            <a:pPr lvl="1">
              <a:buFont typeface="Courier New" panose="020B0604020202020204" pitchFamily="34" charset="0"/>
              <a:buChar char="o"/>
            </a:pPr>
            <a:r>
              <a:rPr lang="en-US" dirty="0">
                <a:solidFill>
                  <a:srgbClr val="000000"/>
                </a:solidFill>
                <a:ea typeface="+mn-lt"/>
                <a:cs typeface="+mn-lt"/>
              </a:rPr>
              <a:t>Error-Prone</a:t>
            </a:r>
            <a:endParaRPr lang="en-US" dirty="0">
              <a:solidFill>
                <a:srgbClr val="000000"/>
              </a:solidFill>
              <a:ea typeface="Calibri"/>
              <a:cs typeface="Calibri"/>
            </a:endParaRPr>
          </a:p>
          <a:p>
            <a:pPr lvl="1">
              <a:buFont typeface="Courier New" panose="020B0604020202020204" pitchFamily="34" charset="0"/>
              <a:buChar char="o"/>
            </a:pPr>
            <a:r>
              <a:rPr lang="en-US">
                <a:solidFill>
                  <a:srgbClr val="000000"/>
                </a:solidFill>
                <a:ea typeface="+mn-lt"/>
                <a:cs typeface="+mn-lt"/>
              </a:rPr>
              <a:t>Copy-Paste Programming</a:t>
            </a:r>
            <a:endParaRPr lang="en-US" dirty="0">
              <a:solidFill>
                <a:srgbClr val="000000"/>
              </a:solidFill>
              <a:ea typeface="+mn-lt"/>
              <a:cs typeface="+mn-lt"/>
            </a:endParaRPr>
          </a:p>
          <a:p>
            <a:endParaRPr lang="en-US" dirty="0">
              <a:solidFill>
                <a:srgbClr val="000000"/>
              </a:solidFill>
              <a:ea typeface="Calibri"/>
              <a:cs typeface="Calibri"/>
            </a:endParaRPr>
          </a:p>
        </p:txBody>
      </p:sp>
    </p:spTree>
    <p:extLst>
      <p:ext uri="{BB962C8B-B14F-4D97-AF65-F5344CB8AC3E}">
        <p14:creationId xmlns:p14="http://schemas.microsoft.com/office/powerpoint/2010/main" val="16166242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59FC9-9424-F4BE-C653-5F190FD35554}"/>
              </a:ext>
            </a:extLst>
          </p:cNvPr>
          <p:cNvSpPr>
            <a:spLocks noGrp="1"/>
          </p:cNvSpPr>
          <p:nvPr>
            <p:ph type="title"/>
          </p:nvPr>
        </p:nvSpPr>
        <p:spPr/>
        <p:txBody>
          <a:bodyPr/>
          <a:lstStyle/>
          <a:p>
            <a:r>
              <a:rPr lang="en-US" dirty="0">
                <a:ea typeface="Calibri Light"/>
                <a:cs typeface="Calibri Light"/>
              </a:rPr>
              <a:t>Best Practices:</a:t>
            </a:r>
            <a:endParaRPr lang="en-US" dirty="0"/>
          </a:p>
        </p:txBody>
      </p:sp>
      <p:sp>
        <p:nvSpPr>
          <p:cNvPr id="3" name="Content Placeholder 2">
            <a:extLst>
              <a:ext uri="{FF2B5EF4-FFF2-40B4-BE49-F238E27FC236}">
                <a16:creationId xmlns:a16="http://schemas.microsoft.com/office/drawing/2014/main" id="{5069B08B-F45F-867A-FD90-BD9DF8363ACE}"/>
              </a:ext>
            </a:extLst>
          </p:cNvPr>
          <p:cNvSpPr>
            <a:spLocks noGrp="1"/>
          </p:cNvSpPr>
          <p:nvPr>
            <p:ph idx="1"/>
          </p:nvPr>
        </p:nvSpPr>
        <p:spPr/>
        <p:txBody>
          <a:bodyPr vert="horz" lIns="91440" tIns="45720" rIns="91440" bIns="45720" rtlCol="0" anchor="t">
            <a:normAutofit/>
          </a:bodyPr>
          <a:lstStyle/>
          <a:p>
            <a:r>
              <a:rPr lang="en-US" dirty="0">
                <a:ea typeface="Calibri"/>
                <a:cs typeface="Calibri"/>
              </a:rPr>
              <a:t>Regularly review the codebase for redundant patterns and refactor as needed.</a:t>
            </a:r>
          </a:p>
          <a:p>
            <a:r>
              <a:rPr lang="en-US" dirty="0">
                <a:ea typeface="Calibri"/>
                <a:cs typeface="Calibri"/>
              </a:rPr>
              <a:t>Encourage the use of design patterns and abstractions to modularize common functionality.</a:t>
            </a:r>
            <a:endParaRPr lang="en-US" dirty="0"/>
          </a:p>
          <a:p>
            <a:r>
              <a:rPr lang="en-US" dirty="0">
                <a:ea typeface="Calibri"/>
                <a:cs typeface="Calibri"/>
              </a:rPr>
              <a:t>Leverage code generation tools or templates for repetitive tasks, ensuring consistency and reducing manual effort.</a:t>
            </a:r>
            <a:endParaRPr lang="en-US" dirty="0"/>
          </a:p>
          <a:p>
            <a:endParaRPr lang="en-US" dirty="0">
              <a:ea typeface="Calibri"/>
              <a:cs typeface="Calibri"/>
            </a:endParaRPr>
          </a:p>
        </p:txBody>
      </p:sp>
    </p:spTree>
    <p:extLst>
      <p:ext uri="{BB962C8B-B14F-4D97-AF65-F5344CB8AC3E}">
        <p14:creationId xmlns:p14="http://schemas.microsoft.com/office/powerpoint/2010/main" val="20910716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64065-E59D-D77F-BF47-6822F24A807D}"/>
              </a:ext>
            </a:extLst>
          </p:cNvPr>
          <p:cNvSpPr>
            <a:spLocks noGrp="1"/>
          </p:cNvSpPr>
          <p:nvPr>
            <p:ph type="title"/>
          </p:nvPr>
        </p:nvSpPr>
        <p:spPr/>
        <p:txBody>
          <a:bodyPr/>
          <a:lstStyle/>
          <a:p>
            <a:r>
              <a:rPr lang="en-US" dirty="0">
                <a:ea typeface="+mj-lt"/>
                <a:cs typeface="+mj-lt"/>
              </a:rPr>
              <a:t>Trust-By-Default Anti-Pattern</a:t>
            </a:r>
            <a:endParaRPr lang="en-US" dirty="0"/>
          </a:p>
        </p:txBody>
      </p:sp>
      <p:sp>
        <p:nvSpPr>
          <p:cNvPr id="3" name="Content Placeholder 2">
            <a:extLst>
              <a:ext uri="{FF2B5EF4-FFF2-40B4-BE49-F238E27FC236}">
                <a16:creationId xmlns:a16="http://schemas.microsoft.com/office/drawing/2014/main" id="{1FC7506A-1AE6-8166-33BF-DD15F37D87EC}"/>
              </a:ext>
            </a:extLst>
          </p:cNvPr>
          <p:cNvSpPr>
            <a:spLocks noGrp="1"/>
          </p:cNvSpPr>
          <p:nvPr>
            <p:ph idx="1"/>
          </p:nvPr>
        </p:nvSpPr>
        <p:spPr>
          <a:xfrm>
            <a:off x="838200" y="1533525"/>
            <a:ext cx="10515600" cy="5176838"/>
          </a:xfrm>
        </p:spPr>
        <p:txBody>
          <a:bodyPr vert="horz" lIns="91440" tIns="45720" rIns="91440" bIns="45720" rtlCol="0" anchor="t">
            <a:normAutofit fontScale="92500"/>
          </a:bodyPr>
          <a:lstStyle/>
          <a:p>
            <a:r>
              <a:rPr lang="en-US" dirty="0">
                <a:solidFill>
                  <a:srgbClr val="000000"/>
                </a:solidFill>
                <a:ea typeface="+mn-lt"/>
                <a:cs typeface="+mn-lt"/>
              </a:rPr>
              <a:t>The "Trust-By-Default" anti-pattern refers to a security flaw in a system or application where trust in entities, such as users or components, is granted without proper verification or validation. </a:t>
            </a:r>
          </a:p>
          <a:p>
            <a:r>
              <a:rPr lang="en-US" dirty="0">
                <a:solidFill>
                  <a:srgbClr val="000000"/>
                </a:solidFill>
                <a:ea typeface="+mn-lt"/>
                <a:cs typeface="+mn-lt"/>
              </a:rPr>
              <a:t>This anti-pattern assumes that all entities are trustworthy by default, which can lead to various security vulnerabilities. </a:t>
            </a:r>
          </a:p>
          <a:p>
            <a:r>
              <a:rPr lang="en-US" dirty="0">
                <a:solidFill>
                  <a:srgbClr val="000000"/>
                </a:solidFill>
                <a:ea typeface="+mn-lt"/>
                <a:cs typeface="+mn-lt"/>
              </a:rPr>
              <a:t>Here are some considerations related to the Trust-By-Default anti-pattern:</a:t>
            </a:r>
          </a:p>
          <a:p>
            <a:pPr lvl="1">
              <a:buFont typeface="Courier New" panose="020B0604020202020204" pitchFamily="34" charset="0"/>
              <a:buChar char="o"/>
            </a:pPr>
            <a:r>
              <a:rPr lang="en-US" dirty="0">
                <a:solidFill>
                  <a:srgbClr val="000000"/>
                </a:solidFill>
                <a:ea typeface="+mn-lt"/>
                <a:cs typeface="+mn-lt"/>
              </a:rPr>
              <a:t>Insufficient Authentication</a:t>
            </a:r>
          </a:p>
          <a:p>
            <a:pPr lvl="1">
              <a:buFont typeface="Courier New" panose="020B0604020202020204" pitchFamily="34" charset="0"/>
              <a:buChar char="o"/>
            </a:pPr>
            <a:r>
              <a:rPr lang="en-US" dirty="0">
                <a:solidFill>
                  <a:srgbClr val="000000"/>
                </a:solidFill>
                <a:ea typeface="+mn-lt"/>
                <a:cs typeface="+mn-lt"/>
              </a:rPr>
              <a:t>Weak Authorization Controls</a:t>
            </a:r>
          </a:p>
          <a:p>
            <a:pPr lvl="1">
              <a:buFont typeface="Courier New" panose="020B0604020202020204" pitchFamily="34" charset="0"/>
              <a:buChar char="o"/>
            </a:pPr>
            <a:r>
              <a:rPr lang="en-US" dirty="0">
                <a:solidFill>
                  <a:srgbClr val="000000"/>
                </a:solidFill>
                <a:ea typeface="+mn-lt"/>
                <a:cs typeface="+mn-lt"/>
              </a:rPr>
              <a:t>Unvalidated Input and Trusting User Input</a:t>
            </a:r>
          </a:p>
          <a:p>
            <a:pPr lvl="1">
              <a:buFont typeface="Courier New" panose="020B0604020202020204" pitchFamily="34" charset="0"/>
              <a:buChar char="o"/>
            </a:pPr>
            <a:r>
              <a:rPr lang="en-US" dirty="0">
                <a:solidFill>
                  <a:srgbClr val="000000"/>
                </a:solidFill>
                <a:ea typeface="+mn-lt"/>
                <a:cs typeface="+mn-lt"/>
              </a:rPr>
              <a:t>Insecure Communication Channels</a:t>
            </a:r>
          </a:p>
          <a:p>
            <a:pPr lvl="1">
              <a:buFont typeface="Courier New" panose="020B0604020202020204" pitchFamily="34" charset="0"/>
              <a:buChar char="o"/>
            </a:pPr>
            <a:r>
              <a:rPr lang="en-US" dirty="0">
                <a:solidFill>
                  <a:srgbClr val="000000"/>
                </a:solidFill>
                <a:ea typeface="+mn-lt"/>
                <a:cs typeface="+mn-lt"/>
              </a:rPr>
              <a:t>Default Credentials and Configurations</a:t>
            </a:r>
          </a:p>
          <a:p>
            <a:pPr lvl="1">
              <a:buFont typeface="Courier New" panose="020B0604020202020204" pitchFamily="34" charset="0"/>
              <a:buChar char="o"/>
            </a:pPr>
            <a:r>
              <a:rPr lang="en-US" dirty="0">
                <a:solidFill>
                  <a:srgbClr val="000000"/>
                </a:solidFill>
                <a:ea typeface="+mn-lt"/>
                <a:cs typeface="+mn-lt"/>
              </a:rPr>
              <a:t>Lack of Integrity Checks</a:t>
            </a:r>
          </a:p>
          <a:p>
            <a:pPr lvl="1">
              <a:buFont typeface="Courier New" panose="020B0604020202020204" pitchFamily="34" charset="0"/>
              <a:buChar char="o"/>
            </a:pPr>
            <a:r>
              <a:rPr lang="en-US" dirty="0">
                <a:solidFill>
                  <a:srgbClr val="000000"/>
                </a:solidFill>
                <a:ea typeface="+mn-lt"/>
                <a:cs typeface="+mn-lt"/>
              </a:rPr>
              <a:t>Trust in Third-Party Components</a:t>
            </a:r>
            <a:endParaRPr lang="en-US" dirty="0">
              <a:solidFill>
                <a:srgbClr val="000000"/>
              </a:solidFill>
              <a:ea typeface="Calibri"/>
              <a:cs typeface="Calibri"/>
            </a:endParaRPr>
          </a:p>
        </p:txBody>
      </p:sp>
    </p:spTree>
    <p:extLst>
      <p:ext uri="{BB962C8B-B14F-4D97-AF65-F5344CB8AC3E}">
        <p14:creationId xmlns:p14="http://schemas.microsoft.com/office/powerpoint/2010/main" val="17088988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6261A-1E33-6F9F-4450-2C96889FAA8E}"/>
              </a:ext>
            </a:extLst>
          </p:cNvPr>
          <p:cNvSpPr>
            <a:spLocks noGrp="1"/>
          </p:cNvSpPr>
          <p:nvPr>
            <p:ph type="title"/>
          </p:nvPr>
        </p:nvSpPr>
        <p:spPr/>
        <p:txBody>
          <a:bodyPr/>
          <a:lstStyle/>
          <a:p>
            <a:r>
              <a:rPr lang="en-US" dirty="0">
                <a:ea typeface="Calibri Light"/>
                <a:cs typeface="Calibri Light"/>
              </a:rPr>
              <a:t>Best Practices:</a:t>
            </a:r>
            <a:endParaRPr lang="en-US" dirty="0"/>
          </a:p>
        </p:txBody>
      </p:sp>
      <p:sp>
        <p:nvSpPr>
          <p:cNvPr id="3" name="Content Placeholder 2">
            <a:extLst>
              <a:ext uri="{FF2B5EF4-FFF2-40B4-BE49-F238E27FC236}">
                <a16:creationId xmlns:a16="http://schemas.microsoft.com/office/drawing/2014/main" id="{27C52608-D935-CA41-DA07-48C577C5BD42}"/>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Adopt a principle of "Verify, then Trust" when dealing with user input, authentication, and communication.</a:t>
            </a:r>
            <a:endParaRPr lang="en-US" dirty="0">
              <a:solidFill>
                <a:srgbClr val="000000"/>
              </a:solidFill>
              <a:ea typeface="Calibri" panose="020F0502020204030204"/>
              <a:cs typeface="Calibri" panose="020F0502020204030204"/>
            </a:endParaRPr>
          </a:p>
          <a:p>
            <a:r>
              <a:rPr lang="en-US" dirty="0">
                <a:solidFill>
                  <a:srgbClr val="000000"/>
                </a:solidFill>
                <a:ea typeface="+mn-lt"/>
                <a:cs typeface="+mn-lt"/>
              </a:rPr>
              <a:t>Implement defense-in-depth strategies with multiple layers of security controls.</a:t>
            </a:r>
            <a:endParaRPr lang="en-US" dirty="0"/>
          </a:p>
          <a:p>
            <a:r>
              <a:rPr lang="en-US" dirty="0">
                <a:solidFill>
                  <a:srgbClr val="000000"/>
                </a:solidFill>
                <a:ea typeface="+mn-lt"/>
                <a:cs typeface="+mn-lt"/>
              </a:rPr>
              <a:t>Regularly conduct security assessments, including penetration testing and code reviews, to identify and address trust-related vulnerabilities.</a:t>
            </a:r>
            <a:endParaRPr lang="en-US" dirty="0"/>
          </a:p>
          <a:p>
            <a:r>
              <a:rPr lang="en-US" dirty="0">
                <a:solidFill>
                  <a:srgbClr val="000000"/>
                </a:solidFill>
                <a:ea typeface="+mn-lt"/>
                <a:cs typeface="+mn-lt"/>
              </a:rPr>
              <a:t>Stay informed about security best practices and vulnerabilities relevant to the technologies and components used in the application.</a:t>
            </a:r>
            <a:endParaRPr lang="en-US" dirty="0"/>
          </a:p>
          <a:p>
            <a:pPr marL="0" indent="0">
              <a:buNone/>
            </a:pPr>
            <a:endParaRPr lang="en-US" dirty="0">
              <a:ea typeface="Calibri"/>
              <a:cs typeface="Calibri"/>
            </a:endParaRPr>
          </a:p>
        </p:txBody>
      </p:sp>
    </p:spTree>
    <p:extLst>
      <p:ext uri="{BB962C8B-B14F-4D97-AF65-F5344CB8AC3E}">
        <p14:creationId xmlns:p14="http://schemas.microsoft.com/office/powerpoint/2010/main" val="9653820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0D5CA-F83B-BC46-81CE-1C1C0D8BDB44}"/>
              </a:ext>
            </a:extLst>
          </p:cNvPr>
          <p:cNvSpPr>
            <a:spLocks noGrp="1"/>
          </p:cNvSpPr>
          <p:nvPr>
            <p:ph type="title"/>
          </p:nvPr>
        </p:nvSpPr>
        <p:spPr/>
        <p:txBody>
          <a:bodyPr/>
          <a:lstStyle/>
          <a:p>
            <a:r>
              <a:rPr lang="en-US" dirty="0">
                <a:ea typeface="+mj-lt"/>
                <a:cs typeface="+mj-lt"/>
              </a:rPr>
              <a:t>Client/Server Separation </a:t>
            </a:r>
            <a:endParaRPr lang="en-US" dirty="0"/>
          </a:p>
        </p:txBody>
      </p:sp>
      <p:sp>
        <p:nvSpPr>
          <p:cNvPr id="3" name="Content Placeholder 2">
            <a:extLst>
              <a:ext uri="{FF2B5EF4-FFF2-40B4-BE49-F238E27FC236}">
                <a16:creationId xmlns:a16="http://schemas.microsoft.com/office/drawing/2014/main" id="{3548FF8F-CE2D-D366-A6DC-58618928F590}"/>
              </a:ext>
            </a:extLst>
          </p:cNvPr>
          <p:cNvSpPr>
            <a:spLocks noGrp="1"/>
          </p:cNvSpPr>
          <p:nvPr>
            <p:ph idx="1"/>
          </p:nvPr>
        </p:nvSpPr>
        <p:spPr>
          <a:xfrm>
            <a:off x="838200" y="1739361"/>
            <a:ext cx="10515600" cy="4753903"/>
          </a:xfrm>
        </p:spPr>
        <p:txBody>
          <a:bodyPr vert="horz" lIns="91440" tIns="45720" rIns="91440" bIns="45720" rtlCol="0" anchor="t">
            <a:normAutofit lnSpcReduction="10000"/>
          </a:bodyPr>
          <a:lstStyle/>
          <a:p>
            <a:r>
              <a:rPr lang="en-US" dirty="0">
                <a:solidFill>
                  <a:srgbClr val="000000"/>
                </a:solidFill>
                <a:ea typeface="+mn-lt"/>
                <a:cs typeface="+mn-lt"/>
              </a:rPr>
              <a:t>The "Client/Server Separation" anti-pattern refers to a situation where the client-side and server-side components of an application are not properly separated or isolated. </a:t>
            </a:r>
          </a:p>
          <a:p>
            <a:r>
              <a:rPr lang="en-US" dirty="0">
                <a:solidFill>
                  <a:srgbClr val="000000"/>
                </a:solidFill>
                <a:ea typeface="+mn-lt"/>
                <a:cs typeface="+mn-lt"/>
              </a:rPr>
              <a:t>This lack of clear separation can lead to various issues, including security vulnerabilities, maintainability challenges, and difficulties in scaling the system.</a:t>
            </a:r>
          </a:p>
          <a:p>
            <a:r>
              <a:rPr lang="en-US">
                <a:solidFill>
                  <a:srgbClr val="000000"/>
                </a:solidFill>
                <a:ea typeface="+mn-lt"/>
                <a:cs typeface="+mn-lt"/>
              </a:rPr>
              <a:t>Here are some considerations related to the Client/Server Separation anti-pattern:</a:t>
            </a:r>
          </a:p>
          <a:p>
            <a:pPr lvl="1">
              <a:buFont typeface="Courier New" panose="020B0604020202020204" pitchFamily="34" charset="0"/>
              <a:buChar char="o"/>
            </a:pPr>
            <a:r>
              <a:rPr lang="en-US">
                <a:solidFill>
                  <a:srgbClr val="000000"/>
                </a:solidFill>
                <a:ea typeface="+mn-lt"/>
                <a:cs typeface="+mn-lt"/>
              </a:rPr>
              <a:t>Tight Coupling of Presentation and Business Logic</a:t>
            </a:r>
          </a:p>
          <a:p>
            <a:pPr lvl="1">
              <a:buFont typeface="Courier New" panose="020B0604020202020204" pitchFamily="34" charset="0"/>
              <a:buChar char="o"/>
            </a:pPr>
            <a:r>
              <a:rPr lang="en-US" dirty="0">
                <a:solidFill>
                  <a:srgbClr val="000000"/>
                </a:solidFill>
                <a:ea typeface="+mn-lt"/>
                <a:cs typeface="+mn-lt"/>
              </a:rPr>
              <a:t>Insecure Data Handling</a:t>
            </a:r>
          </a:p>
          <a:p>
            <a:pPr lvl="1">
              <a:buFont typeface="Courier New" panose="020B0604020202020204" pitchFamily="34" charset="0"/>
              <a:buChar char="o"/>
            </a:pPr>
            <a:r>
              <a:rPr lang="en-US">
                <a:solidFill>
                  <a:srgbClr val="000000"/>
                </a:solidFill>
                <a:ea typeface="+mn-lt"/>
                <a:cs typeface="+mn-lt"/>
              </a:rPr>
              <a:t>Limited Scalability</a:t>
            </a:r>
          </a:p>
          <a:p>
            <a:pPr lvl="1">
              <a:buFont typeface="Courier New" panose="020B0604020202020204" pitchFamily="34" charset="0"/>
              <a:buChar char="o"/>
            </a:pPr>
            <a:r>
              <a:rPr lang="en-US" dirty="0">
                <a:solidFill>
                  <a:srgbClr val="000000"/>
                </a:solidFill>
                <a:ea typeface="+mn-lt"/>
                <a:cs typeface="+mn-lt"/>
              </a:rPr>
              <a:t>Inefficient Data Transfer</a:t>
            </a:r>
            <a:endParaRPr lang="en-US" dirty="0">
              <a:solidFill>
                <a:srgbClr val="000000"/>
              </a:solidFill>
              <a:ea typeface="Calibri"/>
              <a:cs typeface="Calibri"/>
            </a:endParaRPr>
          </a:p>
        </p:txBody>
      </p:sp>
    </p:spTree>
    <p:extLst>
      <p:ext uri="{BB962C8B-B14F-4D97-AF65-F5344CB8AC3E}">
        <p14:creationId xmlns:p14="http://schemas.microsoft.com/office/powerpoint/2010/main" val="8954663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E2DB4-A7F7-DC5B-2A21-CBDF5A4AFF49}"/>
              </a:ext>
            </a:extLst>
          </p:cNvPr>
          <p:cNvSpPr>
            <a:spLocks noGrp="1"/>
          </p:cNvSpPr>
          <p:nvPr>
            <p:ph type="title"/>
          </p:nvPr>
        </p:nvSpPr>
        <p:spPr/>
        <p:txBody>
          <a:bodyPr>
            <a:normAutofit/>
          </a:bodyPr>
          <a:lstStyle/>
          <a:p>
            <a:r>
              <a:rPr lang="en-US" dirty="0">
                <a:ea typeface="+mj-lt"/>
                <a:cs typeface="+mj-lt"/>
              </a:rPr>
              <a:t>Best Practices:</a:t>
            </a:r>
            <a:endParaRPr lang="en-US" dirty="0"/>
          </a:p>
        </p:txBody>
      </p:sp>
      <p:sp>
        <p:nvSpPr>
          <p:cNvPr id="3" name="Content Placeholder 2">
            <a:extLst>
              <a:ext uri="{FF2B5EF4-FFF2-40B4-BE49-F238E27FC236}">
                <a16:creationId xmlns:a16="http://schemas.microsoft.com/office/drawing/2014/main" id="{D74D1B53-1853-D5CF-3A7F-43A90C1EB499}"/>
              </a:ext>
            </a:extLst>
          </p:cNvPr>
          <p:cNvSpPr>
            <a:spLocks noGrp="1"/>
          </p:cNvSpPr>
          <p:nvPr>
            <p:ph idx="1"/>
          </p:nvPr>
        </p:nvSpPr>
        <p:spPr>
          <a:xfrm>
            <a:off x="838200" y="1825625"/>
            <a:ext cx="10515600" cy="4667639"/>
          </a:xfrm>
        </p:spPr>
        <p:txBody>
          <a:bodyPr vert="horz" lIns="91440" tIns="45720" rIns="91440" bIns="45720" rtlCol="0" anchor="t">
            <a:normAutofit/>
          </a:bodyPr>
          <a:lstStyle/>
          <a:p>
            <a:r>
              <a:rPr lang="en-US">
                <a:ea typeface="Calibri"/>
                <a:cs typeface="Calibri"/>
              </a:rPr>
              <a:t>Follow a clear architectural pattern that separates client-side and server-side responsibilities (e.g., RESTful APIs for web applications).</a:t>
            </a:r>
            <a:endParaRPr lang="en-US" dirty="0">
              <a:ea typeface="Calibri"/>
              <a:cs typeface="Calibri"/>
            </a:endParaRPr>
          </a:p>
          <a:p>
            <a:r>
              <a:rPr lang="en-US">
                <a:ea typeface="Calibri"/>
                <a:cs typeface="Calibri"/>
              </a:rPr>
              <a:t>Use secure communication protocols (e.g., HTTPS) to protect data in transit between the client and server.</a:t>
            </a:r>
            <a:endParaRPr lang="en-US"/>
          </a:p>
          <a:p>
            <a:r>
              <a:rPr lang="en-US">
                <a:ea typeface="Calibri"/>
                <a:cs typeface="Calibri"/>
              </a:rPr>
              <a:t>Implement proper authentication and authorization mechanisms to control access to resources and operations.</a:t>
            </a:r>
            <a:endParaRPr lang="en-US"/>
          </a:p>
          <a:p>
            <a:r>
              <a:rPr lang="en-US">
                <a:ea typeface="Calibri"/>
                <a:cs typeface="Calibri"/>
              </a:rPr>
              <a:t>Regularly review and refactor the codebase to ensure a clear separation of concerns and to address any coupling issues.</a:t>
            </a:r>
            <a:endParaRPr lang="en-US"/>
          </a:p>
          <a:p>
            <a:pPr marL="0" indent="0">
              <a:buNone/>
            </a:pPr>
            <a:endParaRPr lang="en-US" dirty="0">
              <a:ea typeface="Calibri"/>
              <a:cs typeface="Calibri"/>
            </a:endParaRPr>
          </a:p>
        </p:txBody>
      </p:sp>
    </p:spTree>
    <p:extLst>
      <p:ext uri="{BB962C8B-B14F-4D97-AF65-F5344CB8AC3E}">
        <p14:creationId xmlns:p14="http://schemas.microsoft.com/office/powerpoint/2010/main" val="33588500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D7CBA-7C2B-EBAE-663C-87A34713B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ADDCCE-EE0D-75E6-3866-06B06AF8650A}"/>
              </a:ext>
            </a:extLst>
          </p:cNvPr>
          <p:cNvSpPr>
            <a:spLocks noGrp="1"/>
          </p:cNvSpPr>
          <p:nvPr>
            <p:ph type="title"/>
          </p:nvPr>
        </p:nvSpPr>
        <p:spPr/>
        <p:txBody>
          <a:bodyPr/>
          <a:lstStyle/>
          <a:p>
            <a:r>
              <a:rPr lang="en-US" dirty="0">
                <a:cs typeface="Calibri Light"/>
              </a:rPr>
              <a:t>Outline</a:t>
            </a:r>
            <a:endParaRPr lang="en-US" dirty="0"/>
          </a:p>
        </p:txBody>
      </p:sp>
      <p:sp>
        <p:nvSpPr>
          <p:cNvPr id="3" name="Content Placeholder 2">
            <a:extLst>
              <a:ext uri="{FF2B5EF4-FFF2-40B4-BE49-F238E27FC236}">
                <a16:creationId xmlns:a16="http://schemas.microsoft.com/office/drawing/2014/main" id="{5AADC28E-A31B-C92C-DF2F-13E2A297C619}"/>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Securing Modern Web Applications</a:t>
            </a:r>
          </a:p>
          <a:p>
            <a:r>
              <a:rPr lang="en-US" dirty="0">
                <a:ea typeface="+mn-lt"/>
                <a:cs typeface="+mn-lt"/>
              </a:rPr>
              <a:t>Secure Application Architecture</a:t>
            </a:r>
          </a:p>
          <a:p>
            <a:r>
              <a:rPr lang="en-US" dirty="0">
                <a:ea typeface="+mn-lt"/>
                <a:cs typeface="+mn-lt"/>
              </a:rPr>
              <a:t>Reviewing Code for Security</a:t>
            </a:r>
          </a:p>
          <a:p>
            <a:r>
              <a:rPr lang="en-US" dirty="0">
                <a:solidFill>
                  <a:srgbClr val="FF0000"/>
                </a:solidFill>
                <a:ea typeface="+mn-lt"/>
                <a:cs typeface="+mn-lt"/>
              </a:rPr>
              <a:t>Vulnerability Discovery</a:t>
            </a:r>
            <a:endParaRPr lang="en-US" dirty="0">
              <a:ea typeface="Calibri"/>
              <a:cs typeface="Calibri"/>
            </a:endParaRPr>
          </a:p>
          <a:p>
            <a:r>
              <a:rPr lang="en-US" dirty="0">
                <a:ea typeface="+mn-lt"/>
                <a:cs typeface="+mn-lt"/>
              </a:rPr>
              <a:t>Defending Against XSS Attacks, Defending Against CSRF Attacks, </a:t>
            </a:r>
            <a:endParaRPr lang="en-US" dirty="0"/>
          </a:p>
          <a:p>
            <a:r>
              <a:rPr lang="en-US" dirty="0">
                <a:ea typeface="+mn-lt"/>
                <a:cs typeface="+mn-lt"/>
              </a:rPr>
              <a:t>Defending Against XXE, Defending Against Injection attacks, </a:t>
            </a:r>
            <a:endParaRPr lang="en-US"/>
          </a:p>
          <a:p>
            <a:r>
              <a:rPr lang="en-US" dirty="0">
                <a:ea typeface="+mn-lt"/>
                <a:cs typeface="+mn-lt"/>
              </a:rPr>
              <a:t>Defending Against DoS, Defending against CORS based attacks</a:t>
            </a:r>
            <a:endParaRPr lang="en-US" dirty="0"/>
          </a:p>
          <a:p>
            <a:r>
              <a:rPr lang="en-US" dirty="0">
                <a:ea typeface="+mn-lt"/>
                <a:cs typeface="+mn-lt"/>
              </a:rPr>
              <a:t>Self-learning Topics: Implement the countermeasures to the attacks using open-source tools</a:t>
            </a:r>
            <a:endParaRPr lang="en-US" dirty="0"/>
          </a:p>
        </p:txBody>
      </p:sp>
    </p:spTree>
    <p:extLst>
      <p:ext uri="{BB962C8B-B14F-4D97-AF65-F5344CB8AC3E}">
        <p14:creationId xmlns:p14="http://schemas.microsoft.com/office/powerpoint/2010/main" val="38509876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4C807-9AFD-5665-AEEC-34A620A031D7}"/>
              </a:ext>
            </a:extLst>
          </p:cNvPr>
          <p:cNvSpPr>
            <a:spLocks noGrp="1"/>
          </p:cNvSpPr>
          <p:nvPr>
            <p:ph type="ctrTitle"/>
          </p:nvPr>
        </p:nvSpPr>
        <p:spPr/>
        <p:txBody>
          <a:bodyPr>
            <a:normAutofit/>
          </a:bodyPr>
          <a:lstStyle/>
          <a:p>
            <a:r>
              <a:rPr lang="en-US" dirty="0">
                <a:solidFill>
                  <a:srgbClr val="000000"/>
                </a:solidFill>
                <a:latin typeface="Calibri Light"/>
                <a:ea typeface="Calibri Light"/>
                <a:cs typeface="Calibri Light"/>
              </a:rPr>
              <a:t>Vulnerability Discovery</a:t>
            </a:r>
            <a:endParaRPr lang="en-US" dirty="0"/>
          </a:p>
        </p:txBody>
      </p:sp>
      <p:sp>
        <p:nvSpPr>
          <p:cNvPr id="3" name="Content Placeholder 2">
            <a:extLst>
              <a:ext uri="{FF2B5EF4-FFF2-40B4-BE49-F238E27FC236}">
                <a16:creationId xmlns:a16="http://schemas.microsoft.com/office/drawing/2014/main" id="{3B297CFE-6548-D1C5-4C4A-65E611DA7F9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808026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674741-217C-84A5-F202-9EDA5AE4A004}"/>
              </a:ext>
            </a:extLst>
          </p:cNvPr>
          <p:cNvSpPr>
            <a:spLocks noGrp="1"/>
          </p:cNvSpPr>
          <p:nvPr>
            <p:ph idx="1"/>
          </p:nvPr>
        </p:nvSpPr>
        <p:spPr>
          <a:xfrm>
            <a:off x="838200" y="288925"/>
            <a:ext cx="10515600" cy="5888038"/>
          </a:xfrm>
        </p:spPr>
        <p:txBody>
          <a:bodyPr vert="horz" lIns="91440" tIns="45720" rIns="91440" bIns="45720" rtlCol="0" anchor="t">
            <a:normAutofit/>
          </a:bodyPr>
          <a:lstStyle/>
          <a:p>
            <a:r>
              <a:rPr lang="en-US" dirty="0">
                <a:ea typeface="+mn-lt"/>
                <a:cs typeface="+mn-lt"/>
              </a:rPr>
              <a:t>Typically, applications with the best architecture experience the least amount of vulnerabilities and the lowest risk vulnerabilities.</a:t>
            </a:r>
          </a:p>
          <a:p>
            <a:r>
              <a:rPr lang="en-US" dirty="0">
                <a:ea typeface="+mn-lt"/>
                <a:cs typeface="+mn-lt"/>
              </a:rPr>
              <a:t> After that, applications with sufficiently secure code review processes in place experience fewer vulnerabilities than those without such processes, but more than those with a secure-by-default architecture. </a:t>
            </a:r>
            <a:endParaRPr lang="en-US">
              <a:ea typeface="+mn-lt"/>
              <a:cs typeface="+mn-lt"/>
            </a:endParaRPr>
          </a:p>
          <a:p>
            <a:r>
              <a:rPr lang="en-US" dirty="0">
                <a:ea typeface="+mn-lt"/>
                <a:cs typeface="+mn-lt"/>
              </a:rPr>
              <a:t>However, even securely architected and sufficiently reviewed applications still fall prey to the occasional vulnerability. </a:t>
            </a:r>
            <a:endParaRPr lang="en-US">
              <a:ea typeface="+mn-lt"/>
              <a:cs typeface="+mn-lt"/>
            </a:endParaRPr>
          </a:p>
          <a:p>
            <a:r>
              <a:rPr lang="en-US" dirty="0">
                <a:ea typeface="+mn-lt"/>
                <a:cs typeface="+mn-lt"/>
              </a:rPr>
              <a:t>These vulnerabilities can slip through reviews, or come as a result of an unexpected behavior when the application is run in a different environment or its intended environment is upgraded. </a:t>
            </a:r>
            <a:endParaRPr lang="en-US">
              <a:ea typeface="+mn-lt"/>
              <a:cs typeface="+mn-lt"/>
            </a:endParaRPr>
          </a:p>
          <a:p>
            <a:r>
              <a:rPr lang="en-US" dirty="0">
                <a:ea typeface="+mn-lt"/>
                <a:cs typeface="+mn-lt"/>
              </a:rPr>
              <a:t>As a result, you need vulnerability discovery processes in place that target production code rather than preproduction code.</a:t>
            </a:r>
            <a:endParaRPr lang="en-US">
              <a:ea typeface="Calibri"/>
              <a:cs typeface="Calibri"/>
            </a:endParaRPr>
          </a:p>
        </p:txBody>
      </p:sp>
    </p:spTree>
    <p:extLst>
      <p:ext uri="{BB962C8B-B14F-4D97-AF65-F5344CB8AC3E}">
        <p14:creationId xmlns:p14="http://schemas.microsoft.com/office/powerpoint/2010/main" val="20664904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F348F-32A7-8503-913F-B7B2000ECF61}"/>
              </a:ext>
            </a:extLst>
          </p:cNvPr>
          <p:cNvSpPr>
            <a:spLocks noGrp="1"/>
          </p:cNvSpPr>
          <p:nvPr>
            <p:ph type="title"/>
          </p:nvPr>
        </p:nvSpPr>
        <p:spPr/>
        <p:txBody>
          <a:bodyPr/>
          <a:lstStyle/>
          <a:p>
            <a:r>
              <a:rPr lang="en-GB" dirty="0">
                <a:ea typeface="+mj-lt"/>
                <a:cs typeface="+mj-lt"/>
              </a:rPr>
              <a:t>Security Automation</a:t>
            </a:r>
            <a:endParaRPr lang="en-US" dirty="0"/>
          </a:p>
        </p:txBody>
      </p:sp>
      <p:sp>
        <p:nvSpPr>
          <p:cNvPr id="3" name="Content Placeholder 2">
            <a:extLst>
              <a:ext uri="{FF2B5EF4-FFF2-40B4-BE49-F238E27FC236}">
                <a16:creationId xmlns:a16="http://schemas.microsoft.com/office/drawing/2014/main" id="{FFF55077-FB67-0628-6592-719950488255}"/>
              </a:ext>
            </a:extLst>
          </p:cNvPr>
          <p:cNvSpPr>
            <a:spLocks noGrp="1"/>
          </p:cNvSpPr>
          <p:nvPr>
            <p:ph idx="1"/>
          </p:nvPr>
        </p:nvSpPr>
        <p:spPr>
          <a:xfrm>
            <a:off x="838200" y="1825625"/>
            <a:ext cx="10515600" cy="4782658"/>
          </a:xfrm>
        </p:spPr>
        <p:txBody>
          <a:bodyPr vert="horz" lIns="91440" tIns="45720" rIns="91440" bIns="45720" rtlCol="0" anchor="t">
            <a:normAutofit/>
          </a:bodyPr>
          <a:lstStyle/>
          <a:p>
            <a:r>
              <a:rPr lang="en-GB" dirty="0">
                <a:ea typeface="+mn-lt"/>
                <a:cs typeface="+mn-lt"/>
              </a:rPr>
              <a:t>The initial step in discovering vulnerabilities.</a:t>
            </a:r>
          </a:p>
          <a:p>
            <a:r>
              <a:rPr lang="en-GB" dirty="0">
                <a:ea typeface="+mn-lt"/>
                <a:cs typeface="+mn-lt"/>
              </a:rPr>
              <a:t>After architecture and review phases is the automation phase.</a:t>
            </a:r>
          </a:p>
          <a:p>
            <a:r>
              <a:rPr lang="en-GB" dirty="0">
                <a:ea typeface="+mn-lt"/>
                <a:cs typeface="+mn-lt"/>
              </a:rPr>
              <a:t>Instead, automation is (usually) cheap, effective, and long-lasting.</a:t>
            </a:r>
          </a:p>
          <a:p>
            <a:r>
              <a:rPr lang="en-GB" dirty="0">
                <a:ea typeface="+mn-lt"/>
                <a:cs typeface="+mn-lt"/>
              </a:rPr>
              <a:t>Security automation comes in a few forms; the most common are: </a:t>
            </a:r>
          </a:p>
          <a:p>
            <a:pPr lvl="1">
              <a:buFont typeface="Courier New" panose="020B0604020202020204" pitchFamily="34" charset="0"/>
              <a:buChar char="o"/>
            </a:pPr>
            <a:r>
              <a:rPr lang="en-GB" dirty="0">
                <a:ea typeface="+mn-lt"/>
                <a:cs typeface="+mn-lt"/>
              </a:rPr>
              <a:t> Static analysis </a:t>
            </a:r>
          </a:p>
          <a:p>
            <a:pPr lvl="1">
              <a:buFont typeface="Courier New" panose="020B0604020202020204" pitchFamily="34" charset="0"/>
              <a:buChar char="o"/>
            </a:pPr>
            <a:r>
              <a:rPr lang="en-GB" dirty="0">
                <a:ea typeface="+mn-lt"/>
                <a:cs typeface="+mn-lt"/>
              </a:rPr>
              <a:t>Dynamic analysis </a:t>
            </a:r>
          </a:p>
          <a:p>
            <a:pPr lvl="1">
              <a:buFont typeface="Courier New" panose="020B0604020202020204" pitchFamily="34" charset="0"/>
              <a:buChar char="o"/>
            </a:pPr>
            <a:r>
              <a:rPr lang="en-GB" dirty="0">
                <a:ea typeface="+mn-lt"/>
                <a:cs typeface="+mn-lt"/>
              </a:rPr>
              <a:t>Vulnerability regression testing</a:t>
            </a:r>
          </a:p>
          <a:p>
            <a:r>
              <a:rPr lang="en-GB" dirty="0">
                <a:ea typeface="+mn-lt"/>
                <a:cs typeface="+mn-lt"/>
              </a:rPr>
              <a:t>Each of these forms of automation has a separate purpose and position in the application development life cycle, but each is essential as it picks up types of vulnerabilities the others would not.</a:t>
            </a:r>
            <a:endParaRPr lang="en-GB" dirty="0">
              <a:cs typeface="Calibri"/>
            </a:endParaRPr>
          </a:p>
        </p:txBody>
      </p:sp>
    </p:spTree>
    <p:extLst>
      <p:ext uri="{BB962C8B-B14F-4D97-AF65-F5344CB8AC3E}">
        <p14:creationId xmlns:p14="http://schemas.microsoft.com/office/powerpoint/2010/main" val="27615934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F5931-BB4F-A325-0F6E-4722445FA3D8}"/>
              </a:ext>
            </a:extLst>
          </p:cNvPr>
          <p:cNvSpPr>
            <a:spLocks noGrp="1"/>
          </p:cNvSpPr>
          <p:nvPr>
            <p:ph type="title"/>
          </p:nvPr>
        </p:nvSpPr>
        <p:spPr>
          <a:xfrm>
            <a:off x="838200" y="-123705"/>
            <a:ext cx="10515600" cy="1325563"/>
          </a:xfrm>
        </p:spPr>
        <p:txBody>
          <a:bodyPr/>
          <a:lstStyle/>
          <a:p>
            <a:r>
              <a:rPr lang="en-GB" dirty="0">
                <a:ea typeface="+mj-lt"/>
                <a:cs typeface="+mj-lt"/>
              </a:rPr>
              <a:t>Static Analysis</a:t>
            </a:r>
            <a:endParaRPr lang="en-US" dirty="0"/>
          </a:p>
        </p:txBody>
      </p:sp>
      <p:sp>
        <p:nvSpPr>
          <p:cNvPr id="3" name="Content Placeholder 2">
            <a:extLst>
              <a:ext uri="{FF2B5EF4-FFF2-40B4-BE49-F238E27FC236}">
                <a16:creationId xmlns:a16="http://schemas.microsoft.com/office/drawing/2014/main" id="{30AC70ED-17A6-0152-400A-FDE799B2809D}"/>
              </a:ext>
            </a:extLst>
          </p:cNvPr>
          <p:cNvSpPr>
            <a:spLocks noGrp="1"/>
          </p:cNvSpPr>
          <p:nvPr>
            <p:ph idx="1"/>
          </p:nvPr>
        </p:nvSpPr>
        <p:spPr>
          <a:xfrm>
            <a:off x="838200" y="891099"/>
            <a:ext cx="10515600" cy="5889713"/>
          </a:xfrm>
        </p:spPr>
        <p:txBody>
          <a:bodyPr vert="horz" lIns="91440" tIns="45720" rIns="91440" bIns="45720" rtlCol="0" anchor="t">
            <a:normAutofit lnSpcReduction="10000"/>
          </a:bodyPr>
          <a:lstStyle/>
          <a:p>
            <a:r>
              <a:rPr lang="en-GB" dirty="0">
                <a:ea typeface="+mn-lt"/>
                <a:cs typeface="+mn-lt"/>
              </a:rPr>
              <a:t>Static </a:t>
            </a:r>
            <a:r>
              <a:rPr lang="en-GB" dirty="0" err="1">
                <a:ea typeface="+mn-lt"/>
                <a:cs typeface="+mn-lt"/>
              </a:rPr>
              <a:t>analyzers</a:t>
            </a:r>
            <a:r>
              <a:rPr lang="en-GB" dirty="0">
                <a:ea typeface="+mn-lt"/>
                <a:cs typeface="+mn-lt"/>
              </a:rPr>
              <a:t> are scripts that look at source code and evaluate the code for syntax errors and common mistakes. </a:t>
            </a:r>
          </a:p>
          <a:p>
            <a:r>
              <a:rPr lang="en-GB" dirty="0">
                <a:ea typeface="+mn-lt"/>
                <a:cs typeface="+mn-lt"/>
              </a:rPr>
              <a:t>Static analysis can take place locally during development (a linter) and on-demand against a source code repository or on each commit/push to the master branch.</a:t>
            </a:r>
          </a:p>
          <a:p>
            <a:r>
              <a:rPr lang="en-GB" dirty="0">
                <a:ea typeface="+mn-lt"/>
                <a:cs typeface="+mn-lt"/>
              </a:rPr>
              <a:t>Many robust and powerful static analysis tools</a:t>
            </a:r>
          </a:p>
          <a:p>
            <a:pPr lvl="1">
              <a:buFont typeface="Courier New" panose="020B0604020202020204" pitchFamily="34" charset="0"/>
              <a:buChar char="o"/>
            </a:pPr>
            <a:r>
              <a:rPr lang="en-GB" err="1">
                <a:ea typeface="+mn-lt"/>
                <a:cs typeface="+mn-lt"/>
              </a:rPr>
              <a:t>Checkmarx</a:t>
            </a:r>
            <a:r>
              <a:rPr lang="en-GB" dirty="0">
                <a:ea typeface="+mn-lt"/>
                <a:cs typeface="+mn-lt"/>
              </a:rPr>
              <a:t> (most major languages—paid) </a:t>
            </a:r>
          </a:p>
          <a:p>
            <a:pPr lvl="1">
              <a:buFont typeface="Courier New" panose="020B0604020202020204" pitchFamily="34" charset="0"/>
              <a:buChar char="o"/>
            </a:pPr>
            <a:r>
              <a:rPr lang="en-GB" dirty="0">
                <a:ea typeface="+mn-lt"/>
                <a:cs typeface="+mn-lt"/>
              </a:rPr>
              <a:t>PMD (Java—free) </a:t>
            </a:r>
          </a:p>
          <a:p>
            <a:pPr lvl="1">
              <a:buFont typeface="Courier New" panose="020B0604020202020204" pitchFamily="34" charset="0"/>
              <a:buChar char="o"/>
            </a:pPr>
            <a:r>
              <a:rPr lang="en-GB" dirty="0">
                <a:ea typeface="+mn-lt"/>
                <a:cs typeface="+mn-lt"/>
              </a:rPr>
              <a:t>Bandit (Python—free) </a:t>
            </a:r>
          </a:p>
          <a:p>
            <a:pPr lvl="1">
              <a:buFont typeface="Courier New" panose="020B0604020202020204" pitchFamily="34" charset="0"/>
              <a:buChar char="o"/>
            </a:pPr>
            <a:r>
              <a:rPr lang="en-GB" dirty="0">
                <a:ea typeface="+mn-lt"/>
                <a:cs typeface="+mn-lt"/>
              </a:rPr>
              <a:t>Brakeman (Ruby—free)</a:t>
            </a:r>
          </a:p>
          <a:p>
            <a:r>
              <a:rPr lang="en-GB" dirty="0">
                <a:ea typeface="+mn-lt"/>
                <a:cs typeface="+mn-lt"/>
              </a:rPr>
              <a:t>Each of these tools can be configured to </a:t>
            </a:r>
            <a:r>
              <a:rPr lang="en-GB" err="1">
                <a:ea typeface="+mn-lt"/>
                <a:cs typeface="+mn-lt"/>
              </a:rPr>
              <a:t>analyze</a:t>
            </a:r>
            <a:r>
              <a:rPr lang="en-GB" dirty="0">
                <a:ea typeface="+mn-lt"/>
                <a:cs typeface="+mn-lt"/>
              </a:rPr>
              <a:t> the syntax of a document containing text and representing a file of code.</a:t>
            </a:r>
          </a:p>
          <a:p>
            <a:r>
              <a:rPr lang="en-GB" dirty="0">
                <a:ea typeface="+mn-lt"/>
                <a:cs typeface="+mn-lt"/>
              </a:rPr>
              <a:t>static analysis tooling can also help you enforce best secure coding practices.</a:t>
            </a:r>
            <a:endParaRPr lang="en-GB" dirty="0">
              <a:cs typeface="Calibri"/>
            </a:endParaRPr>
          </a:p>
        </p:txBody>
      </p:sp>
    </p:spTree>
    <p:extLst>
      <p:ext uri="{BB962C8B-B14F-4D97-AF65-F5344CB8AC3E}">
        <p14:creationId xmlns:p14="http://schemas.microsoft.com/office/powerpoint/2010/main" val="7153547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58496A-FD81-889F-0AB3-AC28A5F30DAE}"/>
              </a:ext>
            </a:extLst>
          </p:cNvPr>
          <p:cNvSpPr>
            <a:spLocks noGrp="1"/>
          </p:cNvSpPr>
          <p:nvPr>
            <p:ph idx="1"/>
          </p:nvPr>
        </p:nvSpPr>
        <p:spPr>
          <a:xfrm>
            <a:off x="838200" y="143475"/>
            <a:ext cx="10515600" cy="6033488"/>
          </a:xfrm>
        </p:spPr>
        <p:txBody>
          <a:bodyPr vert="horz" lIns="91440" tIns="45720" rIns="91440" bIns="45720" rtlCol="0" anchor="t">
            <a:normAutofit/>
          </a:bodyPr>
          <a:lstStyle/>
          <a:p>
            <a:r>
              <a:rPr lang="en-GB" dirty="0">
                <a:ea typeface="+mn-lt"/>
                <a:cs typeface="+mn-lt"/>
              </a:rPr>
              <a:t>The following exploits are often detectable via static analysis:</a:t>
            </a:r>
          </a:p>
          <a:p>
            <a:r>
              <a:rPr lang="en-GB" dirty="0">
                <a:ea typeface="+mn-lt"/>
                <a:cs typeface="+mn-lt"/>
              </a:rPr>
              <a:t>General XSS </a:t>
            </a:r>
          </a:p>
          <a:p>
            <a:pPr lvl="1">
              <a:buFont typeface="Courier New" panose="020B0604020202020204" pitchFamily="34" charset="0"/>
              <a:buChar char="o"/>
            </a:pPr>
            <a:r>
              <a:rPr lang="en-GB" dirty="0">
                <a:ea typeface="+mn-lt"/>
                <a:cs typeface="+mn-lt"/>
              </a:rPr>
              <a:t>Look for DOM manipulation with </a:t>
            </a:r>
            <a:r>
              <a:rPr lang="en-GB" err="1">
                <a:ea typeface="+mn-lt"/>
                <a:cs typeface="+mn-lt"/>
              </a:rPr>
              <a:t>innerHTML</a:t>
            </a:r>
            <a:r>
              <a:rPr lang="en-GB" dirty="0">
                <a:ea typeface="+mn-lt"/>
                <a:cs typeface="+mn-lt"/>
              </a:rPr>
              <a:t>. </a:t>
            </a:r>
            <a:endParaRPr lang="en-GB">
              <a:ea typeface="+mn-lt"/>
              <a:cs typeface="+mn-lt"/>
            </a:endParaRPr>
          </a:p>
          <a:p>
            <a:r>
              <a:rPr lang="en-GB" dirty="0">
                <a:ea typeface="+mn-lt"/>
                <a:cs typeface="+mn-lt"/>
              </a:rPr>
              <a:t>Reflected XSS </a:t>
            </a:r>
          </a:p>
          <a:p>
            <a:pPr lvl="1">
              <a:buFont typeface="Courier New" panose="020B0604020202020204" pitchFamily="34" charset="0"/>
              <a:buChar char="o"/>
            </a:pPr>
            <a:r>
              <a:rPr lang="en-GB" dirty="0">
                <a:ea typeface="+mn-lt"/>
                <a:cs typeface="+mn-lt"/>
              </a:rPr>
              <a:t>Look for variables pulled from a URL param. </a:t>
            </a:r>
          </a:p>
          <a:p>
            <a:r>
              <a:rPr lang="en-GB" dirty="0">
                <a:ea typeface="+mn-lt"/>
                <a:cs typeface="+mn-lt"/>
              </a:rPr>
              <a:t>DOM XSS </a:t>
            </a:r>
          </a:p>
          <a:p>
            <a:pPr lvl="1">
              <a:buFont typeface="Courier New" panose="020B0604020202020204" pitchFamily="34" charset="0"/>
              <a:buChar char="o"/>
            </a:pPr>
            <a:r>
              <a:rPr lang="en-GB" dirty="0">
                <a:ea typeface="+mn-lt"/>
                <a:cs typeface="+mn-lt"/>
              </a:rPr>
              <a:t>Look for specific DOM sinks like </a:t>
            </a:r>
            <a:r>
              <a:rPr lang="en-GB" err="1">
                <a:ea typeface="+mn-lt"/>
                <a:cs typeface="+mn-lt"/>
              </a:rPr>
              <a:t>setInterval</a:t>
            </a:r>
            <a:r>
              <a:rPr lang="en-GB" dirty="0">
                <a:ea typeface="+mn-lt"/>
                <a:cs typeface="+mn-lt"/>
              </a:rPr>
              <a:t>(). </a:t>
            </a:r>
          </a:p>
          <a:p>
            <a:r>
              <a:rPr lang="en-GB" dirty="0">
                <a:ea typeface="+mn-lt"/>
                <a:cs typeface="+mn-lt"/>
              </a:rPr>
              <a:t>SQL Injection </a:t>
            </a:r>
          </a:p>
          <a:p>
            <a:pPr lvl="1">
              <a:buFont typeface="Courier New" panose="020B0604020202020204" pitchFamily="34" charset="0"/>
              <a:buChar char="o"/>
            </a:pPr>
            <a:r>
              <a:rPr lang="en-GB" dirty="0">
                <a:ea typeface="+mn-lt"/>
                <a:cs typeface="+mn-lt"/>
              </a:rPr>
              <a:t>Look for user-provided strings being used in queries. </a:t>
            </a:r>
          </a:p>
          <a:p>
            <a:r>
              <a:rPr lang="en-GB" dirty="0">
                <a:ea typeface="+mn-lt"/>
                <a:cs typeface="+mn-lt"/>
              </a:rPr>
              <a:t>CSRF </a:t>
            </a:r>
          </a:p>
          <a:p>
            <a:pPr lvl="1">
              <a:buFont typeface="Courier New" panose="020B0604020202020204" pitchFamily="34" charset="0"/>
              <a:buChar char="o"/>
            </a:pPr>
            <a:r>
              <a:rPr lang="en-GB" dirty="0">
                <a:ea typeface="+mn-lt"/>
                <a:cs typeface="+mn-lt"/>
              </a:rPr>
              <a:t>Look for state-changing GET requests. </a:t>
            </a:r>
          </a:p>
          <a:p>
            <a:r>
              <a:rPr lang="en-GB" dirty="0">
                <a:ea typeface="+mn-lt"/>
                <a:cs typeface="+mn-lt"/>
              </a:rPr>
              <a:t>DoS </a:t>
            </a:r>
          </a:p>
          <a:p>
            <a:pPr lvl="1">
              <a:buFont typeface="Courier New" panose="020B0604020202020204" pitchFamily="34" charset="0"/>
              <a:buChar char="o"/>
            </a:pPr>
            <a:r>
              <a:rPr lang="en-GB" dirty="0">
                <a:ea typeface="+mn-lt"/>
                <a:cs typeface="+mn-lt"/>
              </a:rPr>
              <a:t>Look for improperly written regular expressions.</a:t>
            </a:r>
            <a:endParaRPr lang="en-GB">
              <a:cs typeface="Calibri"/>
            </a:endParaRPr>
          </a:p>
        </p:txBody>
      </p:sp>
    </p:spTree>
    <p:extLst>
      <p:ext uri="{BB962C8B-B14F-4D97-AF65-F5344CB8AC3E}">
        <p14:creationId xmlns:p14="http://schemas.microsoft.com/office/powerpoint/2010/main" val="26466045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80368-DA7E-4C32-B084-5AEC98B20013}"/>
              </a:ext>
            </a:extLst>
          </p:cNvPr>
          <p:cNvSpPr>
            <a:spLocks noGrp="1"/>
          </p:cNvSpPr>
          <p:nvPr>
            <p:ph type="title"/>
          </p:nvPr>
        </p:nvSpPr>
        <p:spPr/>
        <p:txBody>
          <a:bodyPr/>
          <a:lstStyle/>
          <a:p>
            <a:r>
              <a:rPr lang="en-GB" dirty="0">
                <a:ea typeface="+mj-lt"/>
                <a:cs typeface="+mj-lt"/>
              </a:rPr>
              <a:t>Dynamic Analysis</a:t>
            </a:r>
            <a:endParaRPr lang="en-US" dirty="0"/>
          </a:p>
        </p:txBody>
      </p:sp>
      <p:sp>
        <p:nvSpPr>
          <p:cNvPr id="3" name="Content Placeholder 2">
            <a:extLst>
              <a:ext uri="{FF2B5EF4-FFF2-40B4-BE49-F238E27FC236}">
                <a16:creationId xmlns:a16="http://schemas.microsoft.com/office/drawing/2014/main" id="{9B96456C-62D2-EDC9-1ABA-3E44DFE9D24E}"/>
              </a:ext>
            </a:extLst>
          </p:cNvPr>
          <p:cNvSpPr>
            <a:spLocks noGrp="1"/>
          </p:cNvSpPr>
          <p:nvPr>
            <p:ph idx="1"/>
          </p:nvPr>
        </p:nvSpPr>
        <p:spPr>
          <a:xfrm>
            <a:off x="838200" y="1336795"/>
            <a:ext cx="10515600" cy="5515903"/>
          </a:xfrm>
        </p:spPr>
        <p:txBody>
          <a:bodyPr vert="horz" lIns="91440" tIns="45720" rIns="91440" bIns="45720" rtlCol="0" anchor="t">
            <a:normAutofit/>
          </a:bodyPr>
          <a:lstStyle/>
          <a:p>
            <a:r>
              <a:rPr lang="en-GB" dirty="0">
                <a:ea typeface="+mn-lt"/>
                <a:cs typeface="+mn-lt"/>
              </a:rPr>
              <a:t>dynamic analysis looks at code post-execution. Because dynamic analysis requires code execution, it is much more costly and significantly slower.</a:t>
            </a:r>
          </a:p>
          <a:p>
            <a:r>
              <a:rPr lang="en-GB" dirty="0">
                <a:ea typeface="+mn-lt"/>
                <a:cs typeface="+mn-lt"/>
              </a:rPr>
              <a:t>In a large application, dynamic analysis requires a production-like environment servers, licenses, etc.</a:t>
            </a:r>
          </a:p>
          <a:p>
            <a:r>
              <a:rPr lang="en-GB" dirty="0">
                <a:ea typeface="+mn-lt"/>
                <a:cs typeface="+mn-lt"/>
              </a:rPr>
              <a:t>Dynamic analysis executes code prior to </a:t>
            </a:r>
            <a:r>
              <a:rPr lang="en-GB" dirty="0" err="1">
                <a:ea typeface="+mn-lt"/>
                <a:cs typeface="+mn-lt"/>
              </a:rPr>
              <a:t>analyzing</a:t>
            </a:r>
            <a:r>
              <a:rPr lang="en-GB" dirty="0">
                <a:ea typeface="+mn-lt"/>
                <a:cs typeface="+mn-lt"/>
              </a:rPr>
              <a:t> the outputs and comparing them against a model that describes vulnerabilities and misconfigurations.</a:t>
            </a:r>
          </a:p>
          <a:p>
            <a:r>
              <a:rPr lang="en-GB" dirty="0">
                <a:ea typeface="+mn-lt"/>
                <a:cs typeface="+mn-lt"/>
              </a:rPr>
              <a:t>Dynamic analysis tools exist for many languages and frameworks. </a:t>
            </a:r>
          </a:p>
          <a:p>
            <a:r>
              <a:rPr lang="en-GB" dirty="0">
                <a:ea typeface="+mn-lt"/>
                <a:cs typeface="+mn-lt"/>
              </a:rPr>
              <a:t>IBM </a:t>
            </a:r>
            <a:r>
              <a:rPr lang="en-GB" err="1">
                <a:ea typeface="+mn-lt"/>
                <a:cs typeface="+mn-lt"/>
              </a:rPr>
              <a:t>AppScan</a:t>
            </a:r>
            <a:r>
              <a:rPr lang="en-GB" dirty="0">
                <a:ea typeface="+mn-lt"/>
                <a:cs typeface="+mn-lt"/>
              </a:rPr>
              <a:t> (paid) </a:t>
            </a:r>
            <a:endParaRPr lang="en-GB">
              <a:ea typeface="+mn-lt"/>
              <a:cs typeface="+mn-lt"/>
            </a:endParaRPr>
          </a:p>
          <a:p>
            <a:pPr lvl="1">
              <a:buFont typeface="Courier New" panose="020B0604020202020204" pitchFamily="34" charset="0"/>
              <a:buChar char="o"/>
            </a:pPr>
            <a:r>
              <a:rPr lang="en-GB" dirty="0">
                <a:ea typeface="+mn-lt"/>
                <a:cs typeface="+mn-lt"/>
              </a:rPr>
              <a:t>Veracode (paid) </a:t>
            </a:r>
          </a:p>
          <a:p>
            <a:pPr lvl="1">
              <a:buFont typeface="Courier New" panose="020B0604020202020204" pitchFamily="34" charset="0"/>
              <a:buChar char="o"/>
            </a:pPr>
            <a:r>
              <a:rPr lang="en-GB" dirty="0">
                <a:ea typeface="+mn-lt"/>
                <a:cs typeface="+mn-lt"/>
              </a:rPr>
              <a:t>Iroh (free) </a:t>
            </a:r>
            <a:endParaRPr lang="en-GB" dirty="0">
              <a:ea typeface="Calibri"/>
              <a:cs typeface="Calibri"/>
            </a:endParaRPr>
          </a:p>
        </p:txBody>
      </p:sp>
    </p:spTree>
    <p:extLst>
      <p:ext uri="{BB962C8B-B14F-4D97-AF65-F5344CB8AC3E}">
        <p14:creationId xmlns:p14="http://schemas.microsoft.com/office/powerpoint/2010/main" val="19273520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6EA313-F0C9-2E9B-7B66-5E78B1DBF338}"/>
              </a:ext>
            </a:extLst>
          </p:cNvPr>
          <p:cNvSpPr>
            <a:spLocks noGrp="1"/>
          </p:cNvSpPr>
          <p:nvPr>
            <p:ph idx="1"/>
          </p:nvPr>
        </p:nvSpPr>
        <p:spPr>
          <a:xfrm>
            <a:off x="838200" y="474154"/>
            <a:ext cx="10515600" cy="6234771"/>
          </a:xfrm>
        </p:spPr>
        <p:txBody>
          <a:bodyPr vert="horz" lIns="91440" tIns="45720" rIns="91440" bIns="45720" rtlCol="0" anchor="t">
            <a:normAutofit/>
          </a:bodyPr>
          <a:lstStyle/>
          <a:p>
            <a:r>
              <a:rPr lang="en-GB" dirty="0">
                <a:ea typeface="+mn-lt"/>
                <a:cs typeface="+mn-lt"/>
              </a:rPr>
              <a:t>Due to the increased complexity of functioning in a production-like environment, the better tools are often paid or require significant upfront configuration. </a:t>
            </a:r>
          </a:p>
          <a:p>
            <a:r>
              <a:rPr lang="en-GB" dirty="0">
                <a:ea typeface="+mn-lt"/>
                <a:cs typeface="+mn-lt"/>
              </a:rPr>
              <a:t>Simple </a:t>
            </a:r>
            <a:r>
              <a:rPr lang="en-GB">
                <a:ea typeface="+mn-lt"/>
                <a:cs typeface="+mn-lt"/>
              </a:rPr>
              <a:t>applications can build their own dynamic analysis tools, but </a:t>
            </a:r>
            <a:r>
              <a:rPr lang="en-GB" dirty="0">
                <a:ea typeface="+mn-lt"/>
                <a:cs typeface="+mn-lt"/>
              </a:rPr>
              <a:t>for complete automation at the CI/CD level, they will require significant effort and a bit of upfront cost.</a:t>
            </a:r>
          </a:p>
          <a:p>
            <a:r>
              <a:rPr lang="en-GB" dirty="0">
                <a:ea typeface="+mn-lt"/>
                <a:cs typeface="+mn-lt"/>
              </a:rPr>
              <a:t>Dynamic  analysis tooling that is properly configured should have fewer false positives and give deeper introspection with regard to your application. </a:t>
            </a:r>
          </a:p>
          <a:p>
            <a:r>
              <a:rPr lang="en-GB" dirty="0">
                <a:ea typeface="+mn-lt"/>
                <a:cs typeface="+mn-lt"/>
              </a:rPr>
              <a:t>The trade-off is in maintenance, cost, and performance when compared to static analysis tooling.</a:t>
            </a:r>
            <a:endParaRPr lang="en-GB">
              <a:ea typeface="Calibri"/>
              <a:cs typeface="Calibri"/>
            </a:endParaRPr>
          </a:p>
        </p:txBody>
      </p:sp>
    </p:spTree>
    <p:extLst>
      <p:ext uri="{BB962C8B-B14F-4D97-AF65-F5344CB8AC3E}">
        <p14:creationId xmlns:p14="http://schemas.microsoft.com/office/powerpoint/2010/main" val="10567686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A77B7-6380-BC33-87F3-49DB70F5EAC2}"/>
              </a:ext>
            </a:extLst>
          </p:cNvPr>
          <p:cNvSpPr>
            <a:spLocks noGrp="1"/>
          </p:cNvSpPr>
          <p:nvPr>
            <p:ph type="title"/>
          </p:nvPr>
        </p:nvSpPr>
        <p:spPr>
          <a:xfrm>
            <a:off x="838200" y="48823"/>
            <a:ext cx="10515600" cy="980507"/>
          </a:xfrm>
        </p:spPr>
        <p:txBody>
          <a:bodyPr/>
          <a:lstStyle/>
          <a:p>
            <a:r>
              <a:rPr lang="en-GB" dirty="0">
                <a:ea typeface="+mj-lt"/>
                <a:cs typeface="+mj-lt"/>
              </a:rPr>
              <a:t>Vulnerability Regression Testing </a:t>
            </a:r>
            <a:endParaRPr lang="en-US"/>
          </a:p>
        </p:txBody>
      </p:sp>
      <p:sp>
        <p:nvSpPr>
          <p:cNvPr id="3" name="Content Placeholder 2">
            <a:extLst>
              <a:ext uri="{FF2B5EF4-FFF2-40B4-BE49-F238E27FC236}">
                <a16:creationId xmlns:a16="http://schemas.microsoft.com/office/drawing/2014/main" id="{55F2BB83-BBB3-5C00-F74C-CCB6F6F8EAB5}"/>
              </a:ext>
            </a:extLst>
          </p:cNvPr>
          <p:cNvSpPr>
            <a:spLocks noGrp="1"/>
          </p:cNvSpPr>
          <p:nvPr>
            <p:ph idx="1"/>
          </p:nvPr>
        </p:nvSpPr>
        <p:spPr>
          <a:xfrm>
            <a:off x="838200" y="1034871"/>
            <a:ext cx="10515600" cy="5559035"/>
          </a:xfrm>
        </p:spPr>
        <p:txBody>
          <a:bodyPr vert="horz" lIns="91440" tIns="45720" rIns="91440" bIns="45720" rtlCol="0" anchor="t">
            <a:normAutofit/>
          </a:bodyPr>
          <a:lstStyle/>
          <a:p>
            <a:r>
              <a:rPr lang="en-GB" dirty="0">
                <a:solidFill>
                  <a:srgbClr val="000000"/>
                </a:solidFill>
                <a:ea typeface="+mn-lt"/>
                <a:cs typeface="+mn-lt"/>
              </a:rPr>
              <a:t>Regression testing is a type of software testing conducted after a code update to ensure that the update introduced no new bugs. </a:t>
            </a:r>
          </a:p>
          <a:p>
            <a:r>
              <a:rPr lang="en-GB" dirty="0">
                <a:solidFill>
                  <a:srgbClr val="000000"/>
                </a:solidFill>
                <a:ea typeface="+mn-lt"/>
                <a:cs typeface="+mn-lt"/>
              </a:rPr>
              <a:t>This is because new code may bring in new logic that conflicts with the existing code, leading to defects.</a:t>
            </a:r>
          </a:p>
          <a:p>
            <a:r>
              <a:rPr lang="en-GB" dirty="0">
                <a:solidFill>
                  <a:srgbClr val="000000"/>
                </a:solidFill>
                <a:ea typeface="+mn-lt"/>
                <a:cs typeface="+mn-lt"/>
              </a:rPr>
              <a:t>It works similarly to a functional or performance testing suite, but tests previously found vulnerabilities to ensure they do not get released into the codebase once again as a result of a rollback or overwrite.</a:t>
            </a:r>
          </a:p>
          <a:p>
            <a:r>
              <a:rPr lang="en-GB" dirty="0">
                <a:solidFill>
                  <a:srgbClr val="000000"/>
                </a:solidFill>
                <a:ea typeface="+mn-lt"/>
                <a:cs typeface="+mn-lt"/>
              </a:rPr>
              <a:t>You don’t need a special framework for security vulnerability tests. Any testing frame‐ work capable of reproducing the vulnerability should do.</a:t>
            </a:r>
            <a:endParaRPr lang="en-GB" dirty="0">
              <a:solidFill>
                <a:srgbClr val="000000"/>
              </a:solidFill>
              <a:ea typeface="Calibri"/>
              <a:cs typeface="Calibri"/>
            </a:endParaRPr>
          </a:p>
        </p:txBody>
      </p:sp>
    </p:spTree>
    <p:extLst>
      <p:ext uri="{BB962C8B-B14F-4D97-AF65-F5344CB8AC3E}">
        <p14:creationId xmlns:p14="http://schemas.microsoft.com/office/powerpoint/2010/main" val="39526182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5E059-8AC6-4BFE-4E35-C5B4AB202084}"/>
              </a:ext>
            </a:extLst>
          </p:cNvPr>
          <p:cNvSpPr>
            <a:spLocks noGrp="1"/>
          </p:cNvSpPr>
          <p:nvPr>
            <p:ph type="title"/>
          </p:nvPr>
        </p:nvSpPr>
        <p:spPr/>
        <p:txBody>
          <a:bodyPr/>
          <a:lstStyle/>
          <a:p>
            <a:r>
              <a:rPr lang="en-GB" dirty="0">
                <a:ea typeface="+mj-lt"/>
                <a:cs typeface="+mj-lt"/>
              </a:rPr>
              <a:t>The Jest testing library</a:t>
            </a:r>
            <a:endParaRPr lang="en-US" dirty="0"/>
          </a:p>
        </p:txBody>
      </p:sp>
      <p:pic>
        <p:nvPicPr>
          <p:cNvPr id="4" name="Content Placeholder 3" descr="A screenshot of a computer&#10;&#10;Description automatically generated">
            <a:extLst>
              <a:ext uri="{FF2B5EF4-FFF2-40B4-BE49-F238E27FC236}">
                <a16:creationId xmlns:a16="http://schemas.microsoft.com/office/drawing/2014/main" id="{E760DA04-EACD-EB7F-7E37-68225508A7B1}"/>
              </a:ext>
            </a:extLst>
          </p:cNvPr>
          <p:cNvPicPr>
            <a:picLocks noGrp="1" noChangeAspect="1"/>
          </p:cNvPicPr>
          <p:nvPr>
            <p:ph idx="1"/>
          </p:nvPr>
        </p:nvPicPr>
        <p:blipFill rotWithShape="1">
          <a:blip r:embed="rId2"/>
          <a:srcRect t="11551" r="186" b="4950"/>
          <a:stretch/>
        </p:blipFill>
        <p:spPr>
          <a:xfrm>
            <a:off x="1996218" y="2012532"/>
            <a:ext cx="8630905" cy="4050245"/>
          </a:xfrm>
        </p:spPr>
      </p:pic>
    </p:spTree>
    <p:extLst>
      <p:ext uri="{BB962C8B-B14F-4D97-AF65-F5344CB8AC3E}">
        <p14:creationId xmlns:p14="http://schemas.microsoft.com/office/powerpoint/2010/main" val="22329217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18232-AA6A-0998-E974-23361E110CD9}"/>
              </a:ext>
            </a:extLst>
          </p:cNvPr>
          <p:cNvSpPr>
            <a:spLocks noGrp="1"/>
          </p:cNvSpPr>
          <p:nvPr>
            <p:ph type="title"/>
          </p:nvPr>
        </p:nvSpPr>
        <p:spPr>
          <a:xfrm>
            <a:off x="838200" y="-66196"/>
            <a:ext cx="10515600" cy="1325563"/>
          </a:xfrm>
        </p:spPr>
        <p:txBody>
          <a:bodyPr/>
          <a:lstStyle/>
          <a:p>
            <a:r>
              <a:rPr lang="en-GB" dirty="0">
                <a:ea typeface="+mj-lt"/>
                <a:cs typeface="+mj-lt"/>
              </a:rPr>
              <a:t>Responsible Disclosure Programs</a:t>
            </a:r>
            <a:endParaRPr lang="en-US" dirty="0"/>
          </a:p>
        </p:txBody>
      </p:sp>
      <p:sp>
        <p:nvSpPr>
          <p:cNvPr id="3" name="Content Placeholder 2">
            <a:extLst>
              <a:ext uri="{FF2B5EF4-FFF2-40B4-BE49-F238E27FC236}">
                <a16:creationId xmlns:a16="http://schemas.microsoft.com/office/drawing/2014/main" id="{C1D1D550-9624-3140-17A0-D800770E6A05}"/>
              </a:ext>
            </a:extLst>
          </p:cNvPr>
          <p:cNvSpPr>
            <a:spLocks noGrp="1"/>
          </p:cNvSpPr>
          <p:nvPr>
            <p:ph idx="1"/>
          </p:nvPr>
        </p:nvSpPr>
        <p:spPr>
          <a:xfrm>
            <a:off x="895709" y="1351172"/>
            <a:ext cx="10515600" cy="5271488"/>
          </a:xfrm>
        </p:spPr>
        <p:txBody>
          <a:bodyPr vert="horz" lIns="91440" tIns="45720" rIns="91440" bIns="45720" rtlCol="0" anchor="t">
            <a:normAutofit lnSpcReduction="10000"/>
          </a:bodyPr>
          <a:lstStyle/>
          <a:p>
            <a:r>
              <a:rPr lang="en-GB" dirty="0">
                <a:solidFill>
                  <a:srgbClr val="000000"/>
                </a:solidFill>
                <a:ea typeface="+mn-lt"/>
                <a:cs typeface="+mn-lt"/>
              </a:rPr>
              <a:t>Responsible Disclosure is an ethical method to report system vulnerabilities in our ICT system, which allows us sufficient time to identify and apply the appropriate countermeasures before these vulnerabilities might become public.</a:t>
            </a:r>
          </a:p>
          <a:p>
            <a:r>
              <a:rPr lang="en-GB" dirty="0">
                <a:solidFill>
                  <a:srgbClr val="000000"/>
                </a:solidFill>
                <a:ea typeface="+mn-lt"/>
                <a:cs typeface="+mn-lt"/>
              </a:rPr>
              <a:t>It’s possible your internal testing doesn’t cover all potential use cases of your customers. </a:t>
            </a:r>
          </a:p>
          <a:p>
            <a:r>
              <a:rPr lang="en-GB" dirty="0">
                <a:solidFill>
                  <a:srgbClr val="000000"/>
                </a:solidFill>
                <a:ea typeface="+mn-lt"/>
                <a:cs typeface="+mn-lt"/>
              </a:rPr>
              <a:t>Because of this, it’s very possible your customers will find vulnerabilities that would otherwise go unreported. </a:t>
            </a:r>
          </a:p>
          <a:p>
            <a:r>
              <a:rPr lang="en-GB" dirty="0">
                <a:solidFill>
                  <a:srgbClr val="000000"/>
                </a:solidFill>
                <a:ea typeface="+mn-lt"/>
                <a:cs typeface="+mn-lt"/>
              </a:rPr>
              <a:t>A good, responsible disclosure program will include a list of ways that your users can test your application’s security without incurring any legal risk. </a:t>
            </a:r>
          </a:p>
          <a:p>
            <a:r>
              <a:rPr lang="en-GB" dirty="0">
                <a:solidFill>
                  <a:srgbClr val="000000"/>
                </a:solidFill>
                <a:ea typeface="+mn-lt"/>
                <a:cs typeface="+mn-lt"/>
              </a:rPr>
              <a:t>Beyond this, your disclosure program should define a clear method of submission and a template for a good submission.</a:t>
            </a:r>
            <a:endParaRPr lang="en-GB">
              <a:solidFill>
                <a:srgbClr val="000000"/>
              </a:solidFill>
              <a:ea typeface="Calibri"/>
              <a:cs typeface="Calibri"/>
            </a:endParaRPr>
          </a:p>
        </p:txBody>
      </p:sp>
    </p:spTree>
    <p:extLst>
      <p:ext uri="{BB962C8B-B14F-4D97-AF65-F5344CB8AC3E}">
        <p14:creationId xmlns:p14="http://schemas.microsoft.com/office/powerpoint/2010/main" val="9842465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28F2E-4E93-6423-C16C-C3F4549F2678}"/>
              </a:ext>
            </a:extLst>
          </p:cNvPr>
          <p:cNvSpPr>
            <a:spLocks noGrp="1"/>
          </p:cNvSpPr>
          <p:nvPr>
            <p:ph type="title"/>
          </p:nvPr>
        </p:nvSpPr>
        <p:spPr/>
        <p:txBody>
          <a:bodyPr/>
          <a:lstStyle/>
          <a:p>
            <a:r>
              <a:rPr lang="en-GB" dirty="0">
                <a:ea typeface="Calibri Light"/>
                <a:cs typeface="Calibri Light"/>
              </a:rPr>
              <a:t>Responsible Disclosure Programs</a:t>
            </a:r>
          </a:p>
          <a:p>
            <a:endParaRPr lang="en-GB" dirty="0">
              <a:ea typeface="Calibri Light"/>
              <a:cs typeface="Calibri Light"/>
            </a:endParaRPr>
          </a:p>
        </p:txBody>
      </p:sp>
      <p:sp>
        <p:nvSpPr>
          <p:cNvPr id="3" name="Content Placeholder 2">
            <a:extLst>
              <a:ext uri="{FF2B5EF4-FFF2-40B4-BE49-F238E27FC236}">
                <a16:creationId xmlns:a16="http://schemas.microsoft.com/office/drawing/2014/main" id="{0A535A19-5BDE-0D25-0113-7C1397ABB12B}"/>
              </a:ext>
            </a:extLst>
          </p:cNvPr>
          <p:cNvSpPr>
            <a:spLocks noGrp="1"/>
          </p:cNvSpPr>
          <p:nvPr>
            <p:ph idx="1"/>
          </p:nvPr>
        </p:nvSpPr>
        <p:spPr/>
        <p:txBody>
          <a:bodyPr vert="horz" lIns="91440" tIns="45720" rIns="91440" bIns="45720" rtlCol="0" anchor="t">
            <a:normAutofit/>
          </a:bodyPr>
          <a:lstStyle/>
          <a:p>
            <a:r>
              <a:rPr lang="en-GB" b="1" dirty="0">
                <a:ea typeface="+mn-lt"/>
                <a:cs typeface="+mn-lt"/>
                <a:hlinkClick r:id="rId2">
                  <a:extLst>
                    <a:ext uri="{A12FA001-AC4F-418D-AE19-62706E023703}">
                      <ahyp:hlinkClr xmlns:ahyp="http://schemas.microsoft.com/office/drawing/2018/hyperlinkcolor" val="tx"/>
                    </a:ext>
                  </a:extLst>
                </a:hlinkClick>
              </a:rPr>
              <a:t>Researchers</a:t>
            </a:r>
            <a:r>
              <a:rPr lang="en-GB" b="1" dirty="0">
                <a:ea typeface="+mn-lt"/>
                <a:cs typeface="+mn-lt"/>
              </a:rPr>
              <a:t> should:</a:t>
            </a:r>
            <a:endParaRPr lang="en-GB" dirty="0">
              <a:ea typeface="Calibri" panose="020F0502020204030204"/>
              <a:cs typeface="Calibri" panose="020F0502020204030204"/>
            </a:endParaRPr>
          </a:p>
          <a:p>
            <a:r>
              <a:rPr lang="en-GB" dirty="0">
                <a:ea typeface="+mn-lt"/>
                <a:cs typeface="+mn-lt"/>
              </a:rPr>
              <a:t>Ensure that any testing is legal and authorised.</a:t>
            </a:r>
            <a:endParaRPr lang="en-GB">
              <a:ea typeface="Calibri"/>
              <a:cs typeface="Calibri"/>
            </a:endParaRPr>
          </a:p>
          <a:p>
            <a:r>
              <a:rPr lang="en-GB" dirty="0">
                <a:ea typeface="+mn-lt"/>
                <a:cs typeface="+mn-lt"/>
              </a:rPr>
              <a:t>Respect the privacy of others.</a:t>
            </a:r>
            <a:endParaRPr lang="en-GB">
              <a:ea typeface="Calibri"/>
              <a:cs typeface="Calibri"/>
            </a:endParaRPr>
          </a:p>
          <a:p>
            <a:r>
              <a:rPr lang="en-GB" dirty="0">
                <a:ea typeface="+mn-lt"/>
                <a:cs typeface="+mn-lt"/>
              </a:rPr>
              <a:t>Make reasonable efforts to contact the security team of the organisation.</a:t>
            </a:r>
            <a:endParaRPr lang="en-GB">
              <a:ea typeface="Calibri"/>
              <a:cs typeface="Calibri"/>
            </a:endParaRPr>
          </a:p>
          <a:p>
            <a:r>
              <a:rPr lang="en-GB" dirty="0">
                <a:ea typeface="+mn-lt"/>
                <a:cs typeface="+mn-lt"/>
              </a:rPr>
              <a:t>Provide sufficient details to allow the vulnerabilities to be verified and reproduced.</a:t>
            </a:r>
            <a:endParaRPr lang="en-GB">
              <a:ea typeface="Calibri"/>
              <a:cs typeface="Calibri"/>
            </a:endParaRPr>
          </a:p>
          <a:p>
            <a:r>
              <a:rPr lang="en-GB" dirty="0">
                <a:ea typeface="+mn-lt"/>
                <a:cs typeface="+mn-lt"/>
              </a:rPr>
              <a:t>Not demand payment or rewards for reporting vulnerabilities outside of an established bug bounty program.</a:t>
            </a:r>
            <a:endParaRPr lang="en-GB">
              <a:ea typeface="Calibri"/>
              <a:cs typeface="Calibri"/>
            </a:endParaRPr>
          </a:p>
          <a:p>
            <a:pPr marL="0" indent="0">
              <a:buNone/>
            </a:pPr>
            <a:endParaRPr lang="en-GB" sz="5400" dirty="0">
              <a:ea typeface="Calibri"/>
              <a:cs typeface="Calibri"/>
            </a:endParaRPr>
          </a:p>
        </p:txBody>
      </p:sp>
    </p:spTree>
    <p:extLst>
      <p:ext uri="{BB962C8B-B14F-4D97-AF65-F5344CB8AC3E}">
        <p14:creationId xmlns:p14="http://schemas.microsoft.com/office/powerpoint/2010/main" val="19002572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0AB2F-D348-FE53-D546-940A44052768}"/>
              </a:ext>
            </a:extLst>
          </p:cNvPr>
          <p:cNvSpPr>
            <a:spLocks noGrp="1"/>
          </p:cNvSpPr>
          <p:nvPr>
            <p:ph type="title"/>
          </p:nvPr>
        </p:nvSpPr>
        <p:spPr/>
        <p:txBody>
          <a:bodyPr/>
          <a:lstStyle/>
          <a:p>
            <a:r>
              <a:rPr lang="en-GB" dirty="0">
                <a:ea typeface="Calibri Light"/>
                <a:cs typeface="Calibri Light"/>
              </a:rPr>
              <a:t>Responsible Disclosure Programs</a:t>
            </a:r>
          </a:p>
          <a:p>
            <a:endParaRPr lang="en-GB" dirty="0">
              <a:ea typeface="Calibri Light"/>
              <a:cs typeface="Calibri Light"/>
            </a:endParaRPr>
          </a:p>
        </p:txBody>
      </p:sp>
      <p:sp>
        <p:nvSpPr>
          <p:cNvPr id="3" name="Content Placeholder 2">
            <a:extLst>
              <a:ext uri="{FF2B5EF4-FFF2-40B4-BE49-F238E27FC236}">
                <a16:creationId xmlns:a16="http://schemas.microsoft.com/office/drawing/2014/main" id="{C9A36A0F-ECFB-1D14-D82A-E2AD2963EB36}"/>
              </a:ext>
            </a:extLst>
          </p:cNvPr>
          <p:cNvSpPr>
            <a:spLocks noGrp="1"/>
          </p:cNvSpPr>
          <p:nvPr>
            <p:ph idx="1"/>
          </p:nvPr>
        </p:nvSpPr>
        <p:spPr>
          <a:xfrm>
            <a:off x="838200" y="1264909"/>
            <a:ext cx="10515600" cy="5357752"/>
          </a:xfrm>
        </p:spPr>
        <p:txBody>
          <a:bodyPr vert="horz" lIns="91440" tIns="45720" rIns="91440" bIns="45720" rtlCol="0" anchor="t">
            <a:normAutofit/>
          </a:bodyPr>
          <a:lstStyle/>
          <a:p>
            <a:r>
              <a:rPr lang="en-GB" sz="2400" b="1" dirty="0">
                <a:ea typeface="Calibri"/>
                <a:cs typeface="Calibri"/>
                <a:hlinkClick r:id="rId2">
                  <a:extLst>
                    <a:ext uri="{A12FA001-AC4F-418D-AE19-62706E023703}">
                      <ahyp:hlinkClr xmlns:ahyp="http://schemas.microsoft.com/office/drawing/2018/hyperlinkcolor" val="tx"/>
                    </a:ext>
                  </a:extLst>
                </a:hlinkClick>
              </a:rPr>
              <a:t>Organisations</a:t>
            </a:r>
            <a:r>
              <a:rPr lang="en-GB" sz="2400" b="1" dirty="0">
                <a:ea typeface="Calibri"/>
                <a:cs typeface="Calibri"/>
              </a:rPr>
              <a:t> should:</a:t>
            </a:r>
            <a:endParaRPr lang="en-GB" sz="2400" dirty="0">
              <a:ea typeface="Calibri"/>
              <a:cs typeface="Calibri"/>
            </a:endParaRPr>
          </a:p>
          <a:p>
            <a:r>
              <a:rPr lang="en-GB" sz="2400" dirty="0">
                <a:ea typeface="Calibri"/>
                <a:cs typeface="Calibri"/>
              </a:rPr>
              <a:t>Provide a clear method for researchers to securely report vulnerabilities.</a:t>
            </a:r>
          </a:p>
          <a:p>
            <a:r>
              <a:rPr lang="en-GB" sz="2400" dirty="0">
                <a:ea typeface="Calibri"/>
                <a:cs typeface="Calibri"/>
              </a:rPr>
              <a:t>Clearly establish the scope and terms of any bug bounty programs.</a:t>
            </a:r>
          </a:p>
          <a:p>
            <a:r>
              <a:rPr lang="en-GB" sz="2400" dirty="0">
                <a:ea typeface="Calibri"/>
                <a:cs typeface="Calibri"/>
              </a:rPr>
              <a:t>Respond to reports in a reasonable timeline.</a:t>
            </a:r>
          </a:p>
          <a:p>
            <a:r>
              <a:rPr lang="en-GB" sz="2400" dirty="0">
                <a:ea typeface="Calibri"/>
                <a:cs typeface="Calibri"/>
              </a:rPr>
              <a:t>Communicate openly with researchers.</a:t>
            </a:r>
          </a:p>
          <a:p>
            <a:r>
              <a:rPr lang="en-GB" sz="2400" dirty="0">
                <a:ea typeface="Calibri"/>
                <a:cs typeface="Calibri"/>
              </a:rPr>
              <a:t>Not threaten legal action against researchers.</a:t>
            </a:r>
          </a:p>
          <a:p>
            <a:r>
              <a:rPr lang="en-GB" sz="2400" dirty="0">
                <a:ea typeface="Calibri"/>
                <a:cs typeface="Calibri"/>
              </a:rPr>
              <a:t>Request CVEs where appropriate.</a:t>
            </a:r>
          </a:p>
          <a:p>
            <a:r>
              <a:rPr lang="en-GB" sz="2400" dirty="0">
                <a:ea typeface="Calibri"/>
                <a:cs typeface="Calibri"/>
              </a:rPr>
              <a:t>Publish clear security advisories and changelogs.</a:t>
            </a:r>
          </a:p>
          <a:p>
            <a:r>
              <a:rPr lang="en-GB" sz="2400" dirty="0">
                <a:ea typeface="Calibri"/>
                <a:cs typeface="Calibri"/>
              </a:rPr>
              <a:t>Offer rewards and credit.</a:t>
            </a:r>
          </a:p>
          <a:p>
            <a:endParaRPr lang="en-GB" sz="4800" dirty="0">
              <a:ea typeface="Calibri"/>
              <a:cs typeface="Calibri"/>
            </a:endParaRPr>
          </a:p>
        </p:txBody>
      </p:sp>
    </p:spTree>
    <p:extLst>
      <p:ext uri="{BB962C8B-B14F-4D97-AF65-F5344CB8AC3E}">
        <p14:creationId xmlns:p14="http://schemas.microsoft.com/office/powerpoint/2010/main" val="23668396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E0D90-A2C3-CC5C-9231-BD026110506A}"/>
              </a:ext>
            </a:extLst>
          </p:cNvPr>
          <p:cNvSpPr>
            <a:spLocks noGrp="1"/>
          </p:cNvSpPr>
          <p:nvPr>
            <p:ph type="title"/>
          </p:nvPr>
        </p:nvSpPr>
        <p:spPr/>
        <p:txBody>
          <a:bodyPr/>
          <a:lstStyle/>
          <a:p>
            <a:r>
              <a:rPr lang="en-GB" dirty="0">
                <a:ea typeface="+mj-lt"/>
                <a:cs typeface="+mj-lt"/>
              </a:rPr>
              <a:t>Bug Bounty Programs</a:t>
            </a:r>
            <a:endParaRPr lang="en-US" dirty="0">
              <a:ea typeface="+mj-lt"/>
              <a:cs typeface="+mj-lt"/>
            </a:endParaRPr>
          </a:p>
        </p:txBody>
      </p:sp>
      <p:sp>
        <p:nvSpPr>
          <p:cNvPr id="3" name="Content Placeholder 2">
            <a:extLst>
              <a:ext uri="{FF2B5EF4-FFF2-40B4-BE49-F238E27FC236}">
                <a16:creationId xmlns:a16="http://schemas.microsoft.com/office/drawing/2014/main" id="{398F1791-8B3E-A818-69FF-AB4B7525B468}"/>
              </a:ext>
            </a:extLst>
          </p:cNvPr>
          <p:cNvSpPr>
            <a:spLocks noGrp="1"/>
          </p:cNvSpPr>
          <p:nvPr>
            <p:ph idx="1"/>
          </p:nvPr>
        </p:nvSpPr>
        <p:spPr/>
        <p:txBody>
          <a:bodyPr vert="horz" lIns="91440" tIns="45720" rIns="91440" bIns="45720" rtlCol="0" anchor="t">
            <a:normAutofit/>
          </a:bodyPr>
          <a:lstStyle/>
          <a:p>
            <a:r>
              <a:rPr lang="en-GB" dirty="0">
                <a:ea typeface="+mn-lt"/>
                <a:cs typeface="+mn-lt"/>
              </a:rPr>
              <a:t>Bug bounty programs offer monetary rewards to ethical hackers for successfully discovering and reporting a vulnerability or bug to the application's developer. </a:t>
            </a:r>
          </a:p>
          <a:p>
            <a:r>
              <a:rPr lang="en-GB" dirty="0">
                <a:ea typeface="+mn-lt"/>
                <a:cs typeface="+mn-lt"/>
              </a:rPr>
              <a:t>Bug bounty programs allow companies to leverage the hacker community to improve their systems’ security posture over time.</a:t>
            </a:r>
          </a:p>
          <a:p>
            <a:r>
              <a:rPr lang="en-GB" dirty="0">
                <a:ea typeface="+mn-lt"/>
                <a:cs typeface="+mn-lt"/>
              </a:rPr>
              <a:t>Bug bounty programs have been employed by software companies for the last decade, offering cash prizes in exchange for properly submitted and documented vulnerability reports from end users, ethical hackers, and security researchers. </a:t>
            </a:r>
            <a:endParaRPr lang="en-GB" dirty="0">
              <a:ea typeface="Calibri"/>
              <a:cs typeface="Calibri"/>
            </a:endParaRPr>
          </a:p>
        </p:txBody>
      </p:sp>
    </p:spTree>
    <p:extLst>
      <p:ext uri="{BB962C8B-B14F-4D97-AF65-F5344CB8AC3E}">
        <p14:creationId xmlns:p14="http://schemas.microsoft.com/office/powerpoint/2010/main" val="27268945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4F678B-4203-8460-41F3-20BF8D135028}"/>
              </a:ext>
            </a:extLst>
          </p:cNvPr>
          <p:cNvSpPr>
            <a:spLocks noGrp="1"/>
          </p:cNvSpPr>
          <p:nvPr>
            <p:ph idx="1"/>
          </p:nvPr>
        </p:nvSpPr>
        <p:spPr>
          <a:xfrm>
            <a:off x="838200" y="373512"/>
            <a:ext cx="10515600" cy="5803451"/>
          </a:xfrm>
        </p:spPr>
        <p:txBody>
          <a:bodyPr vert="horz" lIns="91440" tIns="45720" rIns="91440" bIns="45720" rtlCol="0" anchor="t">
            <a:normAutofit/>
          </a:bodyPr>
          <a:lstStyle/>
          <a:p>
            <a:r>
              <a:rPr lang="en-GB" dirty="0">
                <a:ea typeface="+mn-lt"/>
                <a:cs typeface="+mn-lt"/>
              </a:rPr>
              <a:t>In the beginning, starting a bug bounty program was a difficult process that required extensive legal documentation, a triage team, and specially configured sprint or kanban processes for detecting duplicates and resolving vulnerabilities. </a:t>
            </a:r>
          </a:p>
          <a:p>
            <a:r>
              <a:rPr lang="en-GB" dirty="0">
                <a:ea typeface="+mn-lt"/>
                <a:cs typeface="+mn-lt"/>
              </a:rPr>
              <a:t>Today, intermediate companies exist to facilitate the development and growth of a bug bounty program. </a:t>
            </a:r>
            <a:endParaRPr lang="en-GB">
              <a:ea typeface="+mn-lt"/>
              <a:cs typeface="+mn-lt"/>
            </a:endParaRPr>
          </a:p>
          <a:p>
            <a:r>
              <a:rPr lang="en-GB" dirty="0">
                <a:ea typeface="+mn-lt"/>
                <a:cs typeface="+mn-lt"/>
              </a:rPr>
              <a:t>These companies, like </a:t>
            </a:r>
            <a:r>
              <a:rPr lang="en-GB" err="1">
                <a:ea typeface="+mn-lt"/>
                <a:cs typeface="+mn-lt"/>
              </a:rPr>
              <a:t>HackerOne</a:t>
            </a:r>
            <a:r>
              <a:rPr lang="en-GB" dirty="0">
                <a:ea typeface="+mn-lt"/>
                <a:cs typeface="+mn-lt"/>
              </a:rPr>
              <a:t> and BugCrowd, provide easily customizable legal templates as well as a web interface for submission and triaging. </a:t>
            </a:r>
            <a:endParaRPr lang="en-GB">
              <a:ea typeface="+mn-lt"/>
              <a:cs typeface="+mn-lt"/>
            </a:endParaRPr>
          </a:p>
          <a:p>
            <a:r>
              <a:rPr lang="en-GB" dirty="0" err="1">
                <a:ea typeface="+mn-lt"/>
                <a:cs typeface="+mn-lt"/>
              </a:rPr>
              <a:t>HackerOne</a:t>
            </a:r>
            <a:r>
              <a:rPr lang="en-GB" dirty="0">
                <a:ea typeface="+mn-lt"/>
                <a:cs typeface="+mn-lt"/>
              </a:rPr>
              <a:t> is one of the most popular bug bounty platforms on the web and helps small companies set up bug bounty programs and connect with security researchers and ethical hackers.</a:t>
            </a:r>
            <a:endParaRPr lang="en-GB" dirty="0">
              <a:ea typeface="Calibri"/>
              <a:cs typeface="Calibri"/>
            </a:endParaRPr>
          </a:p>
        </p:txBody>
      </p:sp>
    </p:spTree>
    <p:extLst>
      <p:ext uri="{BB962C8B-B14F-4D97-AF65-F5344CB8AC3E}">
        <p14:creationId xmlns:p14="http://schemas.microsoft.com/office/powerpoint/2010/main" val="38483069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467C7-1131-4D99-1F97-BE3098C3626B}"/>
              </a:ext>
            </a:extLst>
          </p:cNvPr>
          <p:cNvSpPr>
            <a:spLocks noGrp="1"/>
          </p:cNvSpPr>
          <p:nvPr>
            <p:ph type="title"/>
          </p:nvPr>
        </p:nvSpPr>
        <p:spPr/>
        <p:txBody>
          <a:bodyPr/>
          <a:lstStyle/>
          <a:p>
            <a:r>
              <a:rPr lang="en-GB" dirty="0">
                <a:ea typeface="+mj-lt"/>
                <a:cs typeface="+mj-lt"/>
              </a:rPr>
              <a:t>Third-Party Penetration Testing </a:t>
            </a:r>
            <a:endParaRPr lang="en-US" dirty="0"/>
          </a:p>
        </p:txBody>
      </p:sp>
      <p:sp>
        <p:nvSpPr>
          <p:cNvPr id="3" name="Content Placeholder 2">
            <a:extLst>
              <a:ext uri="{FF2B5EF4-FFF2-40B4-BE49-F238E27FC236}">
                <a16:creationId xmlns:a16="http://schemas.microsoft.com/office/drawing/2014/main" id="{B7B2EF58-1CF9-34D7-B3AD-3704CAFDE55B}"/>
              </a:ext>
            </a:extLst>
          </p:cNvPr>
          <p:cNvSpPr>
            <a:spLocks noGrp="1"/>
          </p:cNvSpPr>
          <p:nvPr>
            <p:ph idx="1"/>
          </p:nvPr>
        </p:nvSpPr>
        <p:spPr/>
        <p:txBody>
          <a:bodyPr vert="horz" lIns="91440" tIns="45720" rIns="91440" bIns="45720" rtlCol="0" anchor="t">
            <a:normAutofit/>
          </a:bodyPr>
          <a:lstStyle/>
          <a:p>
            <a:r>
              <a:rPr lang="en-GB" dirty="0">
                <a:solidFill>
                  <a:srgbClr val="000000"/>
                </a:solidFill>
                <a:ea typeface="+mn-lt"/>
                <a:cs typeface="+mn-lt"/>
              </a:rPr>
              <a:t>Penetration testing exercises seek to discover existing vulnerabilities in the IT infrastructure. </a:t>
            </a:r>
          </a:p>
          <a:p>
            <a:r>
              <a:rPr lang="en-GB" dirty="0">
                <a:solidFill>
                  <a:srgbClr val="000000"/>
                </a:solidFill>
                <a:ea typeface="+mn-lt"/>
                <a:cs typeface="+mn-lt"/>
              </a:rPr>
              <a:t>Third-party penetration testing, or external penetration testing, is a cybersecurity practice. </a:t>
            </a:r>
          </a:p>
          <a:p>
            <a:r>
              <a:rPr lang="en-GB" dirty="0">
                <a:solidFill>
                  <a:srgbClr val="000000"/>
                </a:solidFill>
                <a:ea typeface="+mn-lt"/>
                <a:cs typeface="+mn-lt"/>
              </a:rPr>
              <a:t>In this practice, an external firm or individual accesses the security system of the company with the objective of identifying weaknesses and vulnerabilities to restrict attackers from causing potential threats.</a:t>
            </a:r>
            <a:endParaRPr lang="en-GB" dirty="0">
              <a:solidFill>
                <a:srgbClr val="000000"/>
              </a:solidFill>
              <a:ea typeface="Calibri"/>
              <a:cs typeface="Calibri"/>
            </a:endParaRPr>
          </a:p>
        </p:txBody>
      </p:sp>
    </p:spTree>
    <p:extLst>
      <p:ext uri="{BB962C8B-B14F-4D97-AF65-F5344CB8AC3E}">
        <p14:creationId xmlns:p14="http://schemas.microsoft.com/office/powerpoint/2010/main" val="21476497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F99A8-E0B5-1012-59E3-08ED7F494E10}"/>
              </a:ext>
            </a:extLst>
          </p:cNvPr>
          <p:cNvSpPr>
            <a:spLocks noGrp="1"/>
          </p:cNvSpPr>
          <p:nvPr>
            <p:ph type="title"/>
          </p:nvPr>
        </p:nvSpPr>
        <p:spPr/>
        <p:txBody>
          <a:bodyPr/>
          <a:lstStyle/>
          <a:p>
            <a:r>
              <a:rPr lang="en-US" dirty="0">
                <a:cs typeface="Calibri Light"/>
              </a:rPr>
              <a:t>Outline</a:t>
            </a:r>
            <a:endParaRPr lang="en-US" dirty="0"/>
          </a:p>
        </p:txBody>
      </p:sp>
      <p:sp>
        <p:nvSpPr>
          <p:cNvPr id="3" name="Content Placeholder 2">
            <a:extLst>
              <a:ext uri="{FF2B5EF4-FFF2-40B4-BE49-F238E27FC236}">
                <a16:creationId xmlns:a16="http://schemas.microsoft.com/office/drawing/2014/main" id="{B5265D6D-668C-F993-DF4B-BCE17DBBCC73}"/>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Securing Modern Web Applications</a:t>
            </a:r>
          </a:p>
          <a:p>
            <a:r>
              <a:rPr lang="en-US" dirty="0">
                <a:ea typeface="+mn-lt"/>
                <a:cs typeface="+mn-lt"/>
              </a:rPr>
              <a:t>Secure Application Architecture</a:t>
            </a:r>
          </a:p>
          <a:p>
            <a:r>
              <a:rPr lang="en-US" dirty="0">
                <a:ea typeface="+mn-lt"/>
                <a:cs typeface="+mn-lt"/>
              </a:rPr>
              <a:t>Reviewing Code for Security</a:t>
            </a:r>
          </a:p>
          <a:p>
            <a:r>
              <a:rPr lang="en-US" dirty="0">
                <a:ea typeface="+mn-lt"/>
                <a:cs typeface="+mn-lt"/>
              </a:rPr>
              <a:t>Vulnerability Discovery, </a:t>
            </a:r>
            <a:endParaRPr lang="en-US" dirty="0">
              <a:cs typeface="Calibri"/>
            </a:endParaRPr>
          </a:p>
          <a:p>
            <a:r>
              <a:rPr lang="en-US" dirty="0">
                <a:solidFill>
                  <a:srgbClr val="FF0000"/>
                </a:solidFill>
                <a:ea typeface="+mn-lt"/>
                <a:cs typeface="+mn-lt"/>
              </a:rPr>
              <a:t>Defending Against XSS Attacks</a:t>
            </a:r>
            <a:r>
              <a:rPr lang="en-US" dirty="0">
                <a:ea typeface="+mn-lt"/>
                <a:cs typeface="+mn-lt"/>
              </a:rPr>
              <a:t>, Defending Against CSRF Attacks, </a:t>
            </a:r>
            <a:endParaRPr lang="en-US" dirty="0"/>
          </a:p>
          <a:p>
            <a:r>
              <a:rPr lang="en-US" dirty="0">
                <a:ea typeface="+mn-lt"/>
                <a:cs typeface="+mn-lt"/>
              </a:rPr>
              <a:t>Defending Against XXE, Defending Against Injection attacks, </a:t>
            </a:r>
            <a:endParaRPr lang="en-US"/>
          </a:p>
          <a:p>
            <a:r>
              <a:rPr lang="en-US" dirty="0">
                <a:ea typeface="+mn-lt"/>
                <a:cs typeface="+mn-lt"/>
              </a:rPr>
              <a:t>Defending Against DoS, Defending against CORS based attacks</a:t>
            </a:r>
            <a:endParaRPr lang="en-US" dirty="0"/>
          </a:p>
          <a:p>
            <a:r>
              <a:rPr lang="en-US" dirty="0">
                <a:ea typeface="+mn-lt"/>
                <a:cs typeface="+mn-lt"/>
              </a:rPr>
              <a:t>Self-learning Topics: Implement the countermeasures to the attacks using open-source tools</a:t>
            </a:r>
            <a:endParaRPr lang="en-US" dirty="0"/>
          </a:p>
        </p:txBody>
      </p:sp>
    </p:spTree>
    <p:extLst>
      <p:ext uri="{BB962C8B-B14F-4D97-AF65-F5344CB8AC3E}">
        <p14:creationId xmlns:p14="http://schemas.microsoft.com/office/powerpoint/2010/main" val="306567595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D6290-EBF3-7213-1642-3C651EDA6F07}"/>
              </a:ext>
            </a:extLst>
          </p:cNvPr>
          <p:cNvSpPr>
            <a:spLocks noGrp="1"/>
          </p:cNvSpPr>
          <p:nvPr>
            <p:ph type="ctrTitle"/>
          </p:nvPr>
        </p:nvSpPr>
        <p:spPr/>
        <p:txBody>
          <a:bodyPr>
            <a:normAutofit/>
          </a:bodyPr>
          <a:lstStyle/>
          <a:p>
            <a:r>
              <a:rPr lang="en-US" sz="4000" dirty="0">
                <a:latin typeface="Calibri"/>
                <a:cs typeface="Calibri"/>
              </a:rPr>
              <a:t>Defending Against XSS Attack</a:t>
            </a:r>
          </a:p>
        </p:txBody>
      </p:sp>
      <p:sp>
        <p:nvSpPr>
          <p:cNvPr id="3" name="Content Placeholder 2">
            <a:extLst>
              <a:ext uri="{FF2B5EF4-FFF2-40B4-BE49-F238E27FC236}">
                <a16:creationId xmlns:a16="http://schemas.microsoft.com/office/drawing/2014/main" id="{A05A548E-11A2-708C-1C6A-910ACEDBA90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748482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633D0-8FFA-6945-0286-B9B127B3554E}"/>
              </a:ext>
            </a:extLst>
          </p:cNvPr>
          <p:cNvSpPr>
            <a:spLocks noGrp="1"/>
          </p:cNvSpPr>
          <p:nvPr>
            <p:ph type="title"/>
          </p:nvPr>
        </p:nvSpPr>
        <p:spPr/>
        <p:txBody>
          <a:bodyPr/>
          <a:lstStyle/>
          <a:p>
            <a:r>
              <a:rPr lang="en-US" dirty="0">
                <a:ea typeface="+mj-lt"/>
                <a:cs typeface="+mj-lt"/>
              </a:rPr>
              <a:t>Anti-XSS Coding Best Practices</a:t>
            </a:r>
            <a:endParaRPr lang="en-US" dirty="0"/>
          </a:p>
        </p:txBody>
      </p:sp>
      <p:sp>
        <p:nvSpPr>
          <p:cNvPr id="3" name="Content Placeholder 2">
            <a:extLst>
              <a:ext uri="{FF2B5EF4-FFF2-40B4-BE49-F238E27FC236}">
                <a16:creationId xmlns:a16="http://schemas.microsoft.com/office/drawing/2014/main" id="{F20C2A4F-939D-DD2D-69FE-500651B4E46F}"/>
              </a:ext>
            </a:extLst>
          </p:cNvPr>
          <p:cNvSpPr>
            <a:spLocks noGrp="1"/>
          </p:cNvSpPr>
          <p:nvPr>
            <p:ph idx="1"/>
          </p:nvPr>
        </p:nvSpPr>
        <p:spPr/>
        <p:txBody>
          <a:bodyPr vert="horz" lIns="91440" tIns="45720" rIns="91440" bIns="45720" rtlCol="0" anchor="t">
            <a:normAutofit/>
          </a:bodyPr>
          <a:lstStyle/>
          <a:p>
            <a:r>
              <a:rPr lang="en-US" dirty="0">
                <a:ea typeface="+mn-lt"/>
                <a:cs typeface="+mn-lt"/>
              </a:rPr>
              <a:t>don’t allow any user-supplied data to be passed into the DOM—except as strings.</a:t>
            </a:r>
          </a:p>
          <a:p>
            <a:r>
              <a:rPr lang="en-US" dirty="0">
                <a:ea typeface="+mn-lt"/>
                <a:cs typeface="+mn-lt"/>
              </a:rPr>
              <a:t>never allow any </a:t>
            </a:r>
            <a:r>
              <a:rPr lang="en-US" dirty="0" err="1">
                <a:ea typeface="+mn-lt"/>
                <a:cs typeface="+mn-lt"/>
              </a:rPr>
              <a:t>unsanitized</a:t>
            </a:r>
            <a:r>
              <a:rPr lang="en-US" dirty="0">
                <a:ea typeface="+mn-lt"/>
                <a:cs typeface="+mn-lt"/>
              </a:rPr>
              <a:t> user-supplied data to be passed into the DOM.</a:t>
            </a:r>
            <a:endParaRPr lang="en-US" dirty="0">
              <a:cs typeface="Calibri" panose="020F0502020204030204"/>
            </a:endParaRPr>
          </a:p>
        </p:txBody>
      </p:sp>
      <p:pic>
        <p:nvPicPr>
          <p:cNvPr id="4" name="Picture 3" descr="A screenshot of a computer&#10;&#10;Description automatically generated">
            <a:extLst>
              <a:ext uri="{FF2B5EF4-FFF2-40B4-BE49-F238E27FC236}">
                <a16:creationId xmlns:a16="http://schemas.microsoft.com/office/drawing/2014/main" id="{6FEE608C-05BE-BE7C-DD8A-175E0A810B73}"/>
              </a:ext>
            </a:extLst>
          </p:cNvPr>
          <p:cNvPicPr>
            <a:picLocks noChangeAspect="1"/>
          </p:cNvPicPr>
          <p:nvPr/>
        </p:nvPicPr>
        <p:blipFill rotWithShape="1">
          <a:blip r:embed="rId3"/>
          <a:srcRect l="50088" t="46429" r="29988" b="25000"/>
          <a:stretch/>
        </p:blipFill>
        <p:spPr>
          <a:xfrm>
            <a:off x="3310285" y="3423484"/>
            <a:ext cx="4298215" cy="3439345"/>
          </a:xfrm>
          <a:prstGeom prst="rect">
            <a:avLst/>
          </a:prstGeom>
        </p:spPr>
      </p:pic>
    </p:spTree>
    <p:extLst>
      <p:ext uri="{BB962C8B-B14F-4D97-AF65-F5344CB8AC3E}">
        <p14:creationId xmlns:p14="http://schemas.microsoft.com/office/powerpoint/2010/main" val="40491369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BFA2EC-6042-3D71-6622-15232D4DA360}"/>
              </a:ext>
            </a:extLst>
          </p:cNvPr>
          <p:cNvSpPr>
            <a:spLocks noGrp="1"/>
          </p:cNvSpPr>
          <p:nvPr>
            <p:ph idx="1"/>
          </p:nvPr>
        </p:nvSpPr>
        <p:spPr>
          <a:xfrm>
            <a:off x="838200" y="215361"/>
            <a:ext cx="10515600" cy="6522318"/>
          </a:xfrm>
        </p:spPr>
        <p:txBody>
          <a:bodyPr vert="horz" lIns="91440" tIns="45720" rIns="91440" bIns="45720" rtlCol="0" anchor="t">
            <a:normAutofit fontScale="85000" lnSpcReduction="20000"/>
          </a:bodyPr>
          <a:lstStyle/>
          <a:p>
            <a:r>
              <a:rPr lang="en-US" dirty="0">
                <a:ea typeface="+mn-lt"/>
                <a:cs typeface="+mn-lt"/>
              </a:rPr>
              <a:t>&lt;!DOCTYPE html&gt;</a:t>
            </a:r>
            <a:endParaRPr lang="en-US" dirty="0">
              <a:cs typeface="Calibri" panose="020F0502020204030204"/>
            </a:endParaRPr>
          </a:p>
          <a:p>
            <a:r>
              <a:rPr lang="en-US" dirty="0">
                <a:ea typeface="+mn-lt"/>
                <a:cs typeface="+mn-lt"/>
              </a:rPr>
              <a:t>&lt;html lang="</a:t>
            </a:r>
            <a:r>
              <a:rPr lang="en-US" dirty="0" err="1">
                <a:ea typeface="+mn-lt"/>
                <a:cs typeface="+mn-lt"/>
              </a:rPr>
              <a:t>en</a:t>
            </a:r>
            <a:r>
              <a:rPr lang="en-US" dirty="0">
                <a:ea typeface="+mn-lt"/>
                <a:cs typeface="+mn-lt"/>
              </a:rPr>
              <a:t>"&gt;</a:t>
            </a:r>
            <a:endParaRPr lang="en-US" dirty="0"/>
          </a:p>
          <a:p>
            <a:r>
              <a:rPr lang="en-US" dirty="0">
                <a:ea typeface="+mn-lt"/>
                <a:cs typeface="+mn-lt"/>
              </a:rPr>
              <a:t>&lt;head&gt;</a:t>
            </a:r>
            <a:endParaRPr lang="en-US" dirty="0"/>
          </a:p>
          <a:p>
            <a:r>
              <a:rPr lang="en-US" dirty="0">
                <a:ea typeface="+mn-lt"/>
                <a:cs typeface="+mn-lt"/>
              </a:rPr>
              <a:t>    &lt;meta charset="UTF-8"&gt;</a:t>
            </a:r>
            <a:endParaRPr lang="en-US" dirty="0"/>
          </a:p>
          <a:p>
            <a:r>
              <a:rPr lang="en-US" dirty="0">
                <a:ea typeface="+mn-lt"/>
                <a:cs typeface="+mn-lt"/>
              </a:rPr>
              <a:t>    &lt;meta name="viewport" content="width=device-width, initial-scale=1.0"&gt;</a:t>
            </a:r>
            <a:endParaRPr lang="en-US" dirty="0"/>
          </a:p>
          <a:p>
            <a:r>
              <a:rPr lang="en-US" dirty="0">
                <a:ea typeface="+mn-lt"/>
                <a:cs typeface="+mn-lt"/>
              </a:rPr>
              <a:t>    &lt;title&gt;Unsafe Example&lt;/title&gt;</a:t>
            </a:r>
            <a:endParaRPr lang="en-US" dirty="0"/>
          </a:p>
          <a:p>
            <a:r>
              <a:rPr lang="en-US" dirty="0">
                <a:ea typeface="+mn-lt"/>
                <a:cs typeface="+mn-lt"/>
              </a:rPr>
              <a:t>&lt;/head&gt;</a:t>
            </a:r>
            <a:endParaRPr lang="en-US" dirty="0"/>
          </a:p>
          <a:p>
            <a:r>
              <a:rPr lang="en-US" dirty="0">
                <a:ea typeface="+mn-lt"/>
                <a:cs typeface="+mn-lt"/>
              </a:rPr>
              <a:t>&lt;body&gt;</a:t>
            </a:r>
            <a:endParaRPr lang="en-US" dirty="0"/>
          </a:p>
          <a:p>
            <a:r>
              <a:rPr lang="en-US" dirty="0">
                <a:ea typeface="+mn-lt"/>
                <a:cs typeface="+mn-lt"/>
              </a:rPr>
              <a:t>    &lt;script&gt;</a:t>
            </a:r>
            <a:endParaRPr lang="en-US" dirty="0"/>
          </a:p>
          <a:p>
            <a:r>
              <a:rPr lang="en-US" dirty="0">
                <a:ea typeface="+mn-lt"/>
                <a:cs typeface="+mn-lt"/>
              </a:rPr>
              <a:t>        // Assume this data comes from user input or any untrusted source</a:t>
            </a:r>
            <a:endParaRPr lang="en-US" dirty="0"/>
          </a:p>
          <a:p>
            <a:r>
              <a:rPr lang="en-US" dirty="0">
                <a:ea typeface="+mn-lt"/>
                <a:cs typeface="+mn-lt"/>
              </a:rPr>
              <a:t>        var </a:t>
            </a:r>
            <a:r>
              <a:rPr lang="en-US" dirty="0" err="1">
                <a:ea typeface="+mn-lt"/>
                <a:cs typeface="+mn-lt"/>
              </a:rPr>
              <a:t>userInput</a:t>
            </a:r>
            <a:r>
              <a:rPr lang="en-US" dirty="0">
                <a:ea typeface="+mn-lt"/>
                <a:cs typeface="+mn-lt"/>
              </a:rPr>
              <a:t> = "&lt;</a:t>
            </a:r>
            <a:r>
              <a:rPr lang="en-US" dirty="0" err="1">
                <a:ea typeface="+mn-lt"/>
                <a:cs typeface="+mn-lt"/>
              </a:rPr>
              <a:t>img</a:t>
            </a:r>
            <a:r>
              <a:rPr lang="en-US" dirty="0">
                <a:ea typeface="+mn-lt"/>
                <a:cs typeface="+mn-lt"/>
              </a:rPr>
              <a:t> </a:t>
            </a:r>
            <a:r>
              <a:rPr lang="en-US" dirty="0" err="1">
                <a:ea typeface="+mn-lt"/>
                <a:cs typeface="+mn-lt"/>
              </a:rPr>
              <a:t>src</a:t>
            </a:r>
            <a:r>
              <a:rPr lang="en-US" dirty="0">
                <a:ea typeface="+mn-lt"/>
                <a:cs typeface="+mn-lt"/>
              </a:rPr>
              <a:t>=x </a:t>
            </a:r>
            <a:r>
              <a:rPr lang="en-US" dirty="0" err="1">
                <a:ea typeface="+mn-lt"/>
                <a:cs typeface="+mn-lt"/>
              </a:rPr>
              <a:t>onerror</a:t>
            </a:r>
            <a:r>
              <a:rPr lang="en-US" dirty="0">
                <a:ea typeface="+mn-lt"/>
                <a:cs typeface="+mn-lt"/>
              </a:rPr>
              <a:t>='alert(\"XSS Attack!\")'&gt;";</a:t>
            </a:r>
            <a:endParaRPr lang="en-US" dirty="0"/>
          </a:p>
          <a:p>
            <a:r>
              <a:rPr lang="en-US" dirty="0">
                <a:ea typeface="+mn-lt"/>
                <a:cs typeface="+mn-lt"/>
              </a:rPr>
              <a:t>                // Display the user-supplied data in the DOM</a:t>
            </a:r>
            <a:endParaRPr lang="en-US">
              <a:cs typeface="Calibri" panose="020F0502020204030204"/>
            </a:endParaRPr>
          </a:p>
          <a:p>
            <a:r>
              <a:rPr lang="en-US" dirty="0">
                <a:ea typeface="+mn-lt"/>
                <a:cs typeface="+mn-lt"/>
              </a:rPr>
              <a:t>        </a:t>
            </a:r>
            <a:r>
              <a:rPr lang="en-US" dirty="0" err="1">
                <a:ea typeface="+mn-lt"/>
                <a:cs typeface="+mn-lt"/>
              </a:rPr>
              <a:t>document.getElementById</a:t>
            </a:r>
            <a:r>
              <a:rPr lang="en-US" dirty="0">
                <a:ea typeface="+mn-lt"/>
                <a:cs typeface="+mn-lt"/>
              </a:rPr>
              <a:t>("output").</a:t>
            </a:r>
            <a:r>
              <a:rPr lang="en-US" dirty="0" err="1">
                <a:ea typeface="+mn-lt"/>
                <a:cs typeface="+mn-lt"/>
              </a:rPr>
              <a:t>innerHTML</a:t>
            </a:r>
            <a:r>
              <a:rPr lang="en-US" dirty="0">
                <a:ea typeface="+mn-lt"/>
                <a:cs typeface="+mn-lt"/>
              </a:rPr>
              <a:t> = </a:t>
            </a:r>
            <a:r>
              <a:rPr lang="en-US" dirty="0" err="1">
                <a:ea typeface="+mn-lt"/>
                <a:cs typeface="+mn-lt"/>
              </a:rPr>
              <a:t>userInput</a:t>
            </a:r>
            <a:r>
              <a:rPr lang="en-US" dirty="0">
                <a:ea typeface="+mn-lt"/>
                <a:cs typeface="+mn-lt"/>
              </a:rPr>
              <a:t>;</a:t>
            </a:r>
            <a:endParaRPr lang="en-US" dirty="0"/>
          </a:p>
          <a:p>
            <a:r>
              <a:rPr lang="en-US" dirty="0">
                <a:ea typeface="+mn-lt"/>
                <a:cs typeface="+mn-lt"/>
              </a:rPr>
              <a:t>    &lt;/script&gt;</a:t>
            </a:r>
            <a:endParaRPr lang="en-US" dirty="0"/>
          </a:p>
          <a:p>
            <a:r>
              <a:rPr lang="en-US" dirty="0">
                <a:ea typeface="+mn-lt"/>
                <a:cs typeface="+mn-lt"/>
              </a:rPr>
              <a:t>    &lt;div id="output"&gt;&lt;/div&gt;</a:t>
            </a:r>
            <a:endParaRPr lang="en-US" dirty="0"/>
          </a:p>
          <a:p>
            <a:r>
              <a:rPr lang="en-US" dirty="0">
                <a:ea typeface="+mn-lt"/>
                <a:cs typeface="+mn-lt"/>
              </a:rPr>
              <a:t>&lt;/body&gt;</a:t>
            </a:r>
            <a:endParaRPr lang="en-US" dirty="0"/>
          </a:p>
          <a:p>
            <a:r>
              <a:rPr lang="en-US" dirty="0">
                <a:ea typeface="+mn-lt"/>
                <a:cs typeface="+mn-lt"/>
              </a:rPr>
              <a:t>&lt;/html&gt;</a:t>
            </a:r>
            <a:endParaRPr lang="en-US" dirty="0"/>
          </a:p>
          <a:p>
            <a:endParaRPr lang="en-US" dirty="0">
              <a:cs typeface="Calibri"/>
            </a:endParaRPr>
          </a:p>
        </p:txBody>
      </p:sp>
    </p:spTree>
    <p:extLst>
      <p:ext uri="{BB962C8B-B14F-4D97-AF65-F5344CB8AC3E}">
        <p14:creationId xmlns:p14="http://schemas.microsoft.com/office/powerpoint/2010/main" val="33970578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0DDDAC-A711-5E42-8561-B73233A5FF92}"/>
              </a:ext>
            </a:extLst>
          </p:cNvPr>
          <p:cNvSpPr>
            <a:spLocks noGrp="1"/>
          </p:cNvSpPr>
          <p:nvPr>
            <p:ph idx="1"/>
          </p:nvPr>
        </p:nvSpPr>
        <p:spPr>
          <a:xfrm>
            <a:off x="838200" y="-299"/>
            <a:ext cx="10515600" cy="6781111"/>
          </a:xfrm>
        </p:spPr>
        <p:txBody>
          <a:bodyPr vert="horz" lIns="91440" tIns="45720" rIns="91440" bIns="45720" rtlCol="0" anchor="t">
            <a:normAutofit fontScale="70000" lnSpcReduction="20000"/>
          </a:bodyPr>
          <a:lstStyle/>
          <a:p>
            <a:r>
              <a:rPr lang="en-US" dirty="0">
                <a:ea typeface="+mn-lt"/>
                <a:cs typeface="+mn-lt"/>
              </a:rPr>
              <a:t>&lt;!DOCTYPE html&gt;</a:t>
            </a:r>
            <a:endParaRPr lang="en-US" dirty="0">
              <a:cs typeface="Calibri" panose="020F0502020204030204"/>
            </a:endParaRPr>
          </a:p>
          <a:p>
            <a:r>
              <a:rPr lang="en-US" dirty="0">
                <a:ea typeface="+mn-lt"/>
                <a:cs typeface="+mn-lt"/>
              </a:rPr>
              <a:t>&lt;html lang="</a:t>
            </a:r>
            <a:r>
              <a:rPr lang="en-US" dirty="0" err="1">
                <a:ea typeface="+mn-lt"/>
                <a:cs typeface="+mn-lt"/>
              </a:rPr>
              <a:t>en</a:t>
            </a:r>
            <a:r>
              <a:rPr lang="en-US" dirty="0">
                <a:ea typeface="+mn-lt"/>
                <a:cs typeface="+mn-lt"/>
              </a:rPr>
              <a:t>"&gt;</a:t>
            </a:r>
            <a:endParaRPr lang="en-US" dirty="0"/>
          </a:p>
          <a:p>
            <a:r>
              <a:rPr lang="en-US" dirty="0">
                <a:ea typeface="+mn-lt"/>
                <a:cs typeface="+mn-lt"/>
              </a:rPr>
              <a:t>&lt;head&gt;</a:t>
            </a:r>
            <a:endParaRPr lang="en-US" dirty="0"/>
          </a:p>
          <a:p>
            <a:r>
              <a:rPr lang="en-US" dirty="0">
                <a:ea typeface="+mn-lt"/>
                <a:cs typeface="+mn-lt"/>
              </a:rPr>
              <a:t>    &lt;meta charset="UTF-8"&gt;</a:t>
            </a:r>
            <a:endParaRPr lang="en-US" dirty="0"/>
          </a:p>
          <a:p>
            <a:r>
              <a:rPr lang="en-US" dirty="0">
                <a:ea typeface="+mn-lt"/>
                <a:cs typeface="+mn-lt"/>
              </a:rPr>
              <a:t>    &lt;meta name="viewport" content="width=device-width, initial-scale=1.0"&gt;</a:t>
            </a:r>
            <a:endParaRPr lang="en-US" dirty="0"/>
          </a:p>
          <a:p>
            <a:r>
              <a:rPr lang="en-US" dirty="0">
                <a:ea typeface="+mn-lt"/>
                <a:cs typeface="+mn-lt"/>
              </a:rPr>
              <a:t>    &lt;title&gt;Safe Example&lt;/title&gt;</a:t>
            </a:r>
            <a:endParaRPr lang="en-US" dirty="0"/>
          </a:p>
          <a:p>
            <a:r>
              <a:rPr lang="en-US" dirty="0">
                <a:ea typeface="+mn-lt"/>
                <a:cs typeface="+mn-lt"/>
              </a:rPr>
              <a:t>&lt;/head&gt;</a:t>
            </a:r>
            <a:endParaRPr lang="en-US" dirty="0"/>
          </a:p>
          <a:p>
            <a:r>
              <a:rPr lang="en-US" dirty="0">
                <a:ea typeface="+mn-lt"/>
                <a:cs typeface="+mn-lt"/>
              </a:rPr>
              <a:t>&lt;body&gt;</a:t>
            </a:r>
            <a:endParaRPr lang="en-US" dirty="0"/>
          </a:p>
          <a:p>
            <a:r>
              <a:rPr lang="en-US" dirty="0">
                <a:ea typeface="+mn-lt"/>
                <a:cs typeface="+mn-lt"/>
              </a:rPr>
              <a:t>    &lt;script&gt;</a:t>
            </a:r>
            <a:endParaRPr lang="en-US" dirty="0"/>
          </a:p>
          <a:p>
            <a:r>
              <a:rPr lang="en-US" dirty="0">
                <a:ea typeface="+mn-lt"/>
                <a:cs typeface="+mn-lt"/>
              </a:rPr>
              <a:t>        // Assume this data comes from user input or any untrusted source</a:t>
            </a:r>
            <a:endParaRPr lang="en-US" dirty="0"/>
          </a:p>
          <a:p>
            <a:r>
              <a:rPr lang="en-US" dirty="0">
                <a:ea typeface="+mn-lt"/>
                <a:cs typeface="+mn-lt"/>
              </a:rPr>
              <a:t>        var </a:t>
            </a:r>
            <a:r>
              <a:rPr lang="en-US" dirty="0" err="1">
                <a:ea typeface="+mn-lt"/>
                <a:cs typeface="+mn-lt"/>
              </a:rPr>
              <a:t>userInput</a:t>
            </a:r>
            <a:r>
              <a:rPr lang="en-US" dirty="0">
                <a:ea typeface="+mn-lt"/>
                <a:cs typeface="+mn-lt"/>
              </a:rPr>
              <a:t> = "&lt;</a:t>
            </a:r>
            <a:r>
              <a:rPr lang="en-US" dirty="0" err="1">
                <a:ea typeface="+mn-lt"/>
                <a:cs typeface="+mn-lt"/>
              </a:rPr>
              <a:t>img</a:t>
            </a:r>
            <a:r>
              <a:rPr lang="en-US" dirty="0">
                <a:ea typeface="+mn-lt"/>
                <a:cs typeface="+mn-lt"/>
              </a:rPr>
              <a:t> </a:t>
            </a:r>
            <a:r>
              <a:rPr lang="en-US" dirty="0" err="1">
                <a:ea typeface="+mn-lt"/>
                <a:cs typeface="+mn-lt"/>
              </a:rPr>
              <a:t>src</a:t>
            </a:r>
            <a:r>
              <a:rPr lang="en-US" dirty="0">
                <a:ea typeface="+mn-lt"/>
                <a:cs typeface="+mn-lt"/>
              </a:rPr>
              <a:t>=x </a:t>
            </a:r>
            <a:r>
              <a:rPr lang="en-US" dirty="0" err="1">
                <a:ea typeface="+mn-lt"/>
                <a:cs typeface="+mn-lt"/>
              </a:rPr>
              <a:t>onerror</a:t>
            </a:r>
            <a:r>
              <a:rPr lang="en-US" dirty="0">
                <a:ea typeface="+mn-lt"/>
                <a:cs typeface="+mn-lt"/>
              </a:rPr>
              <a:t>='alert(\"XSS Attack!\")'&gt;";</a:t>
            </a:r>
            <a:endParaRPr lang="en-US" dirty="0"/>
          </a:p>
          <a:p>
            <a:endParaRPr lang="en-US"/>
          </a:p>
          <a:p>
            <a:r>
              <a:rPr lang="en-US" dirty="0">
                <a:ea typeface="+mn-lt"/>
                <a:cs typeface="+mn-lt"/>
              </a:rPr>
              <a:t>        // Create a text node to safely insert the user-supplied data</a:t>
            </a:r>
            <a:endParaRPr lang="en-US" dirty="0"/>
          </a:p>
          <a:p>
            <a:r>
              <a:rPr lang="en-US" dirty="0">
                <a:ea typeface="+mn-lt"/>
                <a:cs typeface="+mn-lt"/>
              </a:rPr>
              <a:t>        var </a:t>
            </a:r>
            <a:r>
              <a:rPr lang="en-US" dirty="0" err="1">
                <a:ea typeface="+mn-lt"/>
                <a:cs typeface="+mn-lt"/>
              </a:rPr>
              <a:t>textNode</a:t>
            </a:r>
            <a:r>
              <a:rPr lang="en-US" dirty="0">
                <a:ea typeface="+mn-lt"/>
                <a:cs typeface="+mn-lt"/>
              </a:rPr>
              <a:t> = </a:t>
            </a:r>
            <a:r>
              <a:rPr lang="en-US" dirty="0" err="1">
                <a:ea typeface="+mn-lt"/>
                <a:cs typeface="+mn-lt"/>
              </a:rPr>
              <a:t>document.createTextNode</a:t>
            </a:r>
            <a:r>
              <a:rPr lang="en-US" dirty="0">
                <a:ea typeface="+mn-lt"/>
                <a:cs typeface="+mn-lt"/>
              </a:rPr>
              <a:t>(</a:t>
            </a:r>
            <a:r>
              <a:rPr lang="en-US" dirty="0" err="1">
                <a:ea typeface="+mn-lt"/>
                <a:cs typeface="+mn-lt"/>
              </a:rPr>
              <a:t>userInput</a:t>
            </a:r>
            <a:r>
              <a:rPr lang="en-US" dirty="0">
                <a:ea typeface="+mn-lt"/>
                <a:cs typeface="+mn-lt"/>
              </a:rPr>
              <a:t>);</a:t>
            </a:r>
            <a:endParaRPr lang="en-US" dirty="0"/>
          </a:p>
          <a:p>
            <a:r>
              <a:rPr lang="en-US" dirty="0">
                <a:ea typeface="+mn-lt"/>
                <a:cs typeface="+mn-lt"/>
              </a:rPr>
              <a:t>        // Append the text node to an element, ensuring it won't be executed as code</a:t>
            </a:r>
            <a:endParaRPr lang="en-US" dirty="0"/>
          </a:p>
          <a:p>
            <a:r>
              <a:rPr lang="en-US" dirty="0">
                <a:ea typeface="+mn-lt"/>
                <a:cs typeface="+mn-lt"/>
              </a:rPr>
              <a:t>        </a:t>
            </a:r>
            <a:r>
              <a:rPr lang="en-US" dirty="0" err="1">
                <a:ea typeface="+mn-lt"/>
                <a:cs typeface="+mn-lt"/>
              </a:rPr>
              <a:t>document.getElementById</a:t>
            </a:r>
            <a:r>
              <a:rPr lang="en-US" dirty="0">
                <a:ea typeface="+mn-lt"/>
                <a:cs typeface="+mn-lt"/>
              </a:rPr>
              <a:t>("output").</a:t>
            </a:r>
            <a:r>
              <a:rPr lang="en-US" dirty="0" err="1">
                <a:ea typeface="+mn-lt"/>
                <a:cs typeface="+mn-lt"/>
              </a:rPr>
              <a:t>appendChild</a:t>
            </a:r>
            <a:r>
              <a:rPr lang="en-US" dirty="0">
                <a:ea typeface="+mn-lt"/>
                <a:cs typeface="+mn-lt"/>
              </a:rPr>
              <a:t>(</a:t>
            </a:r>
            <a:r>
              <a:rPr lang="en-US" dirty="0" err="1">
                <a:ea typeface="+mn-lt"/>
                <a:cs typeface="+mn-lt"/>
              </a:rPr>
              <a:t>textNode</a:t>
            </a:r>
            <a:r>
              <a:rPr lang="en-US" dirty="0">
                <a:ea typeface="+mn-lt"/>
                <a:cs typeface="+mn-lt"/>
              </a:rPr>
              <a:t>);</a:t>
            </a:r>
            <a:endParaRPr lang="en-US" dirty="0"/>
          </a:p>
          <a:p>
            <a:r>
              <a:rPr lang="en-US" dirty="0">
                <a:ea typeface="+mn-lt"/>
                <a:cs typeface="+mn-lt"/>
              </a:rPr>
              <a:t>    &lt;/script&gt;</a:t>
            </a:r>
            <a:endParaRPr lang="en-US" dirty="0"/>
          </a:p>
          <a:p>
            <a:r>
              <a:rPr lang="en-US" dirty="0">
                <a:ea typeface="+mn-lt"/>
                <a:cs typeface="+mn-lt"/>
              </a:rPr>
              <a:t>    &lt;div id="output"&gt;&lt;/div&gt;</a:t>
            </a:r>
            <a:endParaRPr lang="en-US" dirty="0"/>
          </a:p>
          <a:p>
            <a:r>
              <a:rPr lang="en-US" dirty="0">
                <a:ea typeface="+mn-lt"/>
                <a:cs typeface="+mn-lt"/>
              </a:rPr>
              <a:t>&lt;/body&gt;</a:t>
            </a:r>
            <a:endParaRPr lang="en-US" dirty="0"/>
          </a:p>
          <a:p>
            <a:r>
              <a:rPr lang="en-US" dirty="0">
                <a:ea typeface="+mn-lt"/>
                <a:cs typeface="+mn-lt"/>
              </a:rPr>
              <a:t>&lt;/html&gt;</a:t>
            </a:r>
            <a:endParaRPr lang="en-US" dirty="0"/>
          </a:p>
          <a:p>
            <a:endParaRPr lang="en-US" dirty="0">
              <a:cs typeface="Calibri"/>
            </a:endParaRPr>
          </a:p>
        </p:txBody>
      </p:sp>
    </p:spTree>
    <p:extLst>
      <p:ext uri="{BB962C8B-B14F-4D97-AF65-F5344CB8AC3E}">
        <p14:creationId xmlns:p14="http://schemas.microsoft.com/office/powerpoint/2010/main" val="3617647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A90B1-82D3-5C3F-5746-041F11304DD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A68257D-C4BD-B15D-F56D-F184B456E671}"/>
              </a:ext>
            </a:extLst>
          </p:cNvPr>
          <p:cNvSpPr>
            <a:spLocks noGrp="1"/>
          </p:cNvSpPr>
          <p:nvPr>
            <p:ph idx="1"/>
          </p:nvPr>
        </p:nvSpPr>
        <p:spPr/>
        <p:txBody>
          <a:bodyPr vert="horz" lIns="91440" tIns="45720" rIns="91440" bIns="45720" rtlCol="0" anchor="t">
            <a:normAutofit/>
          </a:bodyPr>
          <a:lstStyle/>
          <a:p>
            <a:r>
              <a:rPr lang="en-US" err="1">
                <a:ea typeface="+mn-lt"/>
                <a:cs typeface="+mn-lt"/>
              </a:rPr>
              <a:t>document.getElementById</a:t>
            </a:r>
            <a:r>
              <a:rPr lang="en-US" dirty="0">
                <a:ea typeface="+mn-lt"/>
                <a:cs typeface="+mn-lt"/>
              </a:rPr>
              <a:t>("output").</a:t>
            </a:r>
            <a:r>
              <a:rPr lang="en-US" err="1">
                <a:ea typeface="+mn-lt"/>
                <a:cs typeface="+mn-lt"/>
              </a:rPr>
              <a:t>innerHTML</a:t>
            </a:r>
            <a:r>
              <a:rPr lang="en-US">
                <a:ea typeface="+mn-lt"/>
                <a:cs typeface="+mn-lt"/>
              </a:rPr>
              <a:t> = </a:t>
            </a:r>
            <a:r>
              <a:rPr lang="en-US" err="1">
                <a:ea typeface="+mn-lt"/>
                <a:cs typeface="+mn-lt"/>
              </a:rPr>
              <a:t>userInput</a:t>
            </a:r>
            <a:r>
              <a:rPr lang="en-US">
                <a:ea typeface="+mn-lt"/>
                <a:cs typeface="+mn-lt"/>
              </a:rPr>
              <a:t>;</a:t>
            </a:r>
          </a:p>
          <a:p>
            <a:endParaRPr lang="en-US" dirty="0">
              <a:ea typeface="Calibri"/>
              <a:cs typeface="Calibri"/>
            </a:endParaRPr>
          </a:p>
          <a:p>
            <a:endParaRPr lang="en-US" dirty="0">
              <a:ea typeface="Calibri"/>
              <a:cs typeface="Calibri"/>
            </a:endParaRPr>
          </a:p>
          <a:p>
            <a:r>
              <a:rPr lang="en-US" dirty="0" err="1">
                <a:ea typeface="+mn-lt"/>
                <a:cs typeface="+mn-lt"/>
              </a:rPr>
              <a:t>document.getElementById</a:t>
            </a:r>
            <a:r>
              <a:rPr lang="en-US" dirty="0">
                <a:ea typeface="+mn-lt"/>
                <a:cs typeface="+mn-lt"/>
              </a:rPr>
              <a:t>("output").</a:t>
            </a:r>
            <a:r>
              <a:rPr lang="en-US" dirty="0" err="1">
                <a:ea typeface="+mn-lt"/>
                <a:cs typeface="+mn-lt"/>
              </a:rPr>
              <a:t>textContent</a:t>
            </a:r>
            <a:r>
              <a:rPr lang="en-US" dirty="0">
                <a:ea typeface="+mn-lt"/>
                <a:cs typeface="+mn-lt"/>
              </a:rPr>
              <a:t> = </a:t>
            </a:r>
            <a:r>
              <a:rPr lang="en-US" dirty="0" err="1">
                <a:ea typeface="+mn-lt"/>
                <a:cs typeface="+mn-lt"/>
              </a:rPr>
              <a:t>userInput</a:t>
            </a:r>
            <a:r>
              <a:rPr lang="en-US" dirty="0">
                <a:ea typeface="+mn-lt"/>
                <a:cs typeface="+mn-lt"/>
              </a:rPr>
              <a:t>;</a:t>
            </a:r>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25589134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7E4BC-6793-9880-77DC-7505090CE555}"/>
              </a:ext>
            </a:extLst>
          </p:cNvPr>
          <p:cNvSpPr>
            <a:spLocks noGrp="1"/>
          </p:cNvSpPr>
          <p:nvPr>
            <p:ph type="title"/>
          </p:nvPr>
        </p:nvSpPr>
        <p:spPr/>
        <p:txBody>
          <a:bodyPr/>
          <a:lstStyle/>
          <a:p>
            <a:r>
              <a:rPr lang="en-US" dirty="0">
                <a:ea typeface="+mj-lt"/>
                <a:cs typeface="+mj-lt"/>
              </a:rPr>
              <a:t>Sanitizing User Input</a:t>
            </a:r>
            <a:endParaRPr lang="en-US" dirty="0"/>
          </a:p>
        </p:txBody>
      </p:sp>
      <p:sp>
        <p:nvSpPr>
          <p:cNvPr id="3" name="Content Placeholder 2">
            <a:extLst>
              <a:ext uri="{FF2B5EF4-FFF2-40B4-BE49-F238E27FC236}">
                <a16:creationId xmlns:a16="http://schemas.microsoft.com/office/drawing/2014/main" id="{CFAD3B6B-CC41-5D03-2998-80811B4273A8}"/>
              </a:ext>
            </a:extLst>
          </p:cNvPr>
          <p:cNvSpPr>
            <a:spLocks noGrp="1"/>
          </p:cNvSpPr>
          <p:nvPr>
            <p:ph idx="1"/>
          </p:nvPr>
        </p:nvSpPr>
        <p:spPr>
          <a:xfrm>
            <a:off x="838200" y="1825625"/>
            <a:ext cx="10515600" cy="4840168"/>
          </a:xfrm>
        </p:spPr>
        <p:txBody>
          <a:bodyPr vert="horz" lIns="91440" tIns="45720" rIns="91440" bIns="45720" rtlCol="0" anchor="t">
            <a:normAutofit/>
          </a:bodyPr>
          <a:lstStyle/>
          <a:p>
            <a:r>
              <a:rPr lang="en-US" dirty="0">
                <a:solidFill>
                  <a:srgbClr val="000000"/>
                </a:solidFill>
                <a:ea typeface="+mn-lt"/>
                <a:cs typeface="+mn-lt"/>
              </a:rPr>
              <a:t>Sanitizing user input is a crucial step in web development to prevent security vulnerabilities, especially Cross-Site Scripting (XSS) attacks. </a:t>
            </a:r>
          </a:p>
          <a:p>
            <a:r>
              <a:rPr lang="en-US" dirty="0">
                <a:solidFill>
                  <a:srgbClr val="000000"/>
                </a:solidFill>
                <a:ea typeface="+mn-lt"/>
                <a:cs typeface="+mn-lt"/>
              </a:rPr>
              <a:t>Sanitization involves validating and cleaning user input to ensure that it doesn't contain malicious code. </a:t>
            </a:r>
          </a:p>
          <a:p>
            <a:r>
              <a:rPr lang="en-US" dirty="0">
                <a:solidFill>
                  <a:srgbClr val="000000"/>
                </a:solidFill>
                <a:ea typeface="+mn-lt"/>
                <a:cs typeface="+mn-lt"/>
              </a:rPr>
              <a:t>When the user input is passed through the </a:t>
            </a:r>
            <a:r>
              <a:rPr lang="en-US" dirty="0" err="1">
                <a:solidFill>
                  <a:srgbClr val="000000"/>
                </a:solidFill>
                <a:ea typeface="+mn-lt"/>
                <a:cs typeface="+mn-lt"/>
              </a:rPr>
              <a:t>sanitizeInput</a:t>
            </a:r>
            <a:r>
              <a:rPr lang="en-US" dirty="0">
                <a:solidFill>
                  <a:srgbClr val="000000"/>
                </a:solidFill>
                <a:ea typeface="+mn-lt"/>
                <a:cs typeface="+mn-lt"/>
              </a:rPr>
              <a:t> function before being inserted into the DOM, the dangerous code within the input is effectively neutralized. </a:t>
            </a:r>
          </a:p>
          <a:p>
            <a:r>
              <a:rPr lang="en-US" dirty="0">
                <a:solidFill>
                  <a:srgbClr val="000000"/>
                </a:solidFill>
                <a:ea typeface="+mn-lt"/>
                <a:cs typeface="+mn-lt"/>
              </a:rPr>
              <a:t>This practice helps ensure that user-supplied data is displayed safely on the webpage without posing a security risk.</a:t>
            </a:r>
          </a:p>
          <a:p>
            <a:endParaRPr lang="en-US" dirty="0">
              <a:solidFill>
                <a:srgbClr val="000000"/>
              </a:solidFill>
              <a:cs typeface="Calibri"/>
            </a:endParaRPr>
          </a:p>
        </p:txBody>
      </p:sp>
    </p:spTree>
    <p:extLst>
      <p:ext uri="{BB962C8B-B14F-4D97-AF65-F5344CB8AC3E}">
        <p14:creationId xmlns:p14="http://schemas.microsoft.com/office/powerpoint/2010/main" val="1461909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9370B4-AE73-05C9-4E7F-63B256F137FA}"/>
              </a:ext>
            </a:extLst>
          </p:cNvPr>
          <p:cNvSpPr>
            <a:spLocks noGrp="1"/>
          </p:cNvSpPr>
          <p:nvPr>
            <p:ph idx="1"/>
          </p:nvPr>
        </p:nvSpPr>
        <p:spPr>
          <a:xfrm>
            <a:off x="838200" y="316003"/>
            <a:ext cx="10515600" cy="6536695"/>
          </a:xfrm>
        </p:spPr>
        <p:txBody>
          <a:bodyPr vert="horz" lIns="91440" tIns="45720" rIns="91440" bIns="45720" rtlCol="0" anchor="t">
            <a:normAutofit fontScale="62500" lnSpcReduction="20000"/>
          </a:bodyPr>
          <a:lstStyle/>
          <a:p>
            <a:r>
              <a:rPr lang="en-US">
                <a:ea typeface="+mn-lt"/>
                <a:cs typeface="+mn-lt"/>
              </a:rPr>
              <a:t>    &lt;title&gt;Sanitization Example&lt;/title&gt;</a:t>
            </a:r>
            <a:endParaRPr lang="en-US"/>
          </a:p>
          <a:p>
            <a:r>
              <a:rPr lang="en-US" dirty="0">
                <a:ea typeface="+mn-lt"/>
                <a:cs typeface="+mn-lt"/>
              </a:rPr>
              <a:t>&lt;/head&gt;</a:t>
            </a:r>
            <a:endParaRPr lang="en-US" dirty="0"/>
          </a:p>
          <a:p>
            <a:r>
              <a:rPr lang="en-US" dirty="0">
                <a:ea typeface="+mn-lt"/>
                <a:cs typeface="+mn-lt"/>
              </a:rPr>
              <a:t>&lt;body&gt;</a:t>
            </a:r>
            <a:endParaRPr lang="en-US" dirty="0"/>
          </a:p>
          <a:p>
            <a:r>
              <a:rPr lang="en-US" dirty="0">
                <a:ea typeface="+mn-lt"/>
                <a:cs typeface="+mn-lt"/>
              </a:rPr>
              <a:t>    &lt;script&gt;</a:t>
            </a:r>
            <a:endParaRPr lang="en-US" dirty="0"/>
          </a:p>
          <a:p>
            <a:r>
              <a:rPr lang="en-US" dirty="0">
                <a:ea typeface="+mn-lt"/>
                <a:cs typeface="+mn-lt"/>
              </a:rPr>
              <a:t>        // Assume this data comes from user input or any untrusted source</a:t>
            </a:r>
            <a:endParaRPr lang="en-US" dirty="0"/>
          </a:p>
          <a:p>
            <a:r>
              <a:rPr lang="en-US" dirty="0">
                <a:ea typeface="+mn-lt"/>
                <a:cs typeface="+mn-lt"/>
              </a:rPr>
              <a:t>        var </a:t>
            </a:r>
            <a:r>
              <a:rPr lang="en-US" dirty="0" err="1">
                <a:ea typeface="+mn-lt"/>
                <a:cs typeface="+mn-lt"/>
              </a:rPr>
              <a:t>userInput</a:t>
            </a:r>
            <a:r>
              <a:rPr lang="en-US" dirty="0">
                <a:ea typeface="+mn-lt"/>
                <a:cs typeface="+mn-lt"/>
              </a:rPr>
              <a:t> = "&lt;</a:t>
            </a:r>
            <a:r>
              <a:rPr lang="en-US" dirty="0" err="1">
                <a:ea typeface="+mn-lt"/>
                <a:cs typeface="+mn-lt"/>
              </a:rPr>
              <a:t>img</a:t>
            </a:r>
            <a:r>
              <a:rPr lang="en-US" dirty="0">
                <a:ea typeface="+mn-lt"/>
                <a:cs typeface="+mn-lt"/>
              </a:rPr>
              <a:t> </a:t>
            </a:r>
            <a:r>
              <a:rPr lang="en-US" dirty="0" err="1">
                <a:ea typeface="+mn-lt"/>
                <a:cs typeface="+mn-lt"/>
              </a:rPr>
              <a:t>src</a:t>
            </a:r>
            <a:r>
              <a:rPr lang="en-US" dirty="0">
                <a:ea typeface="+mn-lt"/>
                <a:cs typeface="+mn-lt"/>
              </a:rPr>
              <a:t>=x </a:t>
            </a:r>
            <a:r>
              <a:rPr lang="en-US" dirty="0" err="1">
                <a:ea typeface="+mn-lt"/>
                <a:cs typeface="+mn-lt"/>
              </a:rPr>
              <a:t>onerror</a:t>
            </a:r>
            <a:r>
              <a:rPr lang="en-US" dirty="0">
                <a:ea typeface="+mn-lt"/>
                <a:cs typeface="+mn-lt"/>
              </a:rPr>
              <a:t>='alert(\"XSS Attack!\")'&gt;";</a:t>
            </a:r>
            <a:endParaRPr lang="en-US" dirty="0"/>
          </a:p>
          <a:p>
            <a:endParaRPr lang="en-US"/>
          </a:p>
          <a:p>
            <a:r>
              <a:rPr lang="en-US" dirty="0">
                <a:ea typeface="+mn-lt"/>
                <a:cs typeface="+mn-lt"/>
              </a:rPr>
              <a:t>        // Function to sanitize user input and prevent XSS attacks</a:t>
            </a:r>
            <a:endParaRPr lang="en-US" dirty="0"/>
          </a:p>
          <a:p>
            <a:r>
              <a:rPr lang="en-US" dirty="0">
                <a:ea typeface="+mn-lt"/>
                <a:cs typeface="+mn-lt"/>
              </a:rPr>
              <a:t>        function </a:t>
            </a:r>
            <a:r>
              <a:rPr lang="en-US" dirty="0" err="1">
                <a:ea typeface="+mn-lt"/>
                <a:cs typeface="+mn-lt"/>
              </a:rPr>
              <a:t>sanitizeInput</a:t>
            </a:r>
            <a:r>
              <a:rPr lang="en-US" dirty="0">
                <a:ea typeface="+mn-lt"/>
                <a:cs typeface="+mn-lt"/>
              </a:rPr>
              <a:t>(input) {</a:t>
            </a:r>
            <a:endParaRPr lang="en-US" dirty="0"/>
          </a:p>
          <a:p>
            <a:r>
              <a:rPr lang="en-US" dirty="0">
                <a:ea typeface="+mn-lt"/>
                <a:cs typeface="+mn-lt"/>
              </a:rPr>
              <a:t>            // Replace '&lt;' with '&amp;</a:t>
            </a:r>
            <a:r>
              <a:rPr lang="en-US" dirty="0" err="1">
                <a:ea typeface="+mn-lt"/>
                <a:cs typeface="+mn-lt"/>
              </a:rPr>
              <a:t>lt</a:t>
            </a:r>
            <a:r>
              <a:rPr lang="en-US" dirty="0">
                <a:ea typeface="+mn-lt"/>
                <a:cs typeface="+mn-lt"/>
              </a:rPr>
              <a:t>;' and '&gt;' with '&amp;</a:t>
            </a:r>
            <a:r>
              <a:rPr lang="en-US" dirty="0" err="1">
                <a:ea typeface="+mn-lt"/>
                <a:cs typeface="+mn-lt"/>
              </a:rPr>
              <a:t>gt</a:t>
            </a:r>
            <a:r>
              <a:rPr lang="en-US" dirty="0">
                <a:ea typeface="+mn-lt"/>
                <a:cs typeface="+mn-lt"/>
              </a:rPr>
              <a:t>;'</a:t>
            </a:r>
            <a:endParaRPr lang="en-US" dirty="0"/>
          </a:p>
          <a:p>
            <a:r>
              <a:rPr lang="en-US" dirty="0">
                <a:ea typeface="+mn-lt"/>
                <a:cs typeface="+mn-lt"/>
              </a:rPr>
              <a:t>            return </a:t>
            </a:r>
            <a:r>
              <a:rPr lang="en-US" dirty="0" err="1">
                <a:ea typeface="+mn-lt"/>
                <a:cs typeface="+mn-lt"/>
              </a:rPr>
              <a:t>input.replace</a:t>
            </a:r>
            <a:r>
              <a:rPr lang="en-US" dirty="0">
                <a:ea typeface="+mn-lt"/>
                <a:cs typeface="+mn-lt"/>
              </a:rPr>
              <a:t>(/&lt;/g, '&amp;</a:t>
            </a:r>
            <a:r>
              <a:rPr lang="en-US" dirty="0" err="1">
                <a:ea typeface="+mn-lt"/>
                <a:cs typeface="+mn-lt"/>
              </a:rPr>
              <a:t>lt</a:t>
            </a:r>
            <a:r>
              <a:rPr lang="en-US" dirty="0">
                <a:ea typeface="+mn-lt"/>
                <a:cs typeface="+mn-lt"/>
              </a:rPr>
              <a:t>;').replace(/&gt;/g, '&amp;</a:t>
            </a:r>
            <a:r>
              <a:rPr lang="en-US" dirty="0" err="1">
                <a:ea typeface="+mn-lt"/>
                <a:cs typeface="+mn-lt"/>
              </a:rPr>
              <a:t>gt</a:t>
            </a:r>
            <a:r>
              <a:rPr lang="en-US" dirty="0">
                <a:ea typeface="+mn-lt"/>
                <a:cs typeface="+mn-lt"/>
              </a:rPr>
              <a:t>;');</a:t>
            </a:r>
            <a:endParaRPr lang="en-US"/>
          </a:p>
          <a:p>
            <a:r>
              <a:rPr lang="en-US" dirty="0">
                <a:ea typeface="+mn-lt"/>
                <a:cs typeface="+mn-lt"/>
              </a:rPr>
              <a:t>        }</a:t>
            </a:r>
            <a:endParaRPr lang="en-US" dirty="0"/>
          </a:p>
          <a:p>
            <a:r>
              <a:rPr lang="en-US" dirty="0">
                <a:ea typeface="+mn-lt"/>
                <a:cs typeface="+mn-lt"/>
              </a:rPr>
              <a:t>        // Sanitize the user input</a:t>
            </a:r>
            <a:endParaRPr lang="en-US" dirty="0"/>
          </a:p>
          <a:p>
            <a:r>
              <a:rPr lang="en-US" dirty="0">
                <a:ea typeface="+mn-lt"/>
                <a:cs typeface="+mn-lt"/>
              </a:rPr>
              <a:t>        var </a:t>
            </a:r>
            <a:r>
              <a:rPr lang="en-US" dirty="0" err="1">
                <a:ea typeface="+mn-lt"/>
                <a:cs typeface="+mn-lt"/>
              </a:rPr>
              <a:t>sanitizedInput</a:t>
            </a:r>
            <a:r>
              <a:rPr lang="en-US" dirty="0">
                <a:ea typeface="+mn-lt"/>
                <a:cs typeface="+mn-lt"/>
              </a:rPr>
              <a:t> = </a:t>
            </a:r>
            <a:r>
              <a:rPr lang="en-US" dirty="0" err="1">
                <a:ea typeface="+mn-lt"/>
                <a:cs typeface="+mn-lt"/>
              </a:rPr>
              <a:t>sanitizeInput</a:t>
            </a:r>
            <a:r>
              <a:rPr lang="en-US" dirty="0">
                <a:ea typeface="+mn-lt"/>
                <a:cs typeface="+mn-lt"/>
              </a:rPr>
              <a:t>(</a:t>
            </a:r>
            <a:r>
              <a:rPr lang="en-US" dirty="0" err="1">
                <a:ea typeface="+mn-lt"/>
                <a:cs typeface="+mn-lt"/>
              </a:rPr>
              <a:t>userInput</a:t>
            </a:r>
            <a:r>
              <a:rPr lang="en-US" dirty="0">
                <a:ea typeface="+mn-lt"/>
                <a:cs typeface="+mn-lt"/>
              </a:rPr>
              <a:t>);</a:t>
            </a:r>
            <a:endParaRPr lang="en-US" dirty="0"/>
          </a:p>
          <a:p>
            <a:r>
              <a:rPr lang="en-US" dirty="0">
                <a:ea typeface="+mn-lt"/>
                <a:cs typeface="+mn-lt"/>
              </a:rPr>
              <a:t>        // Display the sanitized input in the DOM</a:t>
            </a:r>
            <a:endParaRPr lang="en-US" dirty="0"/>
          </a:p>
          <a:p>
            <a:r>
              <a:rPr lang="en-US" dirty="0">
                <a:ea typeface="+mn-lt"/>
                <a:cs typeface="+mn-lt"/>
              </a:rPr>
              <a:t>        </a:t>
            </a:r>
            <a:r>
              <a:rPr lang="en-US" dirty="0" err="1">
                <a:ea typeface="+mn-lt"/>
                <a:cs typeface="+mn-lt"/>
              </a:rPr>
              <a:t>document.getElementById</a:t>
            </a:r>
            <a:r>
              <a:rPr lang="en-US" dirty="0">
                <a:ea typeface="+mn-lt"/>
                <a:cs typeface="+mn-lt"/>
              </a:rPr>
              <a:t>("output").</a:t>
            </a:r>
            <a:r>
              <a:rPr lang="en-US" dirty="0" err="1">
                <a:ea typeface="+mn-lt"/>
                <a:cs typeface="+mn-lt"/>
              </a:rPr>
              <a:t>innerHTML</a:t>
            </a:r>
            <a:r>
              <a:rPr lang="en-US" dirty="0">
                <a:ea typeface="+mn-lt"/>
                <a:cs typeface="+mn-lt"/>
              </a:rPr>
              <a:t> = </a:t>
            </a:r>
            <a:r>
              <a:rPr lang="en-US" dirty="0" err="1">
                <a:ea typeface="+mn-lt"/>
                <a:cs typeface="+mn-lt"/>
              </a:rPr>
              <a:t>sanitizedInput</a:t>
            </a:r>
            <a:r>
              <a:rPr lang="en-US" dirty="0">
                <a:ea typeface="+mn-lt"/>
                <a:cs typeface="+mn-lt"/>
              </a:rPr>
              <a:t>;</a:t>
            </a:r>
            <a:endParaRPr lang="en-US" dirty="0"/>
          </a:p>
          <a:p>
            <a:r>
              <a:rPr lang="en-US" dirty="0">
                <a:ea typeface="+mn-lt"/>
                <a:cs typeface="+mn-lt"/>
              </a:rPr>
              <a:t>    &lt;/script&gt;</a:t>
            </a:r>
            <a:endParaRPr lang="en-US" dirty="0"/>
          </a:p>
          <a:p>
            <a:r>
              <a:rPr lang="en-US" dirty="0">
                <a:ea typeface="+mn-lt"/>
                <a:cs typeface="+mn-lt"/>
              </a:rPr>
              <a:t>    &lt;div id="output"&gt;&lt;/div&gt;</a:t>
            </a:r>
            <a:endParaRPr lang="en-US" dirty="0"/>
          </a:p>
          <a:p>
            <a:r>
              <a:rPr lang="en-US" dirty="0">
                <a:ea typeface="+mn-lt"/>
                <a:cs typeface="+mn-lt"/>
              </a:rPr>
              <a:t>&lt;/body&gt;</a:t>
            </a:r>
            <a:endParaRPr lang="en-US" dirty="0"/>
          </a:p>
          <a:p>
            <a:r>
              <a:rPr lang="en-US" dirty="0">
                <a:ea typeface="+mn-lt"/>
                <a:cs typeface="+mn-lt"/>
              </a:rPr>
              <a:t>&lt;/html&gt;</a:t>
            </a:r>
            <a:endParaRPr lang="en-US" dirty="0"/>
          </a:p>
          <a:p>
            <a:endParaRPr lang="en-US" dirty="0">
              <a:cs typeface="Calibri"/>
            </a:endParaRPr>
          </a:p>
        </p:txBody>
      </p:sp>
    </p:spTree>
    <p:extLst>
      <p:ext uri="{BB962C8B-B14F-4D97-AF65-F5344CB8AC3E}">
        <p14:creationId xmlns:p14="http://schemas.microsoft.com/office/powerpoint/2010/main" val="3000490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D9B84-762A-7B76-0D0F-F25ECC3289E9}"/>
              </a:ext>
            </a:extLst>
          </p:cNvPr>
          <p:cNvSpPr>
            <a:spLocks noGrp="1"/>
          </p:cNvSpPr>
          <p:nvPr>
            <p:ph type="title"/>
          </p:nvPr>
        </p:nvSpPr>
        <p:spPr/>
        <p:txBody>
          <a:bodyPr>
            <a:normAutofit/>
          </a:bodyPr>
          <a:lstStyle/>
          <a:p>
            <a:endParaRPr lang="en-US" dirty="0">
              <a:cs typeface="Calibri Light"/>
            </a:endParaRPr>
          </a:p>
        </p:txBody>
      </p:sp>
      <p:sp>
        <p:nvSpPr>
          <p:cNvPr id="3" name="Content Placeholder 2">
            <a:extLst>
              <a:ext uri="{FF2B5EF4-FFF2-40B4-BE49-F238E27FC236}">
                <a16:creationId xmlns:a16="http://schemas.microsoft.com/office/drawing/2014/main" id="{D18E597A-6479-63AA-D38D-1F71B07A5810}"/>
              </a:ext>
            </a:extLst>
          </p:cNvPr>
          <p:cNvSpPr>
            <a:spLocks noGrp="1"/>
          </p:cNvSpPr>
          <p:nvPr>
            <p:ph idx="1"/>
          </p:nvPr>
        </p:nvSpPr>
        <p:spPr/>
        <p:txBody>
          <a:bodyPr vert="horz" lIns="91440" tIns="45720" rIns="91440" bIns="45720" rtlCol="0" anchor="t">
            <a:normAutofit/>
          </a:bodyPr>
          <a:lstStyle/>
          <a:p>
            <a:r>
              <a:rPr lang="en-US" sz="3600" dirty="0">
                <a:ea typeface="+mn-lt"/>
                <a:cs typeface="+mn-lt"/>
              </a:rPr>
              <a:t>Stay away from the following APIs when possible: </a:t>
            </a:r>
          </a:p>
          <a:p>
            <a:pPr lvl="1">
              <a:buFont typeface="Courier New" panose="020B0604020202020204" pitchFamily="34" charset="0"/>
              <a:buChar char="o"/>
            </a:pPr>
            <a:r>
              <a:rPr lang="en-US" sz="3200" dirty="0">
                <a:ea typeface="+mn-lt"/>
                <a:cs typeface="+mn-lt"/>
              </a:rPr>
              <a:t> </a:t>
            </a:r>
            <a:r>
              <a:rPr lang="en-US" sz="3200" err="1">
                <a:ea typeface="+mn-lt"/>
                <a:cs typeface="+mn-lt"/>
              </a:rPr>
              <a:t>element.innerHTM`L</a:t>
            </a:r>
            <a:r>
              <a:rPr lang="en-US" sz="3200" dirty="0">
                <a:ea typeface="+mn-lt"/>
                <a:cs typeface="+mn-lt"/>
              </a:rPr>
              <a:t> / `</a:t>
            </a:r>
            <a:r>
              <a:rPr lang="en-US" sz="3200" err="1">
                <a:ea typeface="+mn-lt"/>
                <a:cs typeface="+mn-lt"/>
              </a:rPr>
              <a:t>element.outerHTML</a:t>
            </a:r>
            <a:r>
              <a:rPr lang="en-US" sz="3200" dirty="0">
                <a:ea typeface="+mn-lt"/>
                <a:cs typeface="+mn-lt"/>
              </a:rPr>
              <a:t> </a:t>
            </a:r>
          </a:p>
          <a:p>
            <a:pPr lvl="1">
              <a:buFont typeface="Courier New" panose="020B0604020202020204" pitchFamily="34" charset="0"/>
              <a:buChar char="o"/>
            </a:pPr>
            <a:r>
              <a:rPr lang="en-US" sz="3200" dirty="0">
                <a:ea typeface="+mn-lt"/>
                <a:cs typeface="+mn-lt"/>
              </a:rPr>
              <a:t>Blob </a:t>
            </a:r>
          </a:p>
          <a:p>
            <a:pPr lvl="1">
              <a:buFont typeface="Courier New" panose="020B0604020202020204" pitchFamily="34" charset="0"/>
              <a:buChar char="o"/>
            </a:pPr>
            <a:r>
              <a:rPr lang="en-US" sz="3200" dirty="0">
                <a:ea typeface="+mn-lt"/>
                <a:cs typeface="+mn-lt"/>
              </a:rPr>
              <a:t>SVG </a:t>
            </a:r>
            <a:endParaRPr lang="en-US" sz="3200">
              <a:cs typeface="Calibri"/>
            </a:endParaRPr>
          </a:p>
          <a:p>
            <a:pPr lvl="1">
              <a:buFont typeface="Courier New" panose="020B0604020202020204" pitchFamily="34" charset="0"/>
              <a:buChar char="o"/>
            </a:pPr>
            <a:r>
              <a:rPr lang="en-US" sz="3200" err="1">
                <a:ea typeface="+mn-lt"/>
                <a:cs typeface="+mn-lt"/>
              </a:rPr>
              <a:t>document.write</a:t>
            </a:r>
            <a:r>
              <a:rPr lang="en-US" sz="3200" dirty="0">
                <a:ea typeface="+mn-lt"/>
                <a:cs typeface="+mn-lt"/>
              </a:rPr>
              <a:t> / </a:t>
            </a:r>
            <a:r>
              <a:rPr lang="en-US" sz="3200" err="1">
                <a:ea typeface="+mn-lt"/>
                <a:cs typeface="+mn-lt"/>
              </a:rPr>
              <a:t>document.writeln</a:t>
            </a:r>
            <a:r>
              <a:rPr lang="en-US" sz="3200" dirty="0">
                <a:ea typeface="+mn-lt"/>
                <a:cs typeface="+mn-lt"/>
              </a:rPr>
              <a:t> </a:t>
            </a:r>
          </a:p>
          <a:p>
            <a:pPr lvl="1">
              <a:buFont typeface="Courier New" panose="020B0604020202020204" pitchFamily="34" charset="0"/>
              <a:buChar char="o"/>
            </a:pPr>
            <a:r>
              <a:rPr lang="en-US" sz="3200" err="1">
                <a:ea typeface="+mn-lt"/>
                <a:cs typeface="+mn-lt"/>
              </a:rPr>
              <a:t>DOMParser.parseFromString</a:t>
            </a:r>
            <a:r>
              <a:rPr lang="en-US" sz="3200" dirty="0">
                <a:ea typeface="+mn-lt"/>
                <a:cs typeface="+mn-lt"/>
              </a:rPr>
              <a:t> </a:t>
            </a:r>
          </a:p>
          <a:p>
            <a:pPr lvl="1">
              <a:buFont typeface="Courier New" panose="020B0604020202020204" pitchFamily="34" charset="0"/>
              <a:buChar char="o"/>
            </a:pPr>
            <a:r>
              <a:rPr lang="en-US" sz="3200" dirty="0" err="1">
                <a:ea typeface="+mn-lt"/>
                <a:cs typeface="+mn-lt"/>
              </a:rPr>
              <a:t>document.implementation</a:t>
            </a:r>
            <a:endParaRPr lang="en-US" sz="3200">
              <a:cs typeface="Calibri"/>
            </a:endParaRPr>
          </a:p>
        </p:txBody>
      </p:sp>
    </p:spTree>
    <p:extLst>
      <p:ext uri="{BB962C8B-B14F-4D97-AF65-F5344CB8AC3E}">
        <p14:creationId xmlns:p14="http://schemas.microsoft.com/office/powerpoint/2010/main" val="25543342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FC8DD-BD3E-7DDD-D016-4E0408A50E2C}"/>
              </a:ext>
            </a:extLst>
          </p:cNvPr>
          <p:cNvSpPr>
            <a:spLocks noGrp="1"/>
          </p:cNvSpPr>
          <p:nvPr>
            <p:ph type="title"/>
          </p:nvPr>
        </p:nvSpPr>
        <p:spPr/>
        <p:txBody>
          <a:bodyPr>
            <a:normAutofit/>
          </a:bodyPr>
          <a:lstStyle/>
          <a:p>
            <a:r>
              <a:rPr lang="en-US" dirty="0" err="1">
                <a:solidFill>
                  <a:srgbClr val="000000"/>
                </a:solidFill>
                <a:ea typeface="+mj-lt"/>
                <a:cs typeface="+mj-lt"/>
              </a:rPr>
              <a:t>DOMParser</a:t>
            </a:r>
            <a:r>
              <a:rPr lang="en-US" dirty="0">
                <a:solidFill>
                  <a:srgbClr val="000000"/>
                </a:solidFill>
                <a:ea typeface="+mj-lt"/>
                <a:cs typeface="+mj-lt"/>
              </a:rPr>
              <a:t> Sink</a:t>
            </a:r>
            <a:endParaRPr lang="en-US" dirty="0"/>
          </a:p>
        </p:txBody>
      </p:sp>
      <p:sp>
        <p:nvSpPr>
          <p:cNvPr id="3" name="Content Placeholder 2">
            <a:extLst>
              <a:ext uri="{FF2B5EF4-FFF2-40B4-BE49-F238E27FC236}">
                <a16:creationId xmlns:a16="http://schemas.microsoft.com/office/drawing/2014/main" id="{D55E28A8-BDA3-8B7F-7F17-71F1347B6EE4}"/>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The </a:t>
            </a:r>
            <a:r>
              <a:rPr lang="en-US" err="1">
                <a:latin typeface="Calibri"/>
                <a:cs typeface="Calibri"/>
              </a:rPr>
              <a:t>DOMParser</a:t>
            </a:r>
            <a:r>
              <a:rPr lang="en-US" dirty="0">
                <a:solidFill>
                  <a:srgbClr val="000000"/>
                </a:solidFill>
                <a:ea typeface="+mn-lt"/>
                <a:cs typeface="+mn-lt"/>
              </a:rPr>
              <a:t> is a built-in JavaScript object that allows you to parse XML or HTML source code into a DOM Document. </a:t>
            </a:r>
          </a:p>
          <a:p>
            <a:r>
              <a:rPr lang="en-US" dirty="0">
                <a:solidFill>
                  <a:srgbClr val="000000"/>
                </a:solidFill>
                <a:ea typeface="+mn-lt"/>
                <a:cs typeface="+mn-lt"/>
              </a:rPr>
              <a:t>It doesn't inherently pose security risks by itself, but how it's used can impact the security of your application, particularly if the parsed content contains user input.</a:t>
            </a:r>
            <a:endParaRPr lang="en-US" dirty="0">
              <a:solidFill>
                <a:srgbClr val="000000"/>
              </a:solidFill>
              <a:cs typeface="Calibri"/>
            </a:endParaRPr>
          </a:p>
        </p:txBody>
      </p:sp>
      <p:pic>
        <p:nvPicPr>
          <p:cNvPr id="4" name="Picture 3" descr="A screenshot of a computer&#10;&#10;Description automatically generated">
            <a:extLst>
              <a:ext uri="{FF2B5EF4-FFF2-40B4-BE49-F238E27FC236}">
                <a16:creationId xmlns:a16="http://schemas.microsoft.com/office/drawing/2014/main" id="{FF116E28-1EC8-DD77-27E1-7EFB8397C734}"/>
              </a:ext>
            </a:extLst>
          </p:cNvPr>
          <p:cNvPicPr>
            <a:picLocks noChangeAspect="1"/>
          </p:cNvPicPr>
          <p:nvPr/>
        </p:nvPicPr>
        <p:blipFill rotWithShape="1">
          <a:blip r:embed="rId3"/>
          <a:srcRect l="33648" t="35504" r="18654" b="33403"/>
          <a:stretch/>
        </p:blipFill>
        <p:spPr>
          <a:xfrm>
            <a:off x="2156604" y="3926692"/>
            <a:ext cx="7928800" cy="2936416"/>
          </a:xfrm>
          <a:prstGeom prst="rect">
            <a:avLst/>
          </a:prstGeom>
        </p:spPr>
      </p:pic>
    </p:spTree>
    <p:extLst>
      <p:ext uri="{BB962C8B-B14F-4D97-AF65-F5344CB8AC3E}">
        <p14:creationId xmlns:p14="http://schemas.microsoft.com/office/powerpoint/2010/main" val="26490800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AAEF9-8FE2-8244-7CEB-5B450F0909C0}"/>
              </a:ext>
            </a:extLst>
          </p:cNvPr>
          <p:cNvSpPr>
            <a:spLocks noGrp="1"/>
          </p:cNvSpPr>
          <p:nvPr>
            <p:ph type="title"/>
          </p:nvPr>
        </p:nvSpPr>
        <p:spPr/>
        <p:txBody>
          <a:bodyPr>
            <a:normAutofit/>
          </a:bodyPr>
          <a:lstStyle/>
          <a:p>
            <a:r>
              <a:rPr lang="en-US" dirty="0">
                <a:ea typeface="+mj-lt"/>
                <a:cs typeface="+mj-lt"/>
              </a:rPr>
              <a:t>SVG Sink</a:t>
            </a:r>
            <a:endParaRPr lang="en-US" dirty="0"/>
          </a:p>
        </p:txBody>
      </p:sp>
      <p:sp>
        <p:nvSpPr>
          <p:cNvPr id="3" name="Content Placeholder 2">
            <a:extLst>
              <a:ext uri="{FF2B5EF4-FFF2-40B4-BE49-F238E27FC236}">
                <a16:creationId xmlns:a16="http://schemas.microsoft.com/office/drawing/2014/main" id="{AAA4BEA9-6843-47AC-8FFB-F40FE34DF174}"/>
              </a:ext>
            </a:extLst>
          </p:cNvPr>
          <p:cNvSpPr>
            <a:spLocks noGrp="1"/>
          </p:cNvSpPr>
          <p:nvPr>
            <p:ph idx="1"/>
          </p:nvPr>
        </p:nvSpPr>
        <p:spPr/>
        <p:txBody>
          <a:bodyPr vert="horz" lIns="91440" tIns="45720" rIns="91440" bIns="45720" rtlCol="0" anchor="t">
            <a:normAutofit/>
          </a:bodyPr>
          <a:lstStyle/>
          <a:p>
            <a:r>
              <a:rPr lang="en-US" dirty="0">
                <a:ea typeface="+mn-lt"/>
                <a:cs typeface="+mn-lt"/>
              </a:rPr>
              <a:t>Scalable Vector Graphics (SVG) are wonderful for displaying images consistently across a wide number of devices, but due to their reliance on the XML spec that allows script execution, they are much riskier than other types of images.</a:t>
            </a:r>
            <a:endParaRPr lang="en-US" dirty="0"/>
          </a:p>
        </p:txBody>
      </p:sp>
      <p:pic>
        <p:nvPicPr>
          <p:cNvPr id="4" name="Picture 3" descr="A screenshot of a computer&#10;&#10;Description automatically generated">
            <a:extLst>
              <a:ext uri="{FF2B5EF4-FFF2-40B4-BE49-F238E27FC236}">
                <a16:creationId xmlns:a16="http://schemas.microsoft.com/office/drawing/2014/main" id="{A4ED178F-62B9-5A64-D0B7-C90257C03AB6}"/>
              </a:ext>
            </a:extLst>
          </p:cNvPr>
          <p:cNvPicPr>
            <a:picLocks noChangeAspect="1"/>
          </p:cNvPicPr>
          <p:nvPr/>
        </p:nvPicPr>
        <p:blipFill rotWithShape="1">
          <a:blip r:embed="rId2"/>
          <a:srcRect l="39151" t="26681" r="25590" b="56908"/>
          <a:stretch/>
        </p:blipFill>
        <p:spPr>
          <a:xfrm>
            <a:off x="517585" y="3422047"/>
            <a:ext cx="11027453" cy="2893367"/>
          </a:xfrm>
          <a:prstGeom prst="rect">
            <a:avLst/>
          </a:prstGeom>
        </p:spPr>
      </p:pic>
    </p:spTree>
    <p:extLst>
      <p:ext uri="{BB962C8B-B14F-4D97-AF65-F5344CB8AC3E}">
        <p14:creationId xmlns:p14="http://schemas.microsoft.com/office/powerpoint/2010/main" val="28137852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70D74-947B-0094-BC05-8C9C026D5B8A}"/>
              </a:ext>
            </a:extLst>
          </p:cNvPr>
          <p:cNvSpPr>
            <a:spLocks noGrp="1"/>
          </p:cNvSpPr>
          <p:nvPr>
            <p:ph type="title"/>
          </p:nvPr>
        </p:nvSpPr>
        <p:spPr/>
        <p:txBody>
          <a:bodyPr/>
          <a:lstStyle/>
          <a:p>
            <a:r>
              <a:rPr lang="en-US" dirty="0">
                <a:ea typeface="+mj-lt"/>
                <a:cs typeface="+mj-lt"/>
              </a:rPr>
              <a:t>Blob Sink </a:t>
            </a:r>
            <a:endParaRPr lang="en-US" dirty="0"/>
          </a:p>
        </p:txBody>
      </p:sp>
      <p:sp>
        <p:nvSpPr>
          <p:cNvPr id="3" name="Content Placeholder 2">
            <a:extLst>
              <a:ext uri="{FF2B5EF4-FFF2-40B4-BE49-F238E27FC236}">
                <a16:creationId xmlns:a16="http://schemas.microsoft.com/office/drawing/2014/main" id="{575F0C2B-3B0D-2646-DB54-62BB0BC77033}"/>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A "Blob" (Binary Large Object) in web development typically refers to a container for binary data, such as images, videos, or other binary formats. Blobs are often used in scenarios like handling file uploads, creating object URLs for media, or working with data in a binary format.</a:t>
            </a:r>
            <a:endParaRPr lang="en-US" dirty="0">
              <a:solidFill>
                <a:srgbClr val="000000"/>
              </a:solidFill>
            </a:endParaRPr>
          </a:p>
        </p:txBody>
      </p:sp>
      <p:pic>
        <p:nvPicPr>
          <p:cNvPr id="4" name="Picture 3" descr="A screenshot of a computer screen&#10;&#10;Description automatically generated">
            <a:extLst>
              <a:ext uri="{FF2B5EF4-FFF2-40B4-BE49-F238E27FC236}">
                <a16:creationId xmlns:a16="http://schemas.microsoft.com/office/drawing/2014/main" id="{C7DE8129-5CB4-374C-5F11-76C00527CA03}"/>
              </a:ext>
            </a:extLst>
          </p:cNvPr>
          <p:cNvPicPr>
            <a:picLocks noChangeAspect="1"/>
          </p:cNvPicPr>
          <p:nvPr/>
        </p:nvPicPr>
        <p:blipFill rotWithShape="1">
          <a:blip r:embed="rId2"/>
          <a:srcRect l="38489" t="32983" r="27273" b="42857"/>
          <a:stretch/>
        </p:blipFill>
        <p:spPr>
          <a:xfrm>
            <a:off x="2746076" y="3552880"/>
            <a:ext cx="7308636" cy="2892523"/>
          </a:xfrm>
          <a:prstGeom prst="rect">
            <a:avLst/>
          </a:prstGeom>
        </p:spPr>
      </p:pic>
    </p:spTree>
    <p:extLst>
      <p:ext uri="{BB962C8B-B14F-4D97-AF65-F5344CB8AC3E}">
        <p14:creationId xmlns:p14="http://schemas.microsoft.com/office/powerpoint/2010/main" val="35254751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E91E7-239A-056A-BFFA-13F1EF25CA4A}"/>
              </a:ext>
            </a:extLst>
          </p:cNvPr>
          <p:cNvSpPr>
            <a:spLocks noGrp="1"/>
          </p:cNvSpPr>
          <p:nvPr>
            <p:ph type="ctrTitle"/>
          </p:nvPr>
        </p:nvSpPr>
        <p:spPr/>
        <p:txBody>
          <a:bodyPr/>
          <a:lstStyle/>
          <a:p>
            <a:r>
              <a:rPr lang="en-US" dirty="0">
                <a:cs typeface="Calibri Light"/>
              </a:rPr>
              <a:t>Few more countermeasures</a:t>
            </a:r>
            <a:endParaRPr lang="en-US" dirty="0"/>
          </a:p>
        </p:txBody>
      </p:sp>
      <p:sp>
        <p:nvSpPr>
          <p:cNvPr id="3" name="Content Placeholder 2">
            <a:extLst>
              <a:ext uri="{FF2B5EF4-FFF2-40B4-BE49-F238E27FC236}">
                <a16:creationId xmlns:a16="http://schemas.microsoft.com/office/drawing/2014/main" id="{FEC4501B-44CD-92C0-EE6B-E1E80D1D887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93907191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BD9C7-34A5-B7FE-E42E-C64DBBA6657E}"/>
              </a:ext>
            </a:extLst>
          </p:cNvPr>
          <p:cNvSpPr>
            <a:spLocks noGrp="1"/>
          </p:cNvSpPr>
          <p:nvPr>
            <p:ph type="title"/>
          </p:nvPr>
        </p:nvSpPr>
        <p:spPr/>
        <p:txBody>
          <a:bodyPr/>
          <a:lstStyle/>
          <a:p>
            <a:r>
              <a:rPr lang="en-US" dirty="0">
                <a:ea typeface="+mj-lt"/>
                <a:cs typeface="+mj-lt"/>
              </a:rPr>
              <a:t>Sanitizing Hyperlinks</a:t>
            </a:r>
            <a:endParaRPr lang="en-US" dirty="0"/>
          </a:p>
        </p:txBody>
      </p:sp>
      <p:sp>
        <p:nvSpPr>
          <p:cNvPr id="3" name="Content Placeholder 2">
            <a:extLst>
              <a:ext uri="{FF2B5EF4-FFF2-40B4-BE49-F238E27FC236}">
                <a16:creationId xmlns:a16="http://schemas.microsoft.com/office/drawing/2014/main" id="{87DA4D7F-C218-C703-848F-58AD79C56633}"/>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Sanitizing hyperlinks, especially user-generated or untrusted links, is crucial to prevent security vulnerabilities such as Cross-Site Scripting (XSS) or other injection attacks. </a:t>
            </a:r>
            <a:endParaRPr lang="en-US">
              <a:solidFill>
                <a:srgbClr val="000000"/>
              </a:solidFill>
              <a:ea typeface="+mn-lt"/>
              <a:cs typeface="+mn-lt"/>
            </a:endParaRPr>
          </a:p>
          <a:p>
            <a:pPr lvl="1"/>
            <a:r>
              <a:rPr lang="en-US" dirty="0">
                <a:solidFill>
                  <a:srgbClr val="000000"/>
                </a:solidFill>
                <a:cs typeface="Calibri"/>
              </a:rPr>
              <a:t>The </a:t>
            </a:r>
            <a:r>
              <a:rPr lang="en-US" dirty="0" err="1">
                <a:solidFill>
                  <a:srgbClr val="000000"/>
                </a:solidFill>
                <a:cs typeface="Calibri"/>
              </a:rPr>
              <a:t>sanitizeLink</a:t>
            </a:r>
            <a:r>
              <a:rPr lang="en-US" dirty="0">
                <a:solidFill>
                  <a:srgbClr val="000000"/>
                </a:solidFill>
                <a:cs typeface="Calibri"/>
              </a:rPr>
              <a:t> function combines encoding and validation to produce a sanitized link.</a:t>
            </a:r>
            <a:endParaRPr lang="en-US" dirty="0"/>
          </a:p>
          <a:p>
            <a:pPr marL="457200" lvl="1" indent="0">
              <a:buNone/>
            </a:pPr>
            <a:endParaRPr lang="en-US" dirty="0">
              <a:solidFill>
                <a:srgbClr val="000000"/>
              </a:solidFill>
              <a:cs typeface="Calibri"/>
            </a:endParaRPr>
          </a:p>
        </p:txBody>
      </p:sp>
      <p:pic>
        <p:nvPicPr>
          <p:cNvPr id="4" name="Picture 3" descr="A screenshot of a computer screen&#10;&#10;Description automatically generated">
            <a:extLst>
              <a:ext uri="{FF2B5EF4-FFF2-40B4-BE49-F238E27FC236}">
                <a16:creationId xmlns:a16="http://schemas.microsoft.com/office/drawing/2014/main" id="{0FCA2713-2779-3DEC-1073-29265C271087}"/>
              </a:ext>
            </a:extLst>
          </p:cNvPr>
          <p:cNvPicPr>
            <a:picLocks noChangeAspect="1"/>
          </p:cNvPicPr>
          <p:nvPr/>
        </p:nvPicPr>
        <p:blipFill rotWithShape="1">
          <a:blip r:embed="rId3"/>
          <a:srcRect l="35377" t="36344" r="20165" b="34454"/>
          <a:stretch/>
        </p:blipFill>
        <p:spPr>
          <a:xfrm>
            <a:off x="3378680" y="3518429"/>
            <a:ext cx="8439535" cy="3108732"/>
          </a:xfrm>
          <a:prstGeom prst="rect">
            <a:avLst/>
          </a:prstGeom>
        </p:spPr>
      </p:pic>
    </p:spTree>
    <p:extLst>
      <p:ext uri="{BB962C8B-B14F-4D97-AF65-F5344CB8AC3E}">
        <p14:creationId xmlns:p14="http://schemas.microsoft.com/office/powerpoint/2010/main" val="9625668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87AA9-BC1A-6620-A7B9-2EA2657EA984}"/>
              </a:ext>
            </a:extLst>
          </p:cNvPr>
          <p:cNvSpPr>
            <a:spLocks noGrp="1"/>
          </p:cNvSpPr>
          <p:nvPr>
            <p:ph type="title"/>
          </p:nvPr>
        </p:nvSpPr>
        <p:spPr/>
        <p:txBody>
          <a:bodyPr/>
          <a:lstStyle/>
          <a:p>
            <a:r>
              <a:rPr lang="en-US" dirty="0">
                <a:ea typeface="+mj-lt"/>
                <a:cs typeface="+mj-lt"/>
              </a:rPr>
              <a:t>HTML Entity Encoding</a:t>
            </a:r>
          </a:p>
        </p:txBody>
      </p:sp>
      <p:sp>
        <p:nvSpPr>
          <p:cNvPr id="3" name="Content Placeholder 2">
            <a:extLst>
              <a:ext uri="{FF2B5EF4-FFF2-40B4-BE49-F238E27FC236}">
                <a16:creationId xmlns:a16="http://schemas.microsoft.com/office/drawing/2014/main" id="{8582DE86-475E-FB6F-76F0-DAC16DBB851A}"/>
              </a:ext>
            </a:extLst>
          </p:cNvPr>
          <p:cNvSpPr>
            <a:spLocks noGrp="1"/>
          </p:cNvSpPr>
          <p:nvPr>
            <p:ph idx="1"/>
          </p:nvPr>
        </p:nvSpPr>
        <p:spPr/>
        <p:txBody>
          <a:bodyPr vert="horz" lIns="91440" tIns="45720" rIns="91440" bIns="45720" rtlCol="0" anchor="t">
            <a:normAutofit/>
          </a:bodyPr>
          <a:lstStyle/>
          <a:p>
            <a:r>
              <a:rPr lang="en-US">
                <a:ea typeface="+mn-lt"/>
                <a:cs typeface="Calibri"/>
              </a:rPr>
              <a:t>HTML entity encoding is a technique used to represent characters with special meaning in HTML using their corresponding character entities. </a:t>
            </a:r>
            <a:endParaRPr lang="en-US" dirty="0">
              <a:ea typeface="+mn-lt"/>
              <a:cs typeface="Calibri"/>
            </a:endParaRPr>
          </a:p>
          <a:p>
            <a:r>
              <a:rPr lang="en-US" dirty="0">
                <a:ea typeface="+mn-lt"/>
                <a:cs typeface="Calibri"/>
              </a:rPr>
              <a:t>This is often done to prevent the browser from interpreting certain characters as HTML or JavaScript code, reducing the risk of security vulnerabilities such as Cross-Site Scripting (XSS).</a:t>
            </a:r>
          </a:p>
          <a:p>
            <a:r>
              <a:rPr lang="en-US">
                <a:ea typeface="+mn-lt"/>
                <a:cs typeface="Calibri"/>
              </a:rPr>
              <a:t>In HTML, characters like &lt;, &gt;, &amp;, and others have special meanings. By encoding them into their HTML entity equivalents, you can display these characters on a webpage without the browser interpreting them as part of the HTML structure.</a:t>
            </a:r>
            <a:endParaRPr lang="en-US"/>
          </a:p>
          <a:p>
            <a:endParaRPr lang="en-US" dirty="0">
              <a:ea typeface="+mn-lt"/>
              <a:cs typeface="Calibri"/>
            </a:endParaRPr>
          </a:p>
        </p:txBody>
      </p:sp>
    </p:spTree>
    <p:extLst>
      <p:ext uri="{BB962C8B-B14F-4D97-AF65-F5344CB8AC3E}">
        <p14:creationId xmlns:p14="http://schemas.microsoft.com/office/powerpoint/2010/main" val="6325354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D9D6-174A-C0CF-A83E-99509D4B5B86}"/>
              </a:ext>
            </a:extLst>
          </p:cNvPr>
          <p:cNvSpPr>
            <a:spLocks noGrp="1"/>
          </p:cNvSpPr>
          <p:nvPr>
            <p:ph type="title"/>
          </p:nvPr>
        </p:nvSpPr>
        <p:spPr/>
        <p:txBody>
          <a:bodyPr/>
          <a:lstStyle/>
          <a:p>
            <a:endParaRPr lang="en-US"/>
          </a:p>
        </p:txBody>
      </p:sp>
      <p:pic>
        <p:nvPicPr>
          <p:cNvPr id="4" name="Content Placeholder 3" descr="A screenshot of a computer screen&#10;&#10;Description automatically generated">
            <a:extLst>
              <a:ext uri="{FF2B5EF4-FFF2-40B4-BE49-F238E27FC236}">
                <a16:creationId xmlns:a16="http://schemas.microsoft.com/office/drawing/2014/main" id="{0D4FDA56-08A6-C473-79C6-0EE3EB2067C5}"/>
              </a:ext>
            </a:extLst>
          </p:cNvPr>
          <p:cNvPicPr>
            <a:picLocks noGrp="1" noChangeAspect="1"/>
          </p:cNvPicPr>
          <p:nvPr>
            <p:ph idx="1"/>
          </p:nvPr>
        </p:nvPicPr>
        <p:blipFill rotWithShape="1">
          <a:blip r:embed="rId3"/>
          <a:srcRect l="35992" t="19472" r="20037" b="17492"/>
          <a:stretch/>
        </p:blipFill>
        <p:spPr>
          <a:xfrm>
            <a:off x="1953087" y="143475"/>
            <a:ext cx="8147612" cy="6581682"/>
          </a:xfrm>
        </p:spPr>
      </p:pic>
    </p:spTree>
    <p:extLst>
      <p:ext uri="{BB962C8B-B14F-4D97-AF65-F5344CB8AC3E}">
        <p14:creationId xmlns:p14="http://schemas.microsoft.com/office/powerpoint/2010/main" val="29399678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69EB6-4B3D-825A-1F56-14F65FBB78C7}"/>
              </a:ext>
            </a:extLst>
          </p:cNvPr>
          <p:cNvSpPr>
            <a:spLocks noGrp="1"/>
          </p:cNvSpPr>
          <p:nvPr>
            <p:ph type="title"/>
          </p:nvPr>
        </p:nvSpPr>
        <p:spPr/>
        <p:txBody>
          <a:bodyPr/>
          <a:lstStyle/>
          <a:p>
            <a:r>
              <a:rPr lang="en-US" dirty="0">
                <a:cs typeface="Calibri Light"/>
              </a:rPr>
              <a:t>Content Security Policy for XSS Prevention</a:t>
            </a:r>
            <a:endParaRPr lang="en-US" dirty="0"/>
          </a:p>
        </p:txBody>
      </p:sp>
      <p:sp>
        <p:nvSpPr>
          <p:cNvPr id="3" name="Content Placeholder 2">
            <a:extLst>
              <a:ext uri="{FF2B5EF4-FFF2-40B4-BE49-F238E27FC236}">
                <a16:creationId xmlns:a16="http://schemas.microsoft.com/office/drawing/2014/main" id="{C019B67E-1A33-7410-8C44-1A3CE0214B2E}"/>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A Content Security Policy (CSP) is a crucial security mechanism that helps prevent Cross-Site Scripting (XSS) attacks by defining and enforcing a set of rules for the types of content that a web page can load and execute. </a:t>
            </a:r>
          </a:p>
          <a:p>
            <a:r>
              <a:rPr lang="en-US" dirty="0">
                <a:solidFill>
                  <a:srgbClr val="000000"/>
                </a:solidFill>
                <a:ea typeface="+mn-lt"/>
                <a:cs typeface="+mn-lt"/>
              </a:rPr>
              <a:t>A well-configured CSP significantly reduces the risk of malicious script execution by controlling the sources from which certain types of content can be loaded.</a:t>
            </a:r>
          </a:p>
          <a:p>
            <a:pPr lvl="1">
              <a:buFont typeface="Courier New" panose="020B0604020202020204" pitchFamily="34" charset="0"/>
              <a:buChar char="o"/>
            </a:pPr>
            <a:endParaRPr lang="en-US" dirty="0">
              <a:solidFill>
                <a:srgbClr val="000000"/>
              </a:solidFill>
              <a:cs typeface="Calibri"/>
            </a:endParaRPr>
          </a:p>
        </p:txBody>
      </p:sp>
    </p:spTree>
    <p:extLst>
      <p:ext uri="{BB962C8B-B14F-4D97-AF65-F5344CB8AC3E}">
        <p14:creationId xmlns:p14="http://schemas.microsoft.com/office/powerpoint/2010/main" val="32892631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005C1-C554-0962-AEC8-14C055A92B7E}"/>
              </a:ext>
            </a:extLst>
          </p:cNvPr>
          <p:cNvSpPr>
            <a:spLocks noGrp="1"/>
          </p:cNvSpPr>
          <p:nvPr>
            <p:ph type="title"/>
          </p:nvPr>
        </p:nvSpPr>
        <p:spPr/>
        <p:txBody>
          <a:bodyPr/>
          <a:lstStyle/>
          <a:p>
            <a:r>
              <a:rPr lang="en-US" dirty="0">
                <a:cs typeface="Calibri Light"/>
              </a:rPr>
              <a:t>commonly used in a CSP header</a:t>
            </a:r>
            <a:endParaRPr lang="en-US" dirty="0"/>
          </a:p>
        </p:txBody>
      </p:sp>
      <p:sp>
        <p:nvSpPr>
          <p:cNvPr id="3" name="Content Placeholder 2">
            <a:extLst>
              <a:ext uri="{FF2B5EF4-FFF2-40B4-BE49-F238E27FC236}">
                <a16:creationId xmlns:a16="http://schemas.microsoft.com/office/drawing/2014/main" id="{55401550-4456-5CF0-8FA9-4FAEC933229A}"/>
              </a:ext>
            </a:extLst>
          </p:cNvPr>
          <p:cNvSpPr>
            <a:spLocks noGrp="1"/>
          </p:cNvSpPr>
          <p:nvPr>
            <p:ph idx="1"/>
          </p:nvPr>
        </p:nvSpPr>
        <p:spPr/>
        <p:txBody>
          <a:bodyPr vert="horz" lIns="91440" tIns="45720" rIns="91440" bIns="45720" rtlCol="0" anchor="t">
            <a:normAutofit/>
          </a:bodyPr>
          <a:lstStyle/>
          <a:p>
            <a:r>
              <a:rPr lang="en-US" dirty="0">
                <a:ea typeface="+mn-lt"/>
                <a:cs typeface="+mn-lt"/>
              </a:rPr>
              <a:t>default-</a:t>
            </a:r>
            <a:r>
              <a:rPr lang="en-US" dirty="0" err="1">
                <a:ea typeface="+mn-lt"/>
                <a:cs typeface="+mn-lt"/>
              </a:rPr>
              <a:t>src</a:t>
            </a:r>
            <a:r>
              <a:rPr lang="en-US" dirty="0">
                <a:ea typeface="+mn-lt"/>
                <a:cs typeface="+mn-lt"/>
              </a:rPr>
              <a:t>:</a:t>
            </a:r>
          </a:p>
          <a:p>
            <a:pPr lvl="1">
              <a:buFont typeface="Courier New" panose="020B0604020202020204" pitchFamily="34" charset="0"/>
              <a:buChar char="o"/>
            </a:pPr>
            <a:r>
              <a:rPr lang="en-US" dirty="0">
                <a:solidFill>
                  <a:srgbClr val="000000"/>
                </a:solidFill>
                <a:ea typeface="+mn-lt"/>
                <a:cs typeface="+mn-lt"/>
              </a:rPr>
              <a:t>Specifies the default source for content that does not have a specific directive. It helps prevent script execution from unexpected sources.</a:t>
            </a:r>
          </a:p>
          <a:p>
            <a:pPr lvl="1">
              <a:buFont typeface="Courier New" panose="020B0604020202020204" pitchFamily="34" charset="0"/>
              <a:buChar char="o"/>
            </a:pPr>
            <a:r>
              <a:rPr lang="en-US" dirty="0">
                <a:solidFill>
                  <a:srgbClr val="000000"/>
                </a:solidFill>
                <a:ea typeface="+mn-lt"/>
                <a:cs typeface="+mn-lt"/>
              </a:rPr>
              <a:t>&lt;meta http-</a:t>
            </a:r>
            <a:r>
              <a:rPr lang="en-US" err="1">
                <a:solidFill>
                  <a:srgbClr val="000000"/>
                </a:solidFill>
                <a:ea typeface="+mn-lt"/>
                <a:cs typeface="+mn-lt"/>
              </a:rPr>
              <a:t>equiv</a:t>
            </a:r>
            <a:r>
              <a:rPr lang="en-US" dirty="0">
                <a:solidFill>
                  <a:srgbClr val="000000"/>
                </a:solidFill>
                <a:ea typeface="+mn-lt"/>
                <a:cs typeface="+mn-lt"/>
              </a:rPr>
              <a:t>="Content-Security-Policy" content="default-</a:t>
            </a:r>
            <a:r>
              <a:rPr lang="en-US" err="1">
                <a:solidFill>
                  <a:srgbClr val="000000"/>
                </a:solidFill>
                <a:ea typeface="+mn-lt"/>
                <a:cs typeface="+mn-lt"/>
              </a:rPr>
              <a:t>src</a:t>
            </a:r>
            <a:r>
              <a:rPr lang="en-US">
                <a:solidFill>
                  <a:srgbClr val="000000"/>
                </a:solidFill>
                <a:ea typeface="+mn-lt"/>
                <a:cs typeface="+mn-lt"/>
              </a:rPr>
              <a:t> 'self';"&gt;</a:t>
            </a:r>
            <a:endParaRPr lang="en-US" dirty="0">
              <a:solidFill>
                <a:srgbClr val="000000"/>
              </a:solidFill>
              <a:ea typeface="+mn-lt"/>
              <a:cs typeface="+mn-lt"/>
            </a:endParaRPr>
          </a:p>
          <a:p>
            <a:r>
              <a:rPr lang="en-US">
                <a:solidFill>
                  <a:srgbClr val="000000"/>
                </a:solidFill>
                <a:cs typeface="Calibri"/>
              </a:rPr>
              <a:t>script-</a:t>
            </a:r>
            <a:r>
              <a:rPr lang="en-US" err="1">
                <a:solidFill>
                  <a:srgbClr val="000000"/>
                </a:solidFill>
                <a:cs typeface="Calibri"/>
              </a:rPr>
              <a:t>src</a:t>
            </a:r>
            <a:r>
              <a:rPr lang="en-US">
                <a:solidFill>
                  <a:srgbClr val="000000"/>
                </a:solidFill>
                <a:cs typeface="Calibri"/>
              </a:rPr>
              <a:t>:</a:t>
            </a:r>
            <a:endParaRPr lang="en-US" dirty="0">
              <a:solidFill>
                <a:srgbClr val="000000"/>
              </a:solidFill>
              <a:cs typeface="Calibri"/>
            </a:endParaRPr>
          </a:p>
          <a:p>
            <a:pPr lvl="1">
              <a:buFont typeface="Courier New" panose="020B0604020202020204" pitchFamily="34" charset="0"/>
              <a:buChar char="o"/>
            </a:pPr>
            <a:r>
              <a:rPr lang="en-US" dirty="0">
                <a:solidFill>
                  <a:srgbClr val="000000"/>
                </a:solidFill>
                <a:cs typeface="Calibri"/>
              </a:rPr>
              <a:t>Controls the sources from which scripts can be executed. It helps prevent inline scripts and limits script sources to trusted locations.</a:t>
            </a:r>
            <a:endParaRPr lang="en-US" dirty="0">
              <a:cs typeface="Calibri"/>
            </a:endParaRPr>
          </a:p>
          <a:p>
            <a:pPr lvl="1">
              <a:buFont typeface="Courier New" panose="020B0604020202020204" pitchFamily="34" charset="0"/>
              <a:buChar char="o"/>
            </a:pPr>
            <a:r>
              <a:rPr lang="en-US" dirty="0">
                <a:solidFill>
                  <a:srgbClr val="000000"/>
                </a:solidFill>
                <a:cs typeface="Calibri"/>
              </a:rPr>
              <a:t>&lt;meta http-</a:t>
            </a:r>
            <a:r>
              <a:rPr lang="en-US" dirty="0" err="1">
                <a:solidFill>
                  <a:srgbClr val="000000"/>
                </a:solidFill>
                <a:cs typeface="Calibri"/>
              </a:rPr>
              <a:t>equiv</a:t>
            </a:r>
            <a:r>
              <a:rPr lang="en-US" dirty="0">
                <a:solidFill>
                  <a:srgbClr val="000000"/>
                </a:solidFill>
                <a:cs typeface="Calibri"/>
              </a:rPr>
              <a:t>="Content-Security-Policy" content="script-</a:t>
            </a:r>
            <a:r>
              <a:rPr lang="en-US" dirty="0" err="1">
                <a:solidFill>
                  <a:srgbClr val="000000"/>
                </a:solidFill>
                <a:cs typeface="Calibri"/>
              </a:rPr>
              <a:t>src</a:t>
            </a:r>
            <a:r>
              <a:rPr lang="en-US" dirty="0">
                <a:solidFill>
                  <a:srgbClr val="000000"/>
                </a:solidFill>
                <a:cs typeface="Calibri"/>
              </a:rPr>
              <a:t> 'self' https://trusted-scripts.com;"&gt;</a:t>
            </a:r>
          </a:p>
          <a:p>
            <a:endParaRPr lang="en-US" dirty="0">
              <a:solidFill>
                <a:srgbClr val="000000"/>
              </a:solidFill>
              <a:cs typeface="Calibri"/>
            </a:endParaRPr>
          </a:p>
        </p:txBody>
      </p:sp>
    </p:spTree>
    <p:extLst>
      <p:ext uri="{BB962C8B-B14F-4D97-AF65-F5344CB8AC3E}">
        <p14:creationId xmlns:p14="http://schemas.microsoft.com/office/powerpoint/2010/main" val="13787600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8A2A7F-AA4A-D6BD-E243-6272A0A8C34F}"/>
              </a:ext>
            </a:extLst>
          </p:cNvPr>
          <p:cNvSpPr>
            <a:spLocks noGrp="1"/>
          </p:cNvSpPr>
          <p:nvPr>
            <p:ph idx="1"/>
          </p:nvPr>
        </p:nvSpPr>
        <p:spPr>
          <a:xfrm>
            <a:off x="838200" y="172230"/>
            <a:ext cx="10515600" cy="6622959"/>
          </a:xfrm>
        </p:spPr>
        <p:txBody>
          <a:bodyPr vert="horz" lIns="91440" tIns="45720" rIns="91440" bIns="45720" rtlCol="0" anchor="t">
            <a:normAutofit fontScale="92500" lnSpcReduction="10000"/>
          </a:bodyPr>
          <a:lstStyle/>
          <a:p>
            <a:r>
              <a:rPr lang="en-US" dirty="0">
                <a:cs typeface="Calibri"/>
              </a:rPr>
              <a:t>style-</a:t>
            </a:r>
            <a:r>
              <a:rPr lang="en-US" dirty="0" err="1">
                <a:cs typeface="Calibri"/>
              </a:rPr>
              <a:t>src</a:t>
            </a:r>
            <a:r>
              <a:rPr lang="en-US" dirty="0">
                <a:cs typeface="Calibri"/>
              </a:rPr>
              <a:t>:</a:t>
            </a:r>
          </a:p>
          <a:p>
            <a:pPr lvl="1">
              <a:buFont typeface="Courier New" panose="020B0604020202020204" pitchFamily="34" charset="0"/>
              <a:buChar char="o"/>
            </a:pPr>
            <a:r>
              <a:rPr lang="en-US">
                <a:cs typeface="Calibri"/>
              </a:rPr>
              <a:t>Limits the sources from which stylesheets can be loaded. Helps prevent inline styles and restricts the sources for styles.</a:t>
            </a:r>
          </a:p>
          <a:p>
            <a:pPr lvl="1">
              <a:buFont typeface="Courier New" panose="020B0604020202020204" pitchFamily="34" charset="0"/>
              <a:buChar char="o"/>
            </a:pPr>
            <a:r>
              <a:rPr lang="en-US">
                <a:cs typeface="Calibri"/>
              </a:rPr>
              <a:t>&lt;meta http-</a:t>
            </a:r>
            <a:r>
              <a:rPr lang="en-US" err="1">
                <a:cs typeface="Calibri"/>
              </a:rPr>
              <a:t>equiv</a:t>
            </a:r>
            <a:r>
              <a:rPr lang="en-US">
                <a:cs typeface="Calibri"/>
              </a:rPr>
              <a:t>="Content-Security-Policy" content="style-</a:t>
            </a:r>
            <a:r>
              <a:rPr lang="en-US" err="1">
                <a:cs typeface="Calibri"/>
              </a:rPr>
              <a:t>src</a:t>
            </a:r>
            <a:r>
              <a:rPr lang="en-US">
                <a:cs typeface="Calibri"/>
              </a:rPr>
              <a:t> 'self' </a:t>
            </a:r>
            <a:r>
              <a:rPr lang="en-US" dirty="0">
                <a:cs typeface="Calibri"/>
              </a:rPr>
              <a:t>https://trusted-styles.com;"&gt;</a:t>
            </a:r>
          </a:p>
          <a:p>
            <a:pPr>
              <a:lnSpc>
                <a:spcPct val="80000"/>
              </a:lnSpc>
            </a:pPr>
            <a:r>
              <a:rPr lang="en-US" dirty="0" err="1">
                <a:cs typeface="Calibri"/>
              </a:rPr>
              <a:t>img-src</a:t>
            </a:r>
            <a:r>
              <a:rPr lang="en-US" dirty="0">
                <a:cs typeface="Calibri"/>
              </a:rPr>
              <a:t>:</a:t>
            </a:r>
          </a:p>
          <a:p>
            <a:pPr lvl="1">
              <a:lnSpc>
                <a:spcPct val="80000"/>
              </a:lnSpc>
              <a:buFont typeface="Courier New" panose="020B0604020202020204" pitchFamily="34" charset="0"/>
              <a:buChar char="o"/>
            </a:pPr>
            <a:r>
              <a:rPr lang="en-US">
                <a:cs typeface="Calibri"/>
              </a:rPr>
              <a:t>Defines the allowed sources for images. Helps prevent loading images from untrusted locations.</a:t>
            </a:r>
          </a:p>
          <a:p>
            <a:pPr lvl="1">
              <a:buFont typeface="Courier New" panose="020B0604020202020204" pitchFamily="34" charset="0"/>
              <a:buChar char="o"/>
            </a:pPr>
            <a:r>
              <a:rPr lang="en-US" dirty="0">
                <a:solidFill>
                  <a:srgbClr val="000000"/>
                </a:solidFill>
                <a:ea typeface="+mn-lt"/>
                <a:cs typeface="+mn-lt"/>
              </a:rPr>
              <a:t>&lt;meta http-</a:t>
            </a:r>
            <a:r>
              <a:rPr lang="en-US" err="1">
                <a:solidFill>
                  <a:srgbClr val="000000"/>
                </a:solidFill>
                <a:ea typeface="+mn-lt"/>
                <a:cs typeface="+mn-lt"/>
              </a:rPr>
              <a:t>equiv</a:t>
            </a:r>
            <a:r>
              <a:rPr lang="en-US" dirty="0">
                <a:solidFill>
                  <a:srgbClr val="000000"/>
                </a:solidFill>
                <a:ea typeface="+mn-lt"/>
                <a:cs typeface="+mn-lt"/>
              </a:rPr>
              <a:t>="Content-Security-Policy" content="</a:t>
            </a:r>
            <a:r>
              <a:rPr lang="en-US" err="1">
                <a:solidFill>
                  <a:srgbClr val="000000"/>
                </a:solidFill>
                <a:ea typeface="+mn-lt"/>
                <a:cs typeface="+mn-lt"/>
              </a:rPr>
              <a:t>img-src</a:t>
            </a:r>
            <a:r>
              <a:rPr lang="en-US" dirty="0">
                <a:solidFill>
                  <a:srgbClr val="000000"/>
                </a:solidFill>
                <a:ea typeface="+mn-lt"/>
                <a:cs typeface="+mn-lt"/>
              </a:rPr>
              <a:t> 'self' https://trusted-images.com;"&gt;</a:t>
            </a:r>
            <a:endParaRPr lang="en-US" dirty="0">
              <a:cs typeface="Calibri"/>
            </a:endParaRPr>
          </a:p>
          <a:p>
            <a:pPr>
              <a:lnSpc>
                <a:spcPct val="80000"/>
              </a:lnSpc>
            </a:pPr>
            <a:r>
              <a:rPr lang="en-US">
                <a:cs typeface="Calibri"/>
              </a:rPr>
              <a:t>connect-</a:t>
            </a:r>
            <a:r>
              <a:rPr lang="en-US" err="1">
                <a:cs typeface="Calibri"/>
              </a:rPr>
              <a:t>src</a:t>
            </a:r>
            <a:r>
              <a:rPr lang="en-US">
                <a:cs typeface="Calibri"/>
              </a:rPr>
              <a:t>:</a:t>
            </a:r>
          </a:p>
          <a:p>
            <a:pPr lvl="1">
              <a:lnSpc>
                <a:spcPct val="80000"/>
              </a:lnSpc>
              <a:buFont typeface="Courier New" panose="020B0604020202020204" pitchFamily="34" charset="0"/>
              <a:buChar char="o"/>
            </a:pPr>
            <a:r>
              <a:rPr lang="en-US">
                <a:cs typeface="Calibri"/>
              </a:rPr>
              <a:t>Specifies the sources that can be used for network requests, including AJAX, WebSocket, and EventSource.</a:t>
            </a:r>
          </a:p>
          <a:p>
            <a:pPr lvl="1">
              <a:buFont typeface="Courier New" panose="020B0604020202020204" pitchFamily="34" charset="0"/>
              <a:buChar char="o"/>
            </a:pPr>
            <a:r>
              <a:rPr lang="en-US" dirty="0">
                <a:solidFill>
                  <a:srgbClr val="000000"/>
                </a:solidFill>
                <a:ea typeface="+mn-lt"/>
                <a:cs typeface="+mn-lt"/>
              </a:rPr>
              <a:t>&lt;meta http-</a:t>
            </a:r>
            <a:r>
              <a:rPr lang="en-US" err="1">
                <a:solidFill>
                  <a:srgbClr val="000000"/>
                </a:solidFill>
                <a:ea typeface="+mn-lt"/>
                <a:cs typeface="+mn-lt"/>
              </a:rPr>
              <a:t>equiv</a:t>
            </a:r>
            <a:r>
              <a:rPr lang="en-US" dirty="0">
                <a:solidFill>
                  <a:srgbClr val="000000"/>
                </a:solidFill>
                <a:ea typeface="+mn-lt"/>
                <a:cs typeface="+mn-lt"/>
              </a:rPr>
              <a:t>="Content-Security-Policy" content="connect-</a:t>
            </a:r>
            <a:r>
              <a:rPr lang="en-US" err="1">
                <a:solidFill>
                  <a:srgbClr val="000000"/>
                </a:solidFill>
                <a:ea typeface="+mn-lt"/>
                <a:cs typeface="+mn-lt"/>
              </a:rPr>
              <a:t>src</a:t>
            </a:r>
            <a:r>
              <a:rPr lang="en-US" dirty="0">
                <a:solidFill>
                  <a:srgbClr val="000000"/>
                </a:solidFill>
                <a:ea typeface="+mn-lt"/>
                <a:cs typeface="+mn-lt"/>
              </a:rPr>
              <a:t> 'self' https://trusted-api.com;"&gt;</a:t>
            </a:r>
            <a:r>
              <a:rPr lang="en-US" dirty="0">
                <a:cs typeface="Calibri"/>
              </a:rPr>
              <a:t>
</a:t>
            </a:r>
          </a:p>
          <a:p>
            <a:r>
              <a:rPr lang="en-US" dirty="0">
                <a:cs typeface="Calibri"/>
              </a:rPr>
              <a:t>object-</a:t>
            </a:r>
            <a:r>
              <a:rPr lang="en-US" err="1">
                <a:cs typeface="Calibri"/>
              </a:rPr>
              <a:t>src</a:t>
            </a:r>
            <a:r>
              <a:rPr lang="en-US" dirty="0">
                <a:cs typeface="Calibri"/>
              </a:rPr>
              <a:t>:</a:t>
            </a:r>
            <a:endParaRPr lang="en-US">
              <a:cs typeface="Calibri"/>
            </a:endParaRPr>
          </a:p>
          <a:p>
            <a:pPr lvl="1">
              <a:lnSpc>
                <a:spcPct val="70000"/>
              </a:lnSpc>
              <a:buFont typeface="Courier New" panose="020B0604020202020204" pitchFamily="34" charset="0"/>
              <a:buChar char="o"/>
            </a:pPr>
            <a:r>
              <a:rPr lang="en-US">
                <a:cs typeface="Calibri"/>
              </a:rPr>
              <a:t>Defines the sources from which plugins and other active content can be loaded.</a:t>
            </a:r>
            <a:endParaRPr lang="en-US"/>
          </a:p>
          <a:p>
            <a:pPr lvl="1">
              <a:lnSpc>
                <a:spcPct val="70000"/>
              </a:lnSpc>
              <a:buFont typeface="Courier New" panose="020B0604020202020204" pitchFamily="34" charset="0"/>
              <a:buChar char="o"/>
            </a:pPr>
            <a:r>
              <a:rPr lang="en-US" dirty="0">
                <a:cs typeface="Calibri"/>
              </a:rPr>
              <a:t>&lt;meta http-</a:t>
            </a:r>
            <a:r>
              <a:rPr lang="en-US" dirty="0" err="1">
                <a:cs typeface="Calibri"/>
              </a:rPr>
              <a:t>equiv</a:t>
            </a:r>
            <a:r>
              <a:rPr lang="en-US" dirty="0">
                <a:cs typeface="Calibri"/>
              </a:rPr>
              <a:t>="Content-Security-Policy" content="object-</a:t>
            </a:r>
            <a:r>
              <a:rPr lang="en-US" dirty="0" err="1">
                <a:cs typeface="Calibri"/>
              </a:rPr>
              <a:t>src</a:t>
            </a:r>
            <a:r>
              <a:rPr lang="en-US" dirty="0">
                <a:cs typeface="Calibri"/>
              </a:rPr>
              <a:t> 'none';"&gt;</a:t>
            </a:r>
          </a:p>
          <a:p>
            <a:pPr lvl="1">
              <a:buFont typeface="Courier New" panose="020B0604020202020204" pitchFamily="34" charset="0"/>
              <a:buChar char="o"/>
            </a:pPr>
            <a:endParaRPr lang="en-US" dirty="0"/>
          </a:p>
        </p:txBody>
      </p:sp>
    </p:spTree>
    <p:extLst>
      <p:ext uri="{BB962C8B-B14F-4D97-AF65-F5344CB8AC3E}">
        <p14:creationId xmlns:p14="http://schemas.microsoft.com/office/powerpoint/2010/main" val="35651070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F99A8-E0B5-1012-59E3-08ED7F494E10}"/>
              </a:ext>
            </a:extLst>
          </p:cNvPr>
          <p:cNvSpPr>
            <a:spLocks noGrp="1"/>
          </p:cNvSpPr>
          <p:nvPr>
            <p:ph type="title"/>
          </p:nvPr>
        </p:nvSpPr>
        <p:spPr/>
        <p:txBody>
          <a:bodyPr/>
          <a:lstStyle/>
          <a:p>
            <a:r>
              <a:rPr lang="en-US" dirty="0">
                <a:cs typeface="Calibri Light"/>
              </a:rPr>
              <a:t>Outline</a:t>
            </a:r>
            <a:endParaRPr lang="en-US" dirty="0"/>
          </a:p>
        </p:txBody>
      </p:sp>
      <p:sp>
        <p:nvSpPr>
          <p:cNvPr id="3" name="Content Placeholder 2">
            <a:extLst>
              <a:ext uri="{FF2B5EF4-FFF2-40B4-BE49-F238E27FC236}">
                <a16:creationId xmlns:a16="http://schemas.microsoft.com/office/drawing/2014/main" id="{B5265D6D-668C-F993-DF4B-BCE17DBBCC73}"/>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Securing Modern Web Applications</a:t>
            </a:r>
          </a:p>
          <a:p>
            <a:r>
              <a:rPr lang="en-US" dirty="0">
                <a:ea typeface="+mn-lt"/>
                <a:cs typeface="+mn-lt"/>
              </a:rPr>
              <a:t>Secure Application Architecture</a:t>
            </a:r>
          </a:p>
          <a:p>
            <a:r>
              <a:rPr lang="en-US" dirty="0">
                <a:ea typeface="+mn-lt"/>
                <a:cs typeface="+mn-lt"/>
              </a:rPr>
              <a:t>Reviewing Code for Security</a:t>
            </a:r>
          </a:p>
          <a:p>
            <a:r>
              <a:rPr lang="en-US" dirty="0">
                <a:ea typeface="+mn-lt"/>
                <a:cs typeface="+mn-lt"/>
              </a:rPr>
              <a:t>Vulnerability Discovery, </a:t>
            </a:r>
            <a:endParaRPr lang="en-US" dirty="0">
              <a:cs typeface="Calibri"/>
            </a:endParaRPr>
          </a:p>
          <a:p>
            <a:r>
              <a:rPr lang="en-US" dirty="0">
                <a:ea typeface="+mn-lt"/>
                <a:cs typeface="+mn-lt"/>
              </a:rPr>
              <a:t>Defending Against XSS Attacks, </a:t>
            </a:r>
            <a:r>
              <a:rPr lang="en-US" dirty="0">
                <a:solidFill>
                  <a:srgbClr val="FF0000"/>
                </a:solidFill>
                <a:ea typeface="+mn-lt"/>
                <a:cs typeface="+mn-lt"/>
              </a:rPr>
              <a:t>Defending Against CSRF Attacks</a:t>
            </a:r>
            <a:r>
              <a:rPr lang="en-US" dirty="0">
                <a:ea typeface="+mn-lt"/>
                <a:cs typeface="+mn-lt"/>
              </a:rPr>
              <a:t>, </a:t>
            </a:r>
            <a:endParaRPr lang="en-US" dirty="0"/>
          </a:p>
          <a:p>
            <a:r>
              <a:rPr lang="en-US" dirty="0">
                <a:ea typeface="+mn-lt"/>
                <a:cs typeface="+mn-lt"/>
              </a:rPr>
              <a:t>Defending Against XXE, Defending Against Injection attacks, </a:t>
            </a:r>
            <a:endParaRPr lang="en-US"/>
          </a:p>
          <a:p>
            <a:r>
              <a:rPr lang="en-US" dirty="0">
                <a:ea typeface="+mn-lt"/>
                <a:cs typeface="+mn-lt"/>
              </a:rPr>
              <a:t>Defending Against DoS, Defending against CORS based attacks</a:t>
            </a:r>
            <a:endParaRPr lang="en-US" dirty="0"/>
          </a:p>
          <a:p>
            <a:r>
              <a:rPr lang="en-US" dirty="0">
                <a:ea typeface="+mn-lt"/>
                <a:cs typeface="+mn-lt"/>
              </a:rPr>
              <a:t>Self-learning Topics: Implement the countermeasures to the attacks using open-source tools</a:t>
            </a:r>
            <a:endParaRPr lang="en-US" dirty="0"/>
          </a:p>
        </p:txBody>
      </p:sp>
    </p:spTree>
    <p:extLst>
      <p:ext uri="{BB962C8B-B14F-4D97-AF65-F5344CB8AC3E}">
        <p14:creationId xmlns:p14="http://schemas.microsoft.com/office/powerpoint/2010/main" val="10593042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17718-9CF2-88F8-BF10-729E2D5CC56A}"/>
              </a:ext>
            </a:extLst>
          </p:cNvPr>
          <p:cNvSpPr>
            <a:spLocks noGrp="1"/>
          </p:cNvSpPr>
          <p:nvPr>
            <p:ph type="ctrTitle"/>
          </p:nvPr>
        </p:nvSpPr>
        <p:spPr/>
        <p:txBody>
          <a:bodyPr/>
          <a:lstStyle/>
          <a:p>
            <a:r>
              <a:rPr lang="en-US" dirty="0">
                <a:ea typeface="+mj-lt"/>
                <a:cs typeface="+mj-lt"/>
              </a:rPr>
              <a:t>Defending Against CSRF Attacks</a:t>
            </a:r>
            <a:endParaRPr lang="en-US" dirty="0"/>
          </a:p>
        </p:txBody>
      </p:sp>
      <p:sp>
        <p:nvSpPr>
          <p:cNvPr id="3" name="Content Placeholder 2">
            <a:extLst>
              <a:ext uri="{FF2B5EF4-FFF2-40B4-BE49-F238E27FC236}">
                <a16:creationId xmlns:a16="http://schemas.microsoft.com/office/drawing/2014/main" id="{EF1F2347-8CA2-38C8-C49B-58D4DDB50E5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6896641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2143B-B2E4-5C05-F680-08DB67FAFAAA}"/>
              </a:ext>
            </a:extLst>
          </p:cNvPr>
          <p:cNvSpPr>
            <a:spLocks noGrp="1"/>
          </p:cNvSpPr>
          <p:nvPr>
            <p:ph type="title"/>
          </p:nvPr>
        </p:nvSpPr>
        <p:spPr/>
        <p:txBody>
          <a:bodyPr/>
          <a:lstStyle/>
          <a:p>
            <a:r>
              <a:rPr lang="en-US" dirty="0">
                <a:ea typeface="+mj-lt"/>
                <a:cs typeface="+mj-lt"/>
              </a:rPr>
              <a:t>Header Verification</a:t>
            </a:r>
          </a:p>
        </p:txBody>
      </p:sp>
      <p:sp>
        <p:nvSpPr>
          <p:cNvPr id="3" name="Content Placeholder 2">
            <a:extLst>
              <a:ext uri="{FF2B5EF4-FFF2-40B4-BE49-F238E27FC236}">
                <a16:creationId xmlns:a16="http://schemas.microsoft.com/office/drawing/2014/main" id="{46A8E08D-FC9C-D49A-3378-EFB411465A05}"/>
              </a:ext>
            </a:extLst>
          </p:cNvPr>
          <p:cNvSpPr>
            <a:spLocks noGrp="1"/>
          </p:cNvSpPr>
          <p:nvPr>
            <p:ph idx="1"/>
          </p:nvPr>
        </p:nvSpPr>
        <p:spPr>
          <a:xfrm>
            <a:off x="737558" y="1624342"/>
            <a:ext cx="10515600" cy="4351338"/>
          </a:xfrm>
        </p:spPr>
        <p:txBody>
          <a:bodyPr vert="horz" lIns="91440" tIns="45720" rIns="91440" bIns="45720" rtlCol="0" anchor="t">
            <a:normAutofit/>
          </a:bodyPr>
          <a:lstStyle/>
          <a:p>
            <a:r>
              <a:rPr lang="en-US" dirty="0">
                <a:solidFill>
                  <a:srgbClr val="000000"/>
                </a:solidFill>
                <a:ea typeface="+mn-lt"/>
                <a:cs typeface="+mn-lt"/>
              </a:rPr>
              <a:t>Implementing header verification is a valuable strategy in defending against CSRF attacks. </a:t>
            </a:r>
          </a:p>
          <a:p>
            <a:r>
              <a:rPr lang="en-US" dirty="0">
                <a:solidFill>
                  <a:srgbClr val="000000"/>
                </a:solidFill>
                <a:ea typeface="+mn-lt"/>
                <a:cs typeface="+mn-lt"/>
              </a:rPr>
              <a:t>This involves validating certain headers in the incoming HTTP requests to ensure that they match expected values.</a:t>
            </a:r>
            <a:endParaRPr lang="en-US">
              <a:solidFill>
                <a:srgbClr val="000000"/>
              </a:solidFill>
              <a:ea typeface="+mn-lt"/>
              <a:cs typeface="+mn-lt"/>
            </a:endParaRPr>
          </a:p>
          <a:p>
            <a:pPr lvl="1"/>
            <a:r>
              <a:rPr lang="en-US" dirty="0">
                <a:solidFill>
                  <a:srgbClr val="000000"/>
                </a:solidFill>
                <a:ea typeface="+mn-lt"/>
                <a:cs typeface="+mn-lt"/>
              </a:rPr>
              <a:t>Origin Header Verification</a:t>
            </a:r>
          </a:p>
          <a:p>
            <a:pPr marL="457200" lvl="1" indent="0">
              <a:buNone/>
            </a:pPr>
            <a:r>
              <a:rPr lang="en-US" dirty="0">
                <a:solidFill>
                  <a:srgbClr val="000000"/>
                </a:solidFill>
                <a:ea typeface="+mn-lt"/>
                <a:cs typeface="+mn-lt"/>
              </a:rPr>
              <a:t>Check the </a:t>
            </a:r>
            <a:r>
              <a:rPr lang="en-US" dirty="0">
                <a:solidFill>
                  <a:srgbClr val="000000"/>
                </a:solidFill>
                <a:latin typeface="Calibri"/>
                <a:ea typeface="Calibri"/>
                <a:cs typeface="Calibri"/>
              </a:rPr>
              <a:t>Origin</a:t>
            </a:r>
            <a:r>
              <a:rPr lang="en-US" dirty="0">
                <a:solidFill>
                  <a:srgbClr val="000000"/>
                </a:solidFill>
                <a:ea typeface="+mn-lt"/>
                <a:cs typeface="+mn-lt"/>
              </a:rPr>
              <a:t> header on the server side to ensure that the request is coming from an expected origin. This header indicates the origin of the request, and if it doesn't match the expected value, the request can be rejected.</a:t>
            </a:r>
          </a:p>
          <a:p>
            <a:pPr marL="800100" lvl="1" indent="-342900"/>
            <a:r>
              <a:rPr lang="en-US" dirty="0">
                <a:solidFill>
                  <a:srgbClr val="000000"/>
                </a:solidFill>
                <a:ea typeface="+mn-lt"/>
                <a:cs typeface="+mn-lt"/>
              </a:rPr>
              <a:t>if (</a:t>
            </a:r>
            <a:r>
              <a:rPr lang="en-US" dirty="0" err="1">
                <a:solidFill>
                  <a:srgbClr val="000000"/>
                </a:solidFill>
                <a:ea typeface="+mn-lt"/>
                <a:cs typeface="+mn-lt"/>
              </a:rPr>
              <a:t>request.headers.origin</a:t>
            </a:r>
            <a:r>
              <a:rPr lang="en-US" dirty="0">
                <a:solidFill>
                  <a:srgbClr val="000000"/>
                </a:solidFill>
                <a:ea typeface="+mn-lt"/>
                <a:cs typeface="+mn-lt"/>
              </a:rPr>
              <a:t> !== 'https://www.example.com') </a:t>
            </a:r>
          </a:p>
          <a:p>
            <a:pPr marL="800100" lvl="1" indent="-342900"/>
            <a:r>
              <a:rPr lang="en-US" dirty="0">
                <a:solidFill>
                  <a:srgbClr val="000000"/>
                </a:solidFill>
                <a:ea typeface="+mn-lt"/>
                <a:cs typeface="+mn-lt"/>
              </a:rPr>
              <a:t>{ // Reject the request }</a:t>
            </a:r>
            <a:endParaRPr lang="en-US" dirty="0">
              <a:ea typeface="Calibri" panose="020F0502020204030204"/>
              <a:cs typeface="Calibri" panose="020F0502020204030204"/>
            </a:endParaRPr>
          </a:p>
        </p:txBody>
      </p:sp>
    </p:spTree>
    <p:extLst>
      <p:ext uri="{BB962C8B-B14F-4D97-AF65-F5344CB8AC3E}">
        <p14:creationId xmlns:p14="http://schemas.microsoft.com/office/powerpoint/2010/main" val="228649263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FC11E7-6001-0544-2D9A-EBF47B98CAF8}"/>
              </a:ext>
            </a:extLst>
          </p:cNvPr>
          <p:cNvSpPr>
            <a:spLocks noGrp="1"/>
          </p:cNvSpPr>
          <p:nvPr>
            <p:ph idx="1"/>
          </p:nvPr>
        </p:nvSpPr>
        <p:spPr/>
        <p:txBody>
          <a:bodyPr vert="horz" lIns="91440" tIns="45720" rIns="91440" bIns="45720" rtlCol="0" anchor="t">
            <a:normAutofit/>
          </a:bodyPr>
          <a:lstStyle/>
          <a:p>
            <a:r>
              <a:rPr lang="en-US" dirty="0" err="1">
                <a:ea typeface="+mn-lt"/>
                <a:cs typeface="+mn-lt"/>
              </a:rPr>
              <a:t>Referer</a:t>
            </a:r>
            <a:r>
              <a:rPr lang="en-US" dirty="0">
                <a:ea typeface="+mn-lt"/>
                <a:cs typeface="+mn-lt"/>
              </a:rPr>
              <a:t> header</a:t>
            </a:r>
          </a:p>
          <a:p>
            <a:pPr lvl="1">
              <a:buFont typeface="Courier New" panose="020B0604020202020204" pitchFamily="34" charset="0"/>
              <a:buChar char="o"/>
            </a:pPr>
            <a:r>
              <a:rPr lang="en-US" dirty="0">
                <a:ea typeface="+mn-lt"/>
                <a:cs typeface="+mn-lt"/>
              </a:rPr>
              <a:t> The </a:t>
            </a:r>
            <a:r>
              <a:rPr lang="en-US" dirty="0" err="1">
                <a:ea typeface="+mn-lt"/>
                <a:cs typeface="+mn-lt"/>
              </a:rPr>
              <a:t>referer</a:t>
            </a:r>
            <a:r>
              <a:rPr lang="en-US" dirty="0">
                <a:ea typeface="+mn-lt"/>
                <a:cs typeface="+mn-lt"/>
              </a:rPr>
              <a:t> header is set on all requests, and also indicates where a request originated from. </a:t>
            </a:r>
            <a:endParaRPr lang="en-US">
              <a:ea typeface="+mn-lt"/>
              <a:cs typeface="+mn-lt"/>
            </a:endParaRPr>
          </a:p>
          <a:p>
            <a:pPr lvl="1">
              <a:buFont typeface="Courier New" panose="020B0604020202020204" pitchFamily="34" charset="0"/>
              <a:buChar char="o"/>
            </a:pPr>
            <a:r>
              <a:rPr lang="en-US" dirty="0">
                <a:ea typeface="+mn-lt"/>
                <a:cs typeface="+mn-lt"/>
              </a:rPr>
              <a:t>The only time this header is not present is when the referring link has the attribute </a:t>
            </a:r>
            <a:r>
              <a:rPr lang="en-US" err="1">
                <a:ea typeface="+mn-lt"/>
                <a:cs typeface="+mn-lt"/>
              </a:rPr>
              <a:t>rel</a:t>
            </a:r>
            <a:r>
              <a:rPr lang="en-US" dirty="0">
                <a:ea typeface="+mn-lt"/>
                <a:cs typeface="+mn-lt"/>
              </a:rPr>
              <a:t>=</a:t>
            </a:r>
            <a:r>
              <a:rPr lang="en-US" err="1">
                <a:ea typeface="+mn-lt"/>
                <a:cs typeface="+mn-lt"/>
              </a:rPr>
              <a:t>noreferer</a:t>
            </a:r>
            <a:r>
              <a:rPr lang="en-US" dirty="0">
                <a:ea typeface="+mn-lt"/>
                <a:cs typeface="+mn-lt"/>
              </a:rPr>
              <a:t> set. </a:t>
            </a:r>
            <a:endParaRPr lang="en-US">
              <a:ea typeface="+mn-lt"/>
              <a:cs typeface="+mn-lt"/>
            </a:endParaRPr>
          </a:p>
          <a:p>
            <a:pPr lvl="1">
              <a:buFont typeface="Courier New" panose="020B0604020202020204" pitchFamily="34" charset="0"/>
              <a:buChar char="o"/>
            </a:pPr>
            <a:r>
              <a:rPr lang="en-US" dirty="0">
                <a:ea typeface="+mn-lt"/>
                <a:cs typeface="+mn-lt"/>
              </a:rPr>
              <a:t>A </a:t>
            </a:r>
            <a:r>
              <a:rPr lang="en-US" dirty="0" err="1">
                <a:ea typeface="+mn-lt"/>
                <a:cs typeface="+mn-lt"/>
              </a:rPr>
              <a:t>referer</a:t>
            </a:r>
            <a:r>
              <a:rPr lang="en-US" dirty="0">
                <a:ea typeface="+mn-lt"/>
                <a:cs typeface="+mn-lt"/>
              </a:rPr>
              <a:t> header looks like: </a:t>
            </a:r>
            <a:r>
              <a:rPr lang="en-US" dirty="0" err="1">
                <a:ea typeface="+mn-lt"/>
                <a:cs typeface="+mn-lt"/>
              </a:rPr>
              <a:t>Referer</a:t>
            </a:r>
            <a:r>
              <a:rPr lang="en-US" dirty="0">
                <a:ea typeface="+mn-lt"/>
                <a:cs typeface="+mn-lt"/>
              </a:rPr>
              <a:t>: </a:t>
            </a:r>
            <a:r>
              <a:rPr lang="en-US" dirty="0">
                <a:ea typeface="+mn-lt"/>
                <a:cs typeface="+mn-lt"/>
                <a:hlinkClick r:id="rId2"/>
              </a:rPr>
              <a:t>https://www.mega-bank.com:80</a:t>
            </a:r>
            <a:r>
              <a:rPr lang="en-US" dirty="0">
                <a:ea typeface="+mn-lt"/>
                <a:cs typeface="+mn-lt"/>
              </a:rPr>
              <a:t>.</a:t>
            </a:r>
            <a:endParaRPr lang="en-US">
              <a:ea typeface="+mn-lt"/>
              <a:cs typeface="+mn-lt"/>
            </a:endParaRPr>
          </a:p>
          <a:p>
            <a:pPr lvl="1">
              <a:buFont typeface="Courier New" panose="020B0604020202020204" pitchFamily="34" charset="0"/>
              <a:buChar char="o"/>
            </a:pPr>
            <a:r>
              <a:rPr lang="en-US" dirty="0">
                <a:solidFill>
                  <a:srgbClr val="000000"/>
                </a:solidFill>
                <a:ea typeface="+mn-lt"/>
                <a:cs typeface="+mn-lt"/>
              </a:rPr>
              <a:t>It provides information about the source or context of the request, helping the server understand where the user is coming from.</a:t>
            </a:r>
            <a:endParaRPr lang="en-US" dirty="0">
              <a:solidFill>
                <a:srgbClr val="000000"/>
              </a:solidFill>
              <a:ea typeface="Calibri"/>
              <a:cs typeface="Calibri"/>
            </a:endParaRPr>
          </a:p>
        </p:txBody>
      </p:sp>
    </p:spTree>
    <p:extLst>
      <p:ext uri="{BB962C8B-B14F-4D97-AF65-F5344CB8AC3E}">
        <p14:creationId xmlns:p14="http://schemas.microsoft.com/office/powerpoint/2010/main" val="7457638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FBA5F-E103-66BC-CAE6-6B2F2314DB33}"/>
              </a:ext>
            </a:extLst>
          </p:cNvPr>
          <p:cNvSpPr>
            <a:spLocks noGrp="1"/>
          </p:cNvSpPr>
          <p:nvPr>
            <p:ph type="title"/>
          </p:nvPr>
        </p:nvSpPr>
        <p:spPr/>
        <p:txBody>
          <a:bodyPr/>
          <a:lstStyle/>
          <a:p>
            <a:r>
              <a:rPr lang="en-US" dirty="0">
                <a:ea typeface="+mj-lt"/>
                <a:cs typeface="+mj-lt"/>
              </a:rPr>
              <a:t>CSRF Tokens</a:t>
            </a:r>
            <a:endParaRPr lang="en-US" dirty="0"/>
          </a:p>
        </p:txBody>
      </p:sp>
      <p:sp>
        <p:nvSpPr>
          <p:cNvPr id="3" name="Content Placeholder 2">
            <a:extLst>
              <a:ext uri="{FF2B5EF4-FFF2-40B4-BE49-F238E27FC236}">
                <a16:creationId xmlns:a16="http://schemas.microsoft.com/office/drawing/2014/main" id="{9A6A278C-2FA7-CCBA-6F29-B8C20433A5B8}"/>
              </a:ext>
            </a:extLst>
          </p:cNvPr>
          <p:cNvSpPr>
            <a:spLocks noGrp="1"/>
          </p:cNvSpPr>
          <p:nvPr>
            <p:ph idx="1"/>
          </p:nvPr>
        </p:nvSpPr>
        <p:spPr/>
        <p:txBody>
          <a:bodyPr vert="horz" lIns="91440" tIns="45720" rIns="91440" bIns="45720" rtlCol="0" anchor="t">
            <a:normAutofit fontScale="92500" lnSpcReduction="10000"/>
          </a:bodyPr>
          <a:lstStyle/>
          <a:p>
            <a:r>
              <a:rPr lang="en-US" dirty="0">
                <a:solidFill>
                  <a:srgbClr val="000000"/>
                </a:solidFill>
                <a:ea typeface="+mn-lt"/>
                <a:cs typeface="+mn-lt"/>
              </a:rPr>
              <a:t>one of the most effective defenses against CSRF (Cross-Site Request Forgery) attacks is the use of anti-CSRF tokens. </a:t>
            </a:r>
          </a:p>
          <a:p>
            <a:r>
              <a:rPr lang="en-US" dirty="0">
                <a:solidFill>
                  <a:srgbClr val="000000"/>
                </a:solidFill>
                <a:ea typeface="+mn-lt"/>
                <a:cs typeface="+mn-lt"/>
              </a:rPr>
              <a:t>These tokens are also known as CSRF tokens or synchronization tokens. The fundamental idea behind anti-CSRF tokens is to validate that a request comes from a legitimate and expected source.</a:t>
            </a:r>
          </a:p>
          <a:p>
            <a:r>
              <a:rPr lang="en-US" dirty="0">
                <a:solidFill>
                  <a:srgbClr val="000000"/>
                </a:solidFill>
                <a:ea typeface="+mn-lt"/>
                <a:cs typeface="+mn-lt"/>
              </a:rPr>
              <a:t>By implementing anti-CSRF tokens, web applications add an extra layer of security, ensuring that only legitimate requests with the correct tokens are processed. </a:t>
            </a:r>
          </a:p>
          <a:p>
            <a:r>
              <a:rPr lang="en-US" dirty="0">
                <a:solidFill>
                  <a:srgbClr val="000000"/>
                </a:solidFill>
                <a:ea typeface="+mn-lt"/>
                <a:cs typeface="+mn-lt"/>
              </a:rPr>
              <a:t>It's important to note that while anti-CSRF tokens are a powerful defense, combining them with other security measures, such as proper header configurations and secure coding practices, further strengthens overall security against CSRF attacks.</a:t>
            </a:r>
            <a:endParaRPr lang="en-US" dirty="0">
              <a:solidFill>
                <a:srgbClr val="000000"/>
              </a:solidFill>
              <a:ea typeface="Calibri"/>
              <a:cs typeface="Calibri"/>
            </a:endParaRPr>
          </a:p>
        </p:txBody>
      </p:sp>
    </p:spTree>
    <p:extLst>
      <p:ext uri="{BB962C8B-B14F-4D97-AF65-F5344CB8AC3E}">
        <p14:creationId xmlns:p14="http://schemas.microsoft.com/office/powerpoint/2010/main" val="198992927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 screen&#10;&#10;Description automatically generated">
            <a:extLst>
              <a:ext uri="{FF2B5EF4-FFF2-40B4-BE49-F238E27FC236}">
                <a16:creationId xmlns:a16="http://schemas.microsoft.com/office/drawing/2014/main" id="{5797CA1E-2BE2-8E5C-D488-310BF807D27C}"/>
              </a:ext>
            </a:extLst>
          </p:cNvPr>
          <p:cNvPicPr>
            <a:picLocks noGrp="1" noChangeAspect="1"/>
          </p:cNvPicPr>
          <p:nvPr>
            <p:ph idx="1"/>
          </p:nvPr>
        </p:nvPicPr>
        <p:blipFill rotWithShape="1">
          <a:blip r:embed="rId3"/>
          <a:srcRect l="19851" t="35643" r="25232" b="13531"/>
          <a:stretch/>
        </p:blipFill>
        <p:spPr>
          <a:xfrm>
            <a:off x="745349" y="643466"/>
            <a:ext cx="10701303" cy="5571067"/>
          </a:xfrm>
          <a:prstGeom prst="rect">
            <a:avLst/>
          </a:prstGeom>
        </p:spPr>
      </p:pic>
      <p:sp>
        <p:nvSpPr>
          <p:cNvPr id="5" name="Rectangle 4">
            <a:extLst>
              <a:ext uri="{FF2B5EF4-FFF2-40B4-BE49-F238E27FC236}">
                <a16:creationId xmlns:a16="http://schemas.microsoft.com/office/drawing/2014/main" id="{EBB742FC-A878-9ABB-2AF4-148E5901CBD8}"/>
              </a:ext>
            </a:extLst>
          </p:cNvPr>
          <p:cNvSpPr/>
          <p:nvPr/>
        </p:nvSpPr>
        <p:spPr>
          <a:xfrm>
            <a:off x="957262" y="5400675"/>
            <a:ext cx="1495245" cy="3019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52207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21919-BB17-712A-16DE-48FAB96A7FF2}"/>
              </a:ext>
            </a:extLst>
          </p:cNvPr>
          <p:cNvSpPr>
            <a:spLocks noGrp="1"/>
          </p:cNvSpPr>
          <p:nvPr>
            <p:ph type="title"/>
          </p:nvPr>
        </p:nvSpPr>
        <p:spPr/>
        <p:txBody>
          <a:bodyPr/>
          <a:lstStyle/>
          <a:p>
            <a:r>
              <a:rPr lang="en-US" dirty="0">
                <a:ea typeface="+mj-lt"/>
                <a:cs typeface="+mj-lt"/>
              </a:rPr>
              <a:t>Stateless CSRF Tokens</a:t>
            </a:r>
            <a:endParaRPr lang="en-US" dirty="0"/>
          </a:p>
        </p:txBody>
      </p:sp>
      <p:sp>
        <p:nvSpPr>
          <p:cNvPr id="3" name="Content Placeholder 2">
            <a:extLst>
              <a:ext uri="{FF2B5EF4-FFF2-40B4-BE49-F238E27FC236}">
                <a16:creationId xmlns:a16="http://schemas.microsoft.com/office/drawing/2014/main" id="{B776DEFA-8299-2074-7F00-7A25D4FAD81F}"/>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Stateless CSRF tokens are a variation of traditional CSRF tokens that are designed to work without the need for server-side storage of token information. </a:t>
            </a:r>
          </a:p>
          <a:p>
            <a:r>
              <a:rPr lang="en-US" dirty="0">
                <a:solidFill>
                  <a:srgbClr val="000000"/>
                </a:solidFill>
                <a:ea typeface="+mn-lt"/>
                <a:cs typeface="+mn-lt"/>
              </a:rPr>
              <a:t>Unlike typical CSRF tokens, which are associated with a user's session and stored server-side, stateless CSRF tokens are generated dynamically on the client side and do not require server-side storage.</a:t>
            </a:r>
          </a:p>
          <a:p>
            <a:r>
              <a:rPr lang="en-US" dirty="0">
                <a:solidFill>
                  <a:srgbClr val="000000"/>
                </a:solidFill>
                <a:ea typeface="+mn-lt"/>
                <a:cs typeface="+mn-lt"/>
              </a:rPr>
              <a:t>a stateless CSRF token should consist of the following: </a:t>
            </a:r>
          </a:p>
          <a:p>
            <a:pPr lvl="1">
              <a:buFont typeface="Courier New" panose="020B0604020202020204" pitchFamily="34" charset="0"/>
              <a:buChar char="o"/>
            </a:pPr>
            <a:r>
              <a:rPr lang="en-US" dirty="0">
                <a:solidFill>
                  <a:srgbClr val="000000"/>
                </a:solidFill>
                <a:ea typeface="+mn-lt"/>
                <a:cs typeface="+mn-lt"/>
              </a:rPr>
              <a:t>A unique identifier of the user the token belongs to </a:t>
            </a:r>
          </a:p>
          <a:p>
            <a:pPr lvl="1">
              <a:buFont typeface="Courier New" panose="020B0604020202020204" pitchFamily="34" charset="0"/>
              <a:buChar char="o"/>
            </a:pPr>
            <a:r>
              <a:rPr lang="en-US" dirty="0">
                <a:solidFill>
                  <a:srgbClr val="000000"/>
                </a:solidFill>
                <a:ea typeface="+mn-lt"/>
                <a:cs typeface="+mn-lt"/>
              </a:rPr>
              <a:t>A timestamp (which can be used for expiration) </a:t>
            </a:r>
          </a:p>
          <a:p>
            <a:pPr lvl="1">
              <a:buFont typeface="Courier New" panose="020B0604020202020204" pitchFamily="34" charset="0"/>
              <a:buChar char="o"/>
            </a:pPr>
            <a:r>
              <a:rPr lang="en-US" dirty="0">
                <a:solidFill>
                  <a:srgbClr val="000000"/>
                </a:solidFill>
                <a:ea typeface="+mn-lt"/>
                <a:cs typeface="+mn-lt"/>
              </a:rPr>
              <a:t>A cryptographic nonce whose key only exists on the server</a:t>
            </a:r>
            <a:endParaRPr lang="en-US">
              <a:solidFill>
                <a:srgbClr val="000000"/>
              </a:solidFill>
              <a:ea typeface="Calibri"/>
              <a:cs typeface="Calibri"/>
            </a:endParaRPr>
          </a:p>
        </p:txBody>
      </p:sp>
    </p:spTree>
    <p:extLst>
      <p:ext uri="{BB962C8B-B14F-4D97-AF65-F5344CB8AC3E}">
        <p14:creationId xmlns:p14="http://schemas.microsoft.com/office/powerpoint/2010/main" val="72309754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E8976-F965-4039-7A8B-E1FC0F1FB812}"/>
              </a:ext>
            </a:extLst>
          </p:cNvPr>
          <p:cNvSpPr>
            <a:spLocks noGrp="1"/>
          </p:cNvSpPr>
          <p:nvPr>
            <p:ph type="title"/>
          </p:nvPr>
        </p:nvSpPr>
        <p:spPr/>
        <p:txBody>
          <a:bodyPr/>
          <a:lstStyle/>
          <a:p>
            <a:r>
              <a:rPr lang="en-US" dirty="0">
                <a:ea typeface="+mj-lt"/>
                <a:cs typeface="+mj-lt"/>
              </a:rPr>
              <a:t>Anti-CRSF Coding Best Practices</a:t>
            </a:r>
            <a:endParaRPr lang="en-US" dirty="0"/>
          </a:p>
        </p:txBody>
      </p:sp>
      <p:sp>
        <p:nvSpPr>
          <p:cNvPr id="3" name="Content Placeholder 2">
            <a:extLst>
              <a:ext uri="{FF2B5EF4-FFF2-40B4-BE49-F238E27FC236}">
                <a16:creationId xmlns:a16="http://schemas.microsoft.com/office/drawing/2014/main" id="{D905C1E1-98D1-145C-4DB0-0D8013353FF6}"/>
              </a:ext>
            </a:extLst>
          </p:cNvPr>
          <p:cNvSpPr>
            <a:spLocks noGrp="1"/>
          </p:cNvSpPr>
          <p:nvPr>
            <p:ph idx="1"/>
          </p:nvPr>
        </p:nvSpPr>
        <p:spPr/>
        <p:txBody>
          <a:bodyPr vert="horz" lIns="91440" tIns="45720" rIns="91440" bIns="45720" rtlCol="0" anchor="t">
            <a:normAutofit/>
          </a:bodyPr>
          <a:lstStyle/>
          <a:p>
            <a:r>
              <a:rPr lang="en-US" dirty="0">
                <a:ea typeface="+mn-lt"/>
                <a:cs typeface="+mn-lt"/>
              </a:rPr>
              <a:t>There are many methods of eliminating or mitigating CRSF risk in your web application that start at the code or design phase. Several of the most effective methods are: </a:t>
            </a:r>
          </a:p>
          <a:p>
            <a:pPr lvl="1">
              <a:buFont typeface="Courier New" panose="020B0604020202020204" pitchFamily="34" charset="0"/>
              <a:buChar char="o"/>
            </a:pPr>
            <a:r>
              <a:rPr lang="en-US" dirty="0">
                <a:ea typeface="+mn-lt"/>
                <a:cs typeface="+mn-lt"/>
              </a:rPr>
              <a:t>Refactoring to stateless GET requests </a:t>
            </a:r>
            <a:endParaRPr lang="en-US">
              <a:ea typeface="+mn-lt"/>
              <a:cs typeface="+mn-lt"/>
            </a:endParaRPr>
          </a:p>
          <a:p>
            <a:pPr lvl="1">
              <a:buFont typeface="Courier New" panose="020B0604020202020204" pitchFamily="34" charset="0"/>
              <a:buChar char="o"/>
            </a:pPr>
            <a:r>
              <a:rPr lang="en-US" dirty="0">
                <a:ea typeface="+mn-lt"/>
                <a:cs typeface="+mn-lt"/>
              </a:rPr>
              <a:t>Implementation of application-wide CSRF defenses </a:t>
            </a:r>
          </a:p>
          <a:p>
            <a:pPr lvl="1">
              <a:buFont typeface="Courier New" panose="020B0604020202020204" pitchFamily="34" charset="0"/>
              <a:buChar char="o"/>
            </a:pPr>
            <a:r>
              <a:rPr lang="en-US" dirty="0">
                <a:ea typeface="+mn-lt"/>
                <a:cs typeface="+mn-lt"/>
              </a:rPr>
              <a:t>Introduction of request-checking middleware</a:t>
            </a:r>
            <a:endParaRPr lang="en-US">
              <a:ea typeface="Calibri"/>
              <a:cs typeface="Calibri"/>
            </a:endParaRPr>
          </a:p>
        </p:txBody>
      </p:sp>
    </p:spTree>
    <p:extLst>
      <p:ext uri="{BB962C8B-B14F-4D97-AF65-F5344CB8AC3E}">
        <p14:creationId xmlns:p14="http://schemas.microsoft.com/office/powerpoint/2010/main" val="31535898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36CBFF-140D-9A41-4F63-D58B713012B1}"/>
              </a:ext>
            </a:extLst>
          </p:cNvPr>
          <p:cNvSpPr>
            <a:spLocks noGrp="1"/>
          </p:cNvSpPr>
          <p:nvPr>
            <p:ph idx="1"/>
          </p:nvPr>
        </p:nvSpPr>
        <p:spPr>
          <a:xfrm>
            <a:off x="838200" y="143475"/>
            <a:ext cx="10515600" cy="6522318"/>
          </a:xfrm>
        </p:spPr>
        <p:txBody>
          <a:bodyPr vert="horz" lIns="91440" tIns="45720" rIns="91440" bIns="45720" rtlCol="0" anchor="t">
            <a:normAutofit lnSpcReduction="10000"/>
          </a:bodyPr>
          <a:lstStyle/>
          <a:p>
            <a:r>
              <a:rPr lang="en-US" dirty="0">
                <a:ea typeface="+mn-lt"/>
                <a:cs typeface="+mn-lt"/>
              </a:rPr>
              <a:t>Refactoring to stateless GET requests</a:t>
            </a:r>
          </a:p>
          <a:p>
            <a:pPr lvl="1">
              <a:buFont typeface="Courier New" panose="020B0604020202020204" pitchFamily="34" charset="0"/>
              <a:buChar char="o"/>
            </a:pPr>
            <a:r>
              <a:rPr lang="en-US" dirty="0">
                <a:ea typeface="+mn-lt"/>
                <a:cs typeface="+mn-lt"/>
              </a:rPr>
              <a:t>Because the most common and easily distributable CSRF attacks come via HTTP GET requests, it is important to correctly structure our API calls to mitigate this risk. </a:t>
            </a:r>
            <a:endParaRPr lang="en-US">
              <a:ea typeface="Calibri"/>
              <a:cs typeface="Calibri"/>
            </a:endParaRPr>
          </a:p>
          <a:p>
            <a:pPr lvl="1">
              <a:buFont typeface="Courier New" panose="020B0604020202020204" pitchFamily="34" charset="0"/>
              <a:buChar char="o"/>
            </a:pPr>
            <a:r>
              <a:rPr lang="en-US" dirty="0">
                <a:ea typeface="+mn-lt"/>
                <a:cs typeface="+mn-lt"/>
              </a:rPr>
              <a:t>HTTP GET requests should not store or modify any server-side state. Doing so leaves future GET requests or modifications to GET requests open to potential CSRF vulnerabilities.</a:t>
            </a:r>
          </a:p>
          <a:p>
            <a:r>
              <a:rPr lang="en-US" dirty="0">
                <a:ea typeface="+mn-lt"/>
                <a:cs typeface="+mn-lt"/>
              </a:rPr>
              <a:t>Application-Wide CSRF Mitigation</a:t>
            </a:r>
          </a:p>
          <a:p>
            <a:pPr lvl="1">
              <a:buFont typeface="Courier New" panose="020B0604020202020204" pitchFamily="34" charset="0"/>
              <a:buChar char="o"/>
            </a:pPr>
            <a:r>
              <a:rPr lang="en-US" dirty="0">
                <a:solidFill>
                  <a:srgbClr val="000000"/>
                </a:solidFill>
                <a:ea typeface="+mn-lt"/>
                <a:cs typeface="+mn-lt"/>
              </a:rPr>
              <a:t>This likely refers to implementing consistent and comprehensive CSRF defenses throughout the entire web application. </a:t>
            </a:r>
          </a:p>
          <a:p>
            <a:pPr lvl="1">
              <a:buFont typeface="Courier New" panose="020B0604020202020204" pitchFamily="34" charset="0"/>
              <a:buChar char="o"/>
            </a:pPr>
            <a:r>
              <a:rPr lang="en-US" dirty="0">
                <a:solidFill>
                  <a:srgbClr val="000000"/>
                </a:solidFill>
                <a:ea typeface="+mn-lt"/>
                <a:cs typeface="+mn-lt"/>
              </a:rPr>
              <a:t>This could involve the use of anti-CSRF tokens, secure cookie attributes, and other security measures to protect against CSRF attacks on all state-changing operations.</a:t>
            </a:r>
          </a:p>
          <a:p>
            <a:r>
              <a:rPr lang="en-US" sz="3000" dirty="0">
                <a:solidFill>
                  <a:srgbClr val="000000"/>
                </a:solidFill>
                <a:ea typeface="+mn-lt"/>
                <a:cs typeface="+mn-lt"/>
              </a:rPr>
              <a:t>Introduction of request-checking middleware</a:t>
            </a:r>
          </a:p>
          <a:p>
            <a:pPr lvl="1">
              <a:buFont typeface="Courier New" panose="020B0604020202020204" pitchFamily="34" charset="0"/>
              <a:buChar char="o"/>
            </a:pPr>
            <a:r>
              <a:rPr lang="en-US" dirty="0">
                <a:solidFill>
                  <a:srgbClr val="000000"/>
                </a:solidFill>
                <a:ea typeface="+mn-lt"/>
                <a:cs typeface="+mn-lt"/>
              </a:rPr>
              <a:t>Middleware can be used to intercept and check incoming requests for various security-related aspects, including CSRF protection. </a:t>
            </a:r>
            <a:endParaRPr lang="en-US">
              <a:solidFill>
                <a:srgbClr val="000000"/>
              </a:solidFill>
              <a:ea typeface="+mn-lt"/>
              <a:cs typeface="+mn-lt"/>
            </a:endParaRPr>
          </a:p>
          <a:p>
            <a:pPr lvl="1">
              <a:buFont typeface="Courier New" panose="020B0604020202020204" pitchFamily="34" charset="0"/>
              <a:buChar char="o"/>
            </a:pPr>
            <a:r>
              <a:rPr lang="en-US" dirty="0">
                <a:solidFill>
                  <a:srgbClr val="000000"/>
                </a:solidFill>
                <a:ea typeface="+mn-lt"/>
                <a:cs typeface="+mn-lt"/>
              </a:rPr>
              <a:t>A request-checking middleware might validate anti-CSRF tokens, headers, or other security-related information before allowing the request to proceed.</a:t>
            </a:r>
            <a:endParaRPr lang="en-US">
              <a:solidFill>
                <a:srgbClr val="000000"/>
              </a:solidFill>
              <a:ea typeface="Calibri"/>
              <a:cs typeface="Calibri"/>
            </a:endParaRPr>
          </a:p>
        </p:txBody>
      </p:sp>
    </p:spTree>
    <p:extLst>
      <p:ext uri="{BB962C8B-B14F-4D97-AF65-F5344CB8AC3E}">
        <p14:creationId xmlns:p14="http://schemas.microsoft.com/office/powerpoint/2010/main" val="8609230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5EA07-6CE1-CAC9-EBD1-99068EAB84B1}"/>
              </a:ext>
            </a:extLst>
          </p:cNvPr>
          <p:cNvSpPr>
            <a:spLocks noGrp="1"/>
          </p:cNvSpPr>
          <p:nvPr>
            <p:ph type="ctrTitle"/>
          </p:nvPr>
        </p:nvSpPr>
        <p:spPr/>
        <p:txBody>
          <a:bodyPr/>
          <a:lstStyle/>
          <a:p>
            <a:r>
              <a:rPr lang="en-US" dirty="0">
                <a:ea typeface="+mj-lt"/>
                <a:cs typeface="+mj-lt"/>
              </a:rPr>
              <a:t>Defending Against XXE</a:t>
            </a:r>
            <a:endParaRPr lang="en-US" dirty="0"/>
          </a:p>
        </p:txBody>
      </p:sp>
      <p:sp>
        <p:nvSpPr>
          <p:cNvPr id="3" name="Subtitle 2">
            <a:extLst>
              <a:ext uri="{FF2B5EF4-FFF2-40B4-BE49-F238E27FC236}">
                <a16:creationId xmlns:a16="http://schemas.microsoft.com/office/drawing/2014/main" id="{A3F4D667-D422-0A07-C295-F229A78B28A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7103804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0964A-9459-C0C7-2EF7-C43A1E56DF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BE5998F-C57E-5663-4FD4-E0BBBDAE8FFF}"/>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XXE (XML External Entity) attacks are a type of security vulnerability that targets applications processing XML data. </a:t>
            </a:r>
          </a:p>
          <a:p>
            <a:r>
              <a:rPr lang="en-US">
                <a:solidFill>
                  <a:srgbClr val="000000"/>
                </a:solidFill>
                <a:ea typeface="+mn-lt"/>
                <a:cs typeface="+mn-lt"/>
              </a:rPr>
              <a:t>In an XXE attack, an </a:t>
            </a:r>
            <a:r>
              <a:rPr lang="en-US" dirty="0">
                <a:solidFill>
                  <a:srgbClr val="000000"/>
                </a:solidFill>
                <a:ea typeface="+mn-lt"/>
                <a:cs typeface="+mn-lt"/>
              </a:rPr>
              <a:t>attacker can exploit the ability of an XML parser to interpret external entities, potentially leading to disclosure of internal files, denial of service, or remote code execution. </a:t>
            </a:r>
            <a:endParaRPr lang="en-US">
              <a:solidFill>
                <a:srgbClr val="000000"/>
              </a:solidFill>
              <a:ea typeface="Calibri"/>
              <a:cs typeface="Calibri"/>
            </a:endParaRPr>
          </a:p>
        </p:txBody>
      </p:sp>
    </p:spTree>
    <p:extLst>
      <p:ext uri="{BB962C8B-B14F-4D97-AF65-F5344CB8AC3E}">
        <p14:creationId xmlns:p14="http://schemas.microsoft.com/office/powerpoint/2010/main" val="86555650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B05BA-95FD-5EF6-2646-58612DC32DE4}"/>
              </a:ext>
            </a:extLst>
          </p:cNvPr>
          <p:cNvSpPr>
            <a:spLocks noGrp="1"/>
          </p:cNvSpPr>
          <p:nvPr>
            <p:ph type="title"/>
          </p:nvPr>
        </p:nvSpPr>
        <p:spPr/>
        <p:txBody>
          <a:bodyPr/>
          <a:lstStyle/>
          <a:p>
            <a:r>
              <a:rPr lang="en-US" dirty="0">
                <a:ea typeface="+mj-lt"/>
                <a:cs typeface="+mj-lt"/>
              </a:rPr>
              <a:t>Evaluating Other Data Formats</a:t>
            </a:r>
            <a:endParaRPr lang="en-US" dirty="0"/>
          </a:p>
        </p:txBody>
      </p:sp>
      <p:sp>
        <p:nvSpPr>
          <p:cNvPr id="3" name="Content Placeholder 2">
            <a:extLst>
              <a:ext uri="{FF2B5EF4-FFF2-40B4-BE49-F238E27FC236}">
                <a16:creationId xmlns:a16="http://schemas.microsoft.com/office/drawing/2014/main" id="{DD583875-47BD-FE40-5C1A-EEC187848DDD}"/>
              </a:ext>
            </a:extLst>
          </p:cNvPr>
          <p:cNvSpPr>
            <a:spLocks noGrp="1"/>
          </p:cNvSpPr>
          <p:nvPr>
            <p:ph idx="1"/>
          </p:nvPr>
        </p:nvSpPr>
        <p:spPr/>
        <p:txBody>
          <a:bodyPr vert="horz" lIns="91440" tIns="45720" rIns="91440" bIns="45720" rtlCol="0" anchor="t">
            <a:normAutofit/>
          </a:bodyPr>
          <a:lstStyle/>
          <a:p>
            <a:r>
              <a:rPr lang="en-US" dirty="0">
                <a:ea typeface="+mn-lt"/>
                <a:cs typeface="+mn-lt"/>
              </a:rPr>
              <a:t>Typically, XML can be interchanged with JSON, making JSON the default when looking at other formats.</a:t>
            </a:r>
          </a:p>
          <a:p>
            <a:endParaRPr lang="en-US" dirty="0">
              <a:cs typeface="Calibri"/>
            </a:endParaRPr>
          </a:p>
        </p:txBody>
      </p:sp>
      <p:pic>
        <p:nvPicPr>
          <p:cNvPr id="4" name="Picture 3" descr="A screenshot of a computer&#10;&#10;Description automatically generated">
            <a:extLst>
              <a:ext uri="{FF2B5EF4-FFF2-40B4-BE49-F238E27FC236}">
                <a16:creationId xmlns:a16="http://schemas.microsoft.com/office/drawing/2014/main" id="{D1FE694C-B938-54B1-9741-E47633AB76B3}"/>
              </a:ext>
            </a:extLst>
          </p:cNvPr>
          <p:cNvPicPr>
            <a:picLocks noChangeAspect="1"/>
          </p:cNvPicPr>
          <p:nvPr/>
        </p:nvPicPr>
        <p:blipFill rotWithShape="1">
          <a:blip r:embed="rId2"/>
          <a:srcRect l="20779" t="43277" r="32349" b="13235"/>
          <a:stretch/>
        </p:blipFill>
        <p:spPr>
          <a:xfrm>
            <a:off x="2429774" y="2963409"/>
            <a:ext cx="7181052" cy="3757295"/>
          </a:xfrm>
          <a:prstGeom prst="rect">
            <a:avLst/>
          </a:prstGeom>
        </p:spPr>
      </p:pic>
    </p:spTree>
    <p:extLst>
      <p:ext uri="{BB962C8B-B14F-4D97-AF65-F5344CB8AC3E}">
        <p14:creationId xmlns:p14="http://schemas.microsoft.com/office/powerpoint/2010/main" val="11292700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D53DD-B578-0BC3-60C9-2FE8A4A849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DEF2062-4E68-3A99-B07A-94F2909DA3D4}"/>
              </a:ext>
            </a:extLst>
          </p:cNvPr>
          <p:cNvSpPr>
            <a:spLocks noGrp="1"/>
          </p:cNvSpPr>
          <p:nvPr>
            <p:ph idx="1"/>
          </p:nvPr>
        </p:nvSpPr>
        <p:spPr/>
        <p:txBody>
          <a:bodyPr vert="horz" lIns="91440" tIns="45720" rIns="91440" bIns="45720" rtlCol="0" anchor="t">
            <a:normAutofit/>
          </a:bodyPr>
          <a:lstStyle/>
          <a:p>
            <a:r>
              <a:rPr lang="en-US" dirty="0">
                <a:ea typeface="+mn-lt"/>
                <a:cs typeface="+mn-lt"/>
              </a:rPr>
              <a:t>JSON is a much more lightweight format than XML. </a:t>
            </a:r>
          </a:p>
          <a:p>
            <a:r>
              <a:rPr lang="en-US" dirty="0">
                <a:ea typeface="+mn-lt"/>
                <a:cs typeface="+mn-lt"/>
              </a:rPr>
              <a:t>JSON offers less rigidity, but brings with it faster and easier to work with payloads. </a:t>
            </a:r>
            <a:endParaRPr lang="en-US">
              <a:ea typeface="+mn-lt"/>
              <a:cs typeface="+mn-lt"/>
            </a:endParaRPr>
          </a:p>
          <a:p>
            <a:r>
              <a:rPr lang="en-US" dirty="0">
                <a:ea typeface="+mn-lt"/>
                <a:cs typeface="+mn-lt"/>
              </a:rPr>
              <a:t>JSON maps to JavaScript objects, while XML more closely maps to DOM trees (as the DOM is an XML-derived format).</a:t>
            </a:r>
            <a:endParaRPr lang="en-US">
              <a:cs typeface="Calibri"/>
            </a:endParaRPr>
          </a:p>
        </p:txBody>
      </p:sp>
    </p:spTree>
    <p:extLst>
      <p:ext uri="{BB962C8B-B14F-4D97-AF65-F5344CB8AC3E}">
        <p14:creationId xmlns:p14="http://schemas.microsoft.com/office/powerpoint/2010/main" val="326902990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0559C-7426-B237-C0EB-9CAFE547F3A1}"/>
              </a:ext>
            </a:extLst>
          </p:cNvPr>
          <p:cNvSpPr>
            <a:spLocks noGrp="1"/>
          </p:cNvSpPr>
          <p:nvPr>
            <p:ph type="title"/>
          </p:nvPr>
        </p:nvSpPr>
        <p:spPr/>
        <p:txBody>
          <a:bodyPr/>
          <a:lstStyle/>
          <a:p>
            <a:r>
              <a:rPr lang="en-US" dirty="0">
                <a:ea typeface="+mj-lt"/>
                <a:cs typeface="+mj-lt"/>
              </a:rPr>
              <a:t>Advanced XXE Risks</a:t>
            </a:r>
            <a:endParaRPr lang="en-US" dirty="0"/>
          </a:p>
        </p:txBody>
      </p:sp>
      <p:sp>
        <p:nvSpPr>
          <p:cNvPr id="3" name="Content Placeholder 2">
            <a:extLst>
              <a:ext uri="{FF2B5EF4-FFF2-40B4-BE49-F238E27FC236}">
                <a16:creationId xmlns:a16="http://schemas.microsoft.com/office/drawing/2014/main" id="{B76123C8-B249-4410-8D98-64873519E609}"/>
              </a:ext>
            </a:extLst>
          </p:cNvPr>
          <p:cNvSpPr>
            <a:spLocks noGrp="1"/>
          </p:cNvSpPr>
          <p:nvPr>
            <p:ph idx="1"/>
          </p:nvPr>
        </p:nvSpPr>
        <p:spPr/>
        <p:txBody>
          <a:bodyPr vert="horz" lIns="91440" tIns="45720" rIns="91440" bIns="45720" rtlCol="0" anchor="t">
            <a:normAutofit fontScale="92500" lnSpcReduction="20000"/>
          </a:bodyPr>
          <a:lstStyle/>
          <a:p>
            <a:r>
              <a:rPr lang="en-US" dirty="0">
                <a:cs typeface="Calibri"/>
              </a:rPr>
              <a:t>Disable External Entity Processing: Where possible, disable the processing of external entities in XML parsers or configure them to disallow the use of external entities.</a:t>
            </a:r>
          </a:p>
          <a:p>
            <a:r>
              <a:rPr lang="en-US" dirty="0">
                <a:cs typeface="Calibri"/>
              </a:rPr>
              <a:t>Use a Secure Parser: Choose XML parsers with built-in protections against XXE vulnerabilities. Modern parsers often have features or configurations to mitigate XXE risks.</a:t>
            </a:r>
            <a:endParaRPr lang="en-US"/>
          </a:p>
          <a:p>
            <a:r>
              <a:rPr lang="en-US" dirty="0">
                <a:cs typeface="Calibri"/>
              </a:rPr>
              <a:t>Input Validation: Implement strict input validation and sanitize XML input to ensure that only well-formed and expected XML data is processed.</a:t>
            </a:r>
            <a:endParaRPr lang="en-US" dirty="0"/>
          </a:p>
          <a:p>
            <a:r>
              <a:rPr lang="en-US" dirty="0">
                <a:cs typeface="Calibri"/>
              </a:rPr>
              <a:t>Security Testing: Regularly perform security assessments, including penetration testing and code reviews, to identify and remediate potential XXE vulnerabilities.</a:t>
            </a:r>
            <a:endParaRPr lang="en-US"/>
          </a:p>
          <a:p>
            <a:r>
              <a:rPr lang="en-US" dirty="0">
                <a:cs typeface="Calibri"/>
              </a:rPr>
              <a:t>Web Application Firewall (WAF): Consider using a WAF that includes specific rules to detect and block XXE attacks.</a:t>
            </a:r>
            <a:endParaRPr lang="en-US" dirty="0"/>
          </a:p>
          <a:p>
            <a:endParaRPr lang="en-US" dirty="0">
              <a:cs typeface="Calibri"/>
            </a:endParaRPr>
          </a:p>
        </p:txBody>
      </p:sp>
    </p:spTree>
    <p:extLst>
      <p:ext uri="{BB962C8B-B14F-4D97-AF65-F5344CB8AC3E}">
        <p14:creationId xmlns:p14="http://schemas.microsoft.com/office/powerpoint/2010/main" val="239223959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0496A-4C16-D855-A3C6-DA36B2C4C268}"/>
              </a:ext>
            </a:extLst>
          </p:cNvPr>
          <p:cNvSpPr>
            <a:spLocks noGrp="1"/>
          </p:cNvSpPr>
          <p:nvPr>
            <p:ph type="title"/>
          </p:nvPr>
        </p:nvSpPr>
        <p:spPr/>
        <p:txBody>
          <a:bodyPr/>
          <a:lstStyle/>
          <a:p>
            <a:r>
              <a:rPr lang="en-US" dirty="0">
                <a:ea typeface="+mj-lt"/>
                <a:cs typeface="+mj-lt"/>
              </a:rPr>
              <a:t>Vulnerable XML Code Example</a:t>
            </a:r>
            <a:endParaRPr lang="en-US" dirty="0"/>
          </a:p>
        </p:txBody>
      </p:sp>
      <p:sp>
        <p:nvSpPr>
          <p:cNvPr id="3" name="Content Placeholder 2">
            <a:extLst>
              <a:ext uri="{FF2B5EF4-FFF2-40B4-BE49-F238E27FC236}">
                <a16:creationId xmlns:a16="http://schemas.microsoft.com/office/drawing/2014/main" id="{37D8B755-7F35-07B3-F72D-88EE356224FA}"/>
              </a:ext>
            </a:extLst>
          </p:cNvPr>
          <p:cNvSpPr>
            <a:spLocks noGrp="1"/>
          </p:cNvSpPr>
          <p:nvPr>
            <p:ph idx="1"/>
          </p:nvPr>
        </p:nvSpPr>
        <p:spPr/>
        <p:txBody>
          <a:bodyPr vert="horz" lIns="91440" tIns="45720" rIns="91440" bIns="45720" rtlCol="0" anchor="t">
            <a:normAutofit/>
          </a:bodyPr>
          <a:lstStyle/>
          <a:p>
            <a:r>
              <a:rPr lang="en-US" dirty="0">
                <a:ea typeface="+mn-lt"/>
                <a:cs typeface="+mn-lt"/>
              </a:rPr>
              <a:t>&lt;?xml version="1.0" encoding="UTF-8"?&gt;</a:t>
            </a:r>
            <a:endParaRPr lang="en-US" dirty="0">
              <a:ea typeface="Calibri" panose="020F0502020204030204"/>
              <a:cs typeface="Calibri" panose="020F0502020204030204"/>
            </a:endParaRPr>
          </a:p>
          <a:p>
            <a:r>
              <a:rPr lang="en-US" dirty="0">
                <a:ea typeface="+mn-lt"/>
                <a:cs typeface="+mn-lt"/>
              </a:rPr>
              <a:t>&lt;!DOCTYPE data [</a:t>
            </a:r>
            <a:endParaRPr lang="en-US" dirty="0"/>
          </a:p>
          <a:p>
            <a:r>
              <a:rPr lang="en-US" dirty="0">
                <a:ea typeface="+mn-lt"/>
                <a:cs typeface="+mn-lt"/>
              </a:rPr>
              <a:t>    &lt;!ENTITY file SYSTEM "</a:t>
            </a:r>
            <a:r>
              <a:rPr lang="en-US" dirty="0">
                <a:ea typeface="+mn-lt"/>
                <a:cs typeface="+mn-lt"/>
                <a:hlinkClick r:id="rId2"/>
              </a:rPr>
              <a:t>file:///etc/passwd</a:t>
            </a:r>
            <a:r>
              <a:rPr lang="en-US" dirty="0">
                <a:ea typeface="+mn-lt"/>
                <a:cs typeface="+mn-lt"/>
              </a:rPr>
              <a:t>"&gt;</a:t>
            </a:r>
            <a:endParaRPr lang="en-US" dirty="0"/>
          </a:p>
          <a:p>
            <a:r>
              <a:rPr lang="en-US" dirty="0">
                <a:ea typeface="+mn-lt"/>
                <a:cs typeface="+mn-lt"/>
              </a:rPr>
              <a:t>]&gt;</a:t>
            </a:r>
            <a:endParaRPr lang="en-US" dirty="0"/>
          </a:p>
          <a:p>
            <a:r>
              <a:rPr lang="en-US" dirty="0">
                <a:ea typeface="+mn-lt"/>
                <a:cs typeface="+mn-lt"/>
              </a:rPr>
              <a:t>&lt;data&gt;&amp;file;&lt;/data&gt;</a:t>
            </a:r>
            <a:endParaRPr lang="en-US" dirty="0"/>
          </a:p>
          <a:p>
            <a:endParaRPr lang="en-US" dirty="0">
              <a:ea typeface="Calibri"/>
              <a:cs typeface="Calibri"/>
            </a:endParaRPr>
          </a:p>
        </p:txBody>
      </p:sp>
    </p:spTree>
    <p:extLst>
      <p:ext uri="{BB962C8B-B14F-4D97-AF65-F5344CB8AC3E}">
        <p14:creationId xmlns:p14="http://schemas.microsoft.com/office/powerpoint/2010/main" val="258661320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513D2-8CE6-9159-B0CD-75A68D694272}"/>
              </a:ext>
            </a:extLst>
          </p:cNvPr>
          <p:cNvSpPr>
            <a:spLocks noGrp="1"/>
          </p:cNvSpPr>
          <p:nvPr>
            <p:ph type="title"/>
          </p:nvPr>
        </p:nvSpPr>
        <p:spPr/>
        <p:txBody>
          <a:bodyPr/>
          <a:lstStyle/>
          <a:p>
            <a:r>
              <a:rPr lang="en-US" dirty="0">
                <a:ea typeface="+mj-lt"/>
                <a:cs typeface="+mj-lt"/>
              </a:rPr>
              <a:t>Example of a Vulnerable XML Parser in Python</a:t>
            </a:r>
            <a:endParaRPr lang="en-US" dirty="0"/>
          </a:p>
        </p:txBody>
      </p:sp>
      <p:sp>
        <p:nvSpPr>
          <p:cNvPr id="3" name="Content Placeholder 2">
            <a:extLst>
              <a:ext uri="{FF2B5EF4-FFF2-40B4-BE49-F238E27FC236}">
                <a16:creationId xmlns:a16="http://schemas.microsoft.com/office/drawing/2014/main" id="{9D09A2F3-C1E2-1915-55F8-AF92F8A855EE}"/>
              </a:ext>
            </a:extLst>
          </p:cNvPr>
          <p:cNvSpPr>
            <a:spLocks noGrp="1"/>
          </p:cNvSpPr>
          <p:nvPr>
            <p:ph idx="1"/>
          </p:nvPr>
        </p:nvSpPr>
        <p:spPr>
          <a:xfrm>
            <a:off x="838200" y="1538078"/>
            <a:ext cx="10515600" cy="4638885"/>
          </a:xfrm>
        </p:spPr>
        <p:txBody>
          <a:bodyPr vert="horz" lIns="91440" tIns="45720" rIns="91440" bIns="45720" rtlCol="0" anchor="t">
            <a:normAutofit fontScale="85000" lnSpcReduction="20000"/>
          </a:bodyPr>
          <a:lstStyle/>
          <a:p>
            <a:r>
              <a:rPr lang="en-US" dirty="0">
                <a:ea typeface="+mn-lt"/>
                <a:cs typeface="+mn-lt"/>
              </a:rPr>
              <a:t>import </a:t>
            </a:r>
            <a:r>
              <a:rPr lang="en-US" dirty="0" err="1">
                <a:ea typeface="+mn-lt"/>
                <a:cs typeface="+mn-lt"/>
              </a:rPr>
              <a:t>xml.etree.ElementTree</a:t>
            </a:r>
            <a:r>
              <a:rPr lang="en-US" dirty="0">
                <a:ea typeface="+mn-lt"/>
                <a:cs typeface="+mn-lt"/>
              </a:rPr>
              <a:t> as ET</a:t>
            </a:r>
            <a:endParaRPr lang="en-US" dirty="0">
              <a:ea typeface="Calibri" panose="020F0502020204030204"/>
              <a:cs typeface="Calibri" panose="020F0502020204030204"/>
            </a:endParaRPr>
          </a:p>
          <a:p>
            <a:endParaRPr lang="en-US"/>
          </a:p>
          <a:p>
            <a:r>
              <a:rPr lang="en-US">
                <a:ea typeface="+mn-lt"/>
                <a:cs typeface="+mn-lt"/>
              </a:rPr>
              <a:t>def </a:t>
            </a:r>
            <a:r>
              <a:rPr lang="en-US" err="1">
                <a:ea typeface="+mn-lt"/>
                <a:cs typeface="+mn-lt"/>
              </a:rPr>
              <a:t>parse_xml</a:t>
            </a:r>
            <a:r>
              <a:rPr lang="en-US">
                <a:ea typeface="+mn-lt"/>
                <a:cs typeface="+mn-lt"/>
              </a:rPr>
              <a:t>(data):</a:t>
            </a:r>
            <a:endParaRPr lang="en-US"/>
          </a:p>
          <a:p>
            <a:r>
              <a:rPr lang="en-US">
                <a:ea typeface="+mn-lt"/>
                <a:cs typeface="+mn-lt"/>
              </a:rPr>
              <a:t>    tree = ET.fromstring(data)  # ⚠️ Vulnerable to XXE!</a:t>
            </a:r>
            <a:endParaRPr lang="en-US"/>
          </a:p>
          <a:p>
            <a:r>
              <a:rPr lang="en-US">
                <a:ea typeface="+mn-lt"/>
                <a:cs typeface="+mn-lt"/>
              </a:rPr>
              <a:t>    return </a:t>
            </a:r>
            <a:r>
              <a:rPr lang="en-US" err="1">
                <a:ea typeface="+mn-lt"/>
                <a:cs typeface="+mn-lt"/>
              </a:rPr>
              <a:t>tree.text</a:t>
            </a:r>
            <a:endParaRPr lang="en-US" err="1"/>
          </a:p>
          <a:p>
            <a:r>
              <a:rPr lang="en-US" dirty="0" err="1">
                <a:ea typeface="+mn-lt"/>
                <a:cs typeface="+mn-lt"/>
              </a:rPr>
              <a:t>user_input</a:t>
            </a:r>
            <a:r>
              <a:rPr lang="en-US" dirty="0">
                <a:ea typeface="+mn-lt"/>
                <a:cs typeface="+mn-lt"/>
              </a:rPr>
              <a:t> = """&lt;?xml version="1.0"?&gt;</a:t>
            </a:r>
            <a:endParaRPr lang="en-US" dirty="0"/>
          </a:p>
          <a:p>
            <a:r>
              <a:rPr lang="en-US">
                <a:ea typeface="+mn-lt"/>
                <a:cs typeface="+mn-lt"/>
              </a:rPr>
              <a:t>&lt;!DOCTYPE foo [</a:t>
            </a:r>
            <a:endParaRPr lang="en-US"/>
          </a:p>
          <a:p>
            <a:r>
              <a:rPr lang="en-US" dirty="0">
                <a:ea typeface="+mn-lt"/>
                <a:cs typeface="+mn-lt"/>
              </a:rPr>
              <a:t>  &lt;!ENTITY </a:t>
            </a:r>
            <a:r>
              <a:rPr lang="en-US" dirty="0" err="1">
                <a:ea typeface="+mn-lt"/>
                <a:cs typeface="+mn-lt"/>
              </a:rPr>
              <a:t>xxe</a:t>
            </a:r>
            <a:r>
              <a:rPr lang="en-US" dirty="0">
                <a:ea typeface="+mn-lt"/>
                <a:cs typeface="+mn-lt"/>
              </a:rPr>
              <a:t> SYSTEM "</a:t>
            </a:r>
            <a:r>
              <a:rPr lang="en-US" dirty="0">
                <a:ea typeface="+mn-lt"/>
                <a:cs typeface="+mn-lt"/>
                <a:hlinkClick r:id="rId2"/>
              </a:rPr>
              <a:t>file:///etc/passwd</a:t>
            </a:r>
            <a:r>
              <a:rPr lang="en-US" dirty="0">
                <a:ea typeface="+mn-lt"/>
                <a:cs typeface="+mn-lt"/>
              </a:rPr>
              <a:t>"&gt;</a:t>
            </a:r>
            <a:endParaRPr lang="en-US" dirty="0"/>
          </a:p>
          <a:p>
            <a:r>
              <a:rPr lang="en-US" dirty="0">
                <a:ea typeface="+mn-lt"/>
                <a:cs typeface="+mn-lt"/>
              </a:rPr>
              <a:t>]&gt;</a:t>
            </a:r>
            <a:endParaRPr lang="en-US" dirty="0"/>
          </a:p>
          <a:p>
            <a:r>
              <a:rPr lang="en-US" dirty="0">
                <a:ea typeface="+mn-lt"/>
                <a:cs typeface="+mn-lt"/>
              </a:rPr>
              <a:t>&lt;root&gt;&amp;</a:t>
            </a:r>
            <a:r>
              <a:rPr lang="en-US" dirty="0" err="1">
                <a:ea typeface="+mn-lt"/>
                <a:cs typeface="+mn-lt"/>
              </a:rPr>
              <a:t>xxe</a:t>
            </a:r>
            <a:r>
              <a:rPr lang="en-US" dirty="0">
                <a:ea typeface="+mn-lt"/>
                <a:cs typeface="+mn-lt"/>
              </a:rPr>
              <a:t>;&lt;/root&gt;</a:t>
            </a:r>
            <a:endParaRPr lang="en-US" dirty="0"/>
          </a:p>
          <a:p>
            <a:r>
              <a:rPr lang="en-US" dirty="0">
                <a:ea typeface="+mn-lt"/>
                <a:cs typeface="+mn-lt"/>
              </a:rPr>
              <a:t>"""</a:t>
            </a:r>
            <a:endParaRPr lang="en-US" dirty="0"/>
          </a:p>
          <a:p>
            <a:r>
              <a:rPr lang="en-US" dirty="0">
                <a:ea typeface="+mn-lt"/>
                <a:cs typeface="+mn-lt"/>
              </a:rPr>
              <a:t>print(</a:t>
            </a:r>
            <a:r>
              <a:rPr lang="en-US" dirty="0" err="1">
                <a:ea typeface="+mn-lt"/>
                <a:cs typeface="+mn-lt"/>
              </a:rPr>
              <a:t>parse_xml</a:t>
            </a:r>
            <a:r>
              <a:rPr lang="en-US" dirty="0">
                <a:ea typeface="+mn-lt"/>
                <a:cs typeface="+mn-lt"/>
              </a:rPr>
              <a:t>(</a:t>
            </a:r>
            <a:r>
              <a:rPr lang="en-US" dirty="0" err="1">
                <a:ea typeface="+mn-lt"/>
                <a:cs typeface="+mn-lt"/>
              </a:rPr>
              <a:t>user_input</a:t>
            </a:r>
            <a:r>
              <a:rPr lang="en-US" dirty="0">
                <a:ea typeface="+mn-lt"/>
                <a:cs typeface="+mn-lt"/>
              </a:rPr>
              <a:t>))  # Server may return file contents!</a:t>
            </a:r>
            <a:endParaRPr lang="en-US" dirty="0"/>
          </a:p>
          <a:p>
            <a:endParaRPr lang="en-US" dirty="0">
              <a:ea typeface="Calibri"/>
              <a:cs typeface="Calibri"/>
            </a:endParaRPr>
          </a:p>
        </p:txBody>
      </p:sp>
    </p:spTree>
    <p:extLst>
      <p:ext uri="{BB962C8B-B14F-4D97-AF65-F5344CB8AC3E}">
        <p14:creationId xmlns:p14="http://schemas.microsoft.com/office/powerpoint/2010/main" val="352841552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09BDF-D6F6-82D1-32F3-873BAFF84EBE}"/>
              </a:ext>
            </a:extLst>
          </p:cNvPr>
          <p:cNvSpPr>
            <a:spLocks noGrp="1"/>
          </p:cNvSpPr>
          <p:nvPr>
            <p:ph type="title"/>
          </p:nvPr>
        </p:nvSpPr>
        <p:spPr/>
        <p:txBody>
          <a:bodyPr/>
          <a:lstStyle/>
          <a:p>
            <a:r>
              <a:rPr lang="en-US" dirty="0">
                <a:ea typeface="+mj-lt"/>
                <a:cs typeface="+mj-lt"/>
              </a:rPr>
              <a:t>How to Prevent XXE Attacks</a:t>
            </a:r>
            <a:endParaRPr lang="en-US" dirty="0"/>
          </a:p>
        </p:txBody>
      </p:sp>
      <p:sp>
        <p:nvSpPr>
          <p:cNvPr id="3" name="Content Placeholder 2">
            <a:extLst>
              <a:ext uri="{FF2B5EF4-FFF2-40B4-BE49-F238E27FC236}">
                <a16:creationId xmlns:a16="http://schemas.microsoft.com/office/drawing/2014/main" id="{7448D045-C979-EFB6-7495-E03847E07204}"/>
              </a:ext>
            </a:extLst>
          </p:cNvPr>
          <p:cNvSpPr>
            <a:spLocks noGrp="1"/>
          </p:cNvSpPr>
          <p:nvPr>
            <p:ph idx="1"/>
          </p:nvPr>
        </p:nvSpPr>
        <p:spPr/>
        <p:txBody>
          <a:bodyPr vert="horz" lIns="91440" tIns="45720" rIns="91440" bIns="45720" rtlCol="0" anchor="t">
            <a:normAutofit/>
          </a:bodyPr>
          <a:lstStyle/>
          <a:p>
            <a:r>
              <a:rPr lang="en-US" dirty="0">
                <a:ea typeface="+mn-lt"/>
                <a:cs typeface="+mn-lt"/>
              </a:rPr>
              <a:t>Disable External Entities in the XML Parser</a:t>
            </a:r>
          </a:p>
          <a:p>
            <a:endParaRPr lang="en-US" dirty="0">
              <a:ea typeface="+mn-lt"/>
              <a:cs typeface="+mn-lt"/>
            </a:endParaRPr>
          </a:p>
          <a:p>
            <a:endParaRPr lang="en-US" dirty="0">
              <a:ea typeface="+mn-lt"/>
              <a:cs typeface="+mn-lt"/>
            </a:endParaRPr>
          </a:p>
          <a:p>
            <a:r>
              <a:rPr lang="en-US" dirty="0">
                <a:ea typeface="+mn-lt"/>
                <a:cs typeface="+mn-lt"/>
              </a:rPr>
              <a:t>from </a:t>
            </a:r>
            <a:r>
              <a:rPr lang="en-US" dirty="0" err="1">
                <a:ea typeface="+mn-lt"/>
                <a:cs typeface="+mn-lt"/>
              </a:rPr>
              <a:t>defusedxml.ElementTree</a:t>
            </a:r>
            <a:r>
              <a:rPr lang="en-US" dirty="0">
                <a:ea typeface="+mn-lt"/>
                <a:cs typeface="+mn-lt"/>
              </a:rPr>
              <a:t> import parse</a:t>
            </a:r>
            <a:endParaRPr lang="en-US"/>
          </a:p>
          <a:p>
            <a:endParaRPr lang="en-US"/>
          </a:p>
          <a:p>
            <a:r>
              <a:rPr lang="en-US" dirty="0">
                <a:ea typeface="+mn-lt"/>
                <a:cs typeface="+mn-lt"/>
              </a:rPr>
              <a:t>def </a:t>
            </a:r>
            <a:r>
              <a:rPr lang="en-US" dirty="0" err="1">
                <a:ea typeface="+mn-lt"/>
                <a:cs typeface="+mn-lt"/>
              </a:rPr>
              <a:t>safe_parse_xml</a:t>
            </a:r>
            <a:r>
              <a:rPr lang="en-US" dirty="0">
                <a:ea typeface="+mn-lt"/>
                <a:cs typeface="+mn-lt"/>
              </a:rPr>
              <a:t>(data):</a:t>
            </a:r>
            <a:endParaRPr lang="en-US" dirty="0"/>
          </a:p>
          <a:p>
            <a:r>
              <a:rPr lang="en-US" dirty="0">
                <a:ea typeface="+mn-lt"/>
                <a:cs typeface="+mn-lt"/>
              </a:rPr>
              <a:t>    return parse(data)  # Safe against XXE</a:t>
            </a:r>
            <a:endParaRPr lang="en-US" dirty="0"/>
          </a:p>
          <a:p>
            <a:endParaRPr lang="en-US" dirty="0">
              <a:ea typeface="+mn-lt"/>
              <a:cs typeface="+mn-lt"/>
            </a:endParaRPr>
          </a:p>
        </p:txBody>
      </p:sp>
    </p:spTree>
    <p:extLst>
      <p:ext uri="{BB962C8B-B14F-4D97-AF65-F5344CB8AC3E}">
        <p14:creationId xmlns:p14="http://schemas.microsoft.com/office/powerpoint/2010/main" val="104820005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5AFF2-E753-9D77-3303-8A4AB8EF461A}"/>
              </a:ext>
            </a:extLst>
          </p:cNvPr>
          <p:cNvSpPr>
            <a:spLocks noGrp="1"/>
          </p:cNvSpPr>
          <p:nvPr>
            <p:ph type="ctrTitle"/>
          </p:nvPr>
        </p:nvSpPr>
        <p:spPr/>
        <p:txBody>
          <a:bodyPr/>
          <a:lstStyle/>
          <a:p>
            <a:r>
              <a:rPr lang="en-US" dirty="0">
                <a:ea typeface="+mj-lt"/>
                <a:cs typeface="+mj-lt"/>
              </a:rPr>
              <a:t>Defending Against Injection</a:t>
            </a:r>
            <a:endParaRPr lang="en-US" dirty="0"/>
          </a:p>
        </p:txBody>
      </p:sp>
      <p:sp>
        <p:nvSpPr>
          <p:cNvPr id="3" name="Subtitle 2">
            <a:extLst>
              <a:ext uri="{FF2B5EF4-FFF2-40B4-BE49-F238E27FC236}">
                <a16:creationId xmlns:a16="http://schemas.microsoft.com/office/drawing/2014/main" id="{D7067C30-721C-947F-AB27-01D6DBFDE50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405353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29A2D-22F8-89DE-7B73-7E213672438B}"/>
              </a:ext>
            </a:extLst>
          </p:cNvPr>
          <p:cNvSpPr>
            <a:spLocks noGrp="1"/>
          </p:cNvSpPr>
          <p:nvPr>
            <p:ph type="title"/>
          </p:nvPr>
        </p:nvSpPr>
        <p:spPr>
          <a:xfrm>
            <a:off x="838200" y="365125"/>
            <a:ext cx="10515600" cy="937375"/>
          </a:xfrm>
        </p:spPr>
        <p:txBody>
          <a:bodyPr/>
          <a:lstStyle/>
          <a:p>
            <a:r>
              <a:rPr lang="en-US">
                <a:ea typeface="+mj-lt"/>
                <a:cs typeface="+mj-lt"/>
              </a:rPr>
              <a:t>Detecting SQL Injection</a:t>
            </a:r>
          </a:p>
        </p:txBody>
      </p:sp>
      <p:sp>
        <p:nvSpPr>
          <p:cNvPr id="3" name="Content Placeholder 2">
            <a:extLst>
              <a:ext uri="{FF2B5EF4-FFF2-40B4-BE49-F238E27FC236}">
                <a16:creationId xmlns:a16="http://schemas.microsoft.com/office/drawing/2014/main" id="{D3397A5B-8F70-7E92-BB3C-A7574FA08F72}"/>
              </a:ext>
            </a:extLst>
          </p:cNvPr>
          <p:cNvSpPr>
            <a:spLocks noGrp="1"/>
          </p:cNvSpPr>
          <p:nvPr>
            <p:ph idx="1"/>
          </p:nvPr>
        </p:nvSpPr>
        <p:spPr>
          <a:xfrm>
            <a:off x="838200" y="1264909"/>
            <a:ext cx="10515600" cy="4912054"/>
          </a:xfrm>
        </p:spPr>
        <p:txBody>
          <a:bodyPr vert="horz" lIns="91440" tIns="45720" rIns="91440" bIns="45720" rtlCol="0" anchor="t">
            <a:noAutofit/>
          </a:bodyPr>
          <a:lstStyle/>
          <a:p>
            <a:r>
              <a:rPr lang="en-US" dirty="0">
                <a:latin typeface="Calibri"/>
                <a:ea typeface="Calibri"/>
                <a:cs typeface="Calibri"/>
              </a:rPr>
              <a:t>You can detect SQL injection manually using a systematic set of tests against every entry point in the application. To do this, you would typically submit:</a:t>
            </a:r>
          </a:p>
          <a:p>
            <a:pPr lvl="1"/>
            <a:r>
              <a:rPr lang="en-US" dirty="0">
                <a:latin typeface="Calibri"/>
                <a:ea typeface="Calibri"/>
                <a:cs typeface="Calibri"/>
              </a:rPr>
              <a:t>The single quote character ' and look for errors or other anomalies.</a:t>
            </a:r>
            <a:endParaRPr lang="en-US" dirty="0">
              <a:ea typeface="Calibri"/>
              <a:cs typeface="Calibri"/>
            </a:endParaRPr>
          </a:p>
          <a:p>
            <a:pPr lvl="1"/>
            <a:r>
              <a:rPr lang="en-US" dirty="0">
                <a:latin typeface="Calibri"/>
                <a:ea typeface="Calibri"/>
                <a:cs typeface="Calibri"/>
              </a:rPr>
              <a:t>Some SQL-specific syntax that evaluates to the base (original) value of the entry point, and to a different value, and look for systematic differences in the application responses.</a:t>
            </a:r>
            <a:endParaRPr lang="en-US" dirty="0">
              <a:ea typeface="Calibri"/>
              <a:cs typeface="Calibri"/>
            </a:endParaRPr>
          </a:p>
          <a:p>
            <a:pPr lvl="1"/>
            <a:r>
              <a:rPr lang="en-US" dirty="0">
                <a:latin typeface="Calibri"/>
                <a:ea typeface="Calibri"/>
                <a:cs typeface="Calibri"/>
              </a:rPr>
              <a:t>Boolean conditions such as OR 1=1 and OR 1=2, and look for differences in the application's responses.</a:t>
            </a:r>
            <a:endParaRPr lang="en-US" dirty="0">
              <a:ea typeface="Calibri"/>
              <a:cs typeface="Calibri"/>
            </a:endParaRPr>
          </a:p>
          <a:p>
            <a:pPr lvl="1"/>
            <a:r>
              <a:rPr lang="en-US" dirty="0">
                <a:latin typeface="Calibri"/>
                <a:ea typeface="Calibri"/>
                <a:cs typeface="Calibri"/>
              </a:rPr>
              <a:t>Payloads designed to trigger time delays when executed within a SQL query, and look for differences in the time taken to respond.</a:t>
            </a:r>
            <a:endParaRPr lang="en-US" dirty="0">
              <a:ea typeface="Calibri"/>
              <a:cs typeface="Calibri"/>
            </a:endParaRPr>
          </a:p>
          <a:p>
            <a:pPr lvl="1"/>
            <a:r>
              <a:rPr lang="en-US" dirty="0">
                <a:latin typeface="Calibri"/>
                <a:ea typeface="Calibri"/>
                <a:cs typeface="Calibri"/>
              </a:rPr>
              <a:t>OAST payloads designed to trigger an out-of-band network interaction when executed within a SQL query, and monitor any resulting interactions.</a:t>
            </a:r>
            <a:endParaRPr lang="en-US">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367192281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449B1-554B-6676-6F5D-A12E1CDDF8B5}"/>
              </a:ext>
            </a:extLst>
          </p:cNvPr>
          <p:cNvSpPr>
            <a:spLocks noGrp="1"/>
          </p:cNvSpPr>
          <p:nvPr>
            <p:ph type="title"/>
          </p:nvPr>
        </p:nvSpPr>
        <p:spPr/>
        <p:txBody>
          <a:bodyPr/>
          <a:lstStyle/>
          <a:p>
            <a:r>
              <a:rPr lang="en-US">
                <a:ea typeface="+mj-lt"/>
                <a:cs typeface="+mj-lt"/>
              </a:rPr>
              <a:t>Prepared Statements</a:t>
            </a:r>
            <a:endParaRPr lang="en-US"/>
          </a:p>
        </p:txBody>
      </p:sp>
      <p:sp>
        <p:nvSpPr>
          <p:cNvPr id="3" name="Content Placeholder 2">
            <a:extLst>
              <a:ext uri="{FF2B5EF4-FFF2-40B4-BE49-F238E27FC236}">
                <a16:creationId xmlns:a16="http://schemas.microsoft.com/office/drawing/2014/main" id="{F516B0F0-71BC-84F5-7AD6-4697EEB5090A}"/>
              </a:ext>
            </a:extLst>
          </p:cNvPr>
          <p:cNvSpPr>
            <a:spLocks noGrp="1"/>
          </p:cNvSpPr>
          <p:nvPr>
            <p:ph idx="1"/>
          </p:nvPr>
        </p:nvSpPr>
        <p:spPr>
          <a:xfrm>
            <a:off x="838200" y="1825625"/>
            <a:ext cx="10515600" cy="4811413"/>
          </a:xfrm>
        </p:spPr>
        <p:txBody>
          <a:bodyPr vert="horz" lIns="91440" tIns="45720" rIns="91440" bIns="45720" rtlCol="0" anchor="t">
            <a:normAutofit fontScale="92500"/>
          </a:bodyPr>
          <a:lstStyle/>
          <a:p>
            <a:r>
              <a:rPr lang="en-US" dirty="0">
                <a:solidFill>
                  <a:srgbClr val="000000"/>
                </a:solidFill>
                <a:ea typeface="+mn-lt"/>
                <a:cs typeface="+mn-lt"/>
              </a:rPr>
              <a:t>Using prepared statements is an effective technique to prevent SQL injection attacks in database queries. </a:t>
            </a:r>
          </a:p>
          <a:p>
            <a:r>
              <a:rPr lang="en-US" dirty="0">
                <a:solidFill>
                  <a:srgbClr val="000000"/>
                </a:solidFill>
                <a:ea typeface="+mn-lt"/>
                <a:cs typeface="+mn-lt"/>
              </a:rPr>
              <a:t>Prepared statements are a feature provided by database APIs that allow you to separate SQL code from user input, reducing the risk of malicious SQL injection.</a:t>
            </a:r>
          </a:p>
          <a:p>
            <a:r>
              <a:rPr lang="en-US" dirty="0">
                <a:solidFill>
                  <a:srgbClr val="000000"/>
                </a:solidFill>
                <a:cs typeface="Calibri"/>
              </a:rPr>
              <a:t>How Prepared Statements Work:</a:t>
            </a:r>
          </a:p>
          <a:p>
            <a:pPr lvl="1">
              <a:buFont typeface="Courier New" panose="020B0604020202020204" pitchFamily="34" charset="0"/>
              <a:buChar char="o"/>
            </a:pPr>
            <a:r>
              <a:rPr lang="en-US" dirty="0">
                <a:solidFill>
                  <a:srgbClr val="000000"/>
                </a:solidFill>
                <a:cs typeface="Calibri"/>
              </a:rPr>
              <a:t>Query Template: You create a SQL query template with placeholders for parameters. These placeholders are not directly substituted with user input.</a:t>
            </a:r>
            <a:endParaRPr lang="en-US">
              <a:cs typeface="Calibri"/>
            </a:endParaRPr>
          </a:p>
          <a:p>
            <a:pPr lvl="1">
              <a:buFont typeface="Courier New" panose="020B0604020202020204" pitchFamily="34" charset="0"/>
              <a:buChar char="o"/>
            </a:pPr>
            <a:r>
              <a:rPr lang="en-US" dirty="0">
                <a:solidFill>
                  <a:srgbClr val="000000"/>
                </a:solidFill>
                <a:cs typeface="Calibri"/>
              </a:rPr>
              <a:t>Parameter Binding: You bind the user input to the placeholders in a secure manner. The database API takes care of properly escaping and quoting the input.</a:t>
            </a:r>
            <a:endParaRPr lang="en-US">
              <a:cs typeface="Calibri"/>
            </a:endParaRPr>
          </a:p>
          <a:p>
            <a:pPr lvl="1">
              <a:buFont typeface="Courier New" panose="020B0604020202020204" pitchFamily="34" charset="0"/>
              <a:buChar char="o"/>
            </a:pPr>
            <a:r>
              <a:rPr lang="en-US">
                <a:solidFill>
                  <a:srgbClr val="000000"/>
                </a:solidFill>
                <a:cs typeface="Calibri"/>
              </a:rPr>
              <a:t>Execution: The prepared statement, with bound parameters, is executed by the database. The database engine ensures that user input is treated as data, not executable code.</a:t>
            </a:r>
            <a:endParaRPr lang="en-US">
              <a:cs typeface="Calibri"/>
            </a:endParaRPr>
          </a:p>
          <a:p>
            <a:endParaRPr lang="en-US" dirty="0">
              <a:solidFill>
                <a:srgbClr val="000000"/>
              </a:solidFill>
              <a:cs typeface="Calibri"/>
            </a:endParaRPr>
          </a:p>
        </p:txBody>
      </p:sp>
    </p:spTree>
    <p:extLst>
      <p:ext uri="{BB962C8B-B14F-4D97-AF65-F5344CB8AC3E}">
        <p14:creationId xmlns:p14="http://schemas.microsoft.com/office/powerpoint/2010/main" val="56269318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294694-0932-70A6-2920-6E88A96874BE}"/>
              </a:ext>
            </a:extLst>
          </p:cNvPr>
          <p:cNvSpPr>
            <a:spLocks noGrp="1"/>
          </p:cNvSpPr>
          <p:nvPr>
            <p:ph idx="1"/>
          </p:nvPr>
        </p:nvSpPr>
        <p:spPr>
          <a:xfrm>
            <a:off x="838200" y="589173"/>
            <a:ext cx="10515600" cy="5904091"/>
          </a:xfrm>
        </p:spPr>
        <p:txBody>
          <a:bodyPr vert="horz" lIns="91440" tIns="45720" rIns="91440" bIns="45720" rtlCol="0" anchor="t">
            <a:normAutofit/>
          </a:bodyPr>
          <a:lstStyle/>
          <a:p>
            <a:r>
              <a:rPr lang="en-US">
                <a:ea typeface="+mn-lt"/>
                <a:cs typeface="+mn-lt"/>
              </a:rPr>
              <a:t>// Example using Java with JDBC</a:t>
            </a:r>
            <a:endParaRPr lang="en-US">
              <a:cs typeface="Calibri" panose="020F0502020204030204"/>
            </a:endParaRPr>
          </a:p>
          <a:p>
            <a:r>
              <a:rPr lang="en-US" dirty="0">
                <a:ea typeface="+mn-lt"/>
                <a:cs typeface="+mn-lt"/>
              </a:rPr>
              <a:t>String username = </a:t>
            </a:r>
            <a:r>
              <a:rPr lang="en-US" dirty="0" err="1">
                <a:ea typeface="+mn-lt"/>
                <a:cs typeface="+mn-lt"/>
              </a:rPr>
              <a:t>userInput</a:t>
            </a:r>
            <a:r>
              <a:rPr lang="en-US" dirty="0">
                <a:ea typeface="+mn-lt"/>
                <a:cs typeface="+mn-lt"/>
              </a:rPr>
              <a:t>;  // User input</a:t>
            </a:r>
            <a:endParaRPr lang="en-US" dirty="0"/>
          </a:p>
          <a:p>
            <a:r>
              <a:rPr lang="en-US">
                <a:ea typeface="+mn-lt"/>
                <a:cs typeface="+mn-lt"/>
              </a:rPr>
              <a:t>String query = "SELECT * FROM users WHERE username = ?";</a:t>
            </a:r>
            <a:endParaRPr lang="en-US"/>
          </a:p>
          <a:p>
            <a:r>
              <a:rPr lang="en-US" dirty="0">
                <a:ea typeface="+mn-lt"/>
                <a:cs typeface="+mn-lt"/>
              </a:rPr>
              <a:t>try (</a:t>
            </a:r>
            <a:r>
              <a:rPr lang="en-US" dirty="0" err="1">
                <a:ea typeface="+mn-lt"/>
                <a:cs typeface="+mn-lt"/>
              </a:rPr>
              <a:t>PreparedStatement</a:t>
            </a:r>
            <a:r>
              <a:rPr lang="en-US" dirty="0">
                <a:ea typeface="+mn-lt"/>
                <a:cs typeface="+mn-lt"/>
              </a:rPr>
              <a:t> </a:t>
            </a:r>
            <a:r>
              <a:rPr lang="en-US" dirty="0" err="1">
                <a:ea typeface="+mn-lt"/>
                <a:cs typeface="+mn-lt"/>
              </a:rPr>
              <a:t>preparedStatement</a:t>
            </a:r>
            <a:r>
              <a:rPr lang="en-US" dirty="0">
                <a:ea typeface="+mn-lt"/>
                <a:cs typeface="+mn-lt"/>
              </a:rPr>
              <a:t> = </a:t>
            </a:r>
            <a:r>
              <a:rPr lang="en-US" dirty="0" err="1">
                <a:ea typeface="+mn-lt"/>
                <a:cs typeface="+mn-lt"/>
              </a:rPr>
              <a:t>connection.prepareStatement</a:t>
            </a:r>
            <a:r>
              <a:rPr lang="en-US" dirty="0">
                <a:ea typeface="+mn-lt"/>
                <a:cs typeface="+mn-lt"/>
              </a:rPr>
              <a:t>(query)) {</a:t>
            </a:r>
            <a:endParaRPr lang="en-US" dirty="0"/>
          </a:p>
          <a:p>
            <a:r>
              <a:rPr lang="en-US" dirty="0">
                <a:ea typeface="+mn-lt"/>
                <a:cs typeface="+mn-lt"/>
              </a:rPr>
              <a:t>    </a:t>
            </a:r>
            <a:r>
              <a:rPr lang="en-US" dirty="0" err="1">
                <a:ea typeface="+mn-lt"/>
                <a:cs typeface="+mn-lt"/>
              </a:rPr>
              <a:t>preparedStatement.setString</a:t>
            </a:r>
            <a:r>
              <a:rPr lang="en-US" dirty="0">
                <a:ea typeface="+mn-lt"/>
                <a:cs typeface="+mn-lt"/>
              </a:rPr>
              <a:t>(1, username);  // Bind parameter</a:t>
            </a:r>
            <a:endParaRPr lang="en-US" dirty="0"/>
          </a:p>
          <a:p>
            <a:r>
              <a:rPr lang="en-US" dirty="0">
                <a:ea typeface="+mn-lt"/>
                <a:cs typeface="+mn-lt"/>
              </a:rPr>
              <a:t>    </a:t>
            </a:r>
            <a:r>
              <a:rPr lang="en-US" dirty="0" err="1">
                <a:ea typeface="+mn-lt"/>
                <a:cs typeface="+mn-lt"/>
              </a:rPr>
              <a:t>ResultSet</a:t>
            </a:r>
            <a:r>
              <a:rPr lang="en-US" dirty="0">
                <a:ea typeface="+mn-lt"/>
                <a:cs typeface="+mn-lt"/>
              </a:rPr>
              <a:t> </a:t>
            </a:r>
            <a:r>
              <a:rPr lang="en-US" dirty="0" err="1">
                <a:ea typeface="+mn-lt"/>
                <a:cs typeface="+mn-lt"/>
              </a:rPr>
              <a:t>resultSet</a:t>
            </a:r>
            <a:r>
              <a:rPr lang="en-US" dirty="0">
                <a:ea typeface="+mn-lt"/>
                <a:cs typeface="+mn-lt"/>
              </a:rPr>
              <a:t> = </a:t>
            </a:r>
            <a:r>
              <a:rPr lang="en-US" dirty="0" err="1">
                <a:ea typeface="+mn-lt"/>
                <a:cs typeface="+mn-lt"/>
              </a:rPr>
              <a:t>preparedStatement.executeQuery</a:t>
            </a:r>
            <a:r>
              <a:rPr lang="en-US" dirty="0">
                <a:ea typeface="+mn-lt"/>
                <a:cs typeface="+mn-lt"/>
              </a:rPr>
              <a:t>();</a:t>
            </a:r>
            <a:endParaRPr lang="en-US" dirty="0"/>
          </a:p>
          <a:p>
            <a:r>
              <a:rPr lang="en-US" dirty="0">
                <a:ea typeface="+mn-lt"/>
                <a:cs typeface="+mn-lt"/>
              </a:rPr>
              <a:t>    // Process the result set</a:t>
            </a:r>
            <a:endParaRPr lang="en-US" dirty="0"/>
          </a:p>
          <a:p>
            <a:r>
              <a:rPr lang="en-US" dirty="0">
                <a:ea typeface="+mn-lt"/>
                <a:cs typeface="+mn-lt"/>
              </a:rPr>
              <a:t>} catch (</a:t>
            </a:r>
            <a:r>
              <a:rPr lang="en-US" dirty="0" err="1">
                <a:ea typeface="+mn-lt"/>
                <a:cs typeface="+mn-lt"/>
              </a:rPr>
              <a:t>SQLException</a:t>
            </a:r>
            <a:r>
              <a:rPr lang="en-US" dirty="0">
                <a:ea typeface="+mn-lt"/>
                <a:cs typeface="+mn-lt"/>
              </a:rPr>
              <a:t> e) {</a:t>
            </a:r>
            <a:endParaRPr lang="en-US" dirty="0"/>
          </a:p>
          <a:p>
            <a:r>
              <a:rPr lang="en-US">
                <a:ea typeface="+mn-lt"/>
                <a:cs typeface="+mn-lt"/>
              </a:rPr>
              <a:t>    // Handle SQL exception</a:t>
            </a:r>
            <a:endParaRPr lang="en-US"/>
          </a:p>
          <a:p>
            <a:r>
              <a:rPr lang="en-US" dirty="0">
                <a:ea typeface="+mn-lt"/>
                <a:cs typeface="+mn-lt"/>
              </a:rPr>
              <a:t>}</a:t>
            </a:r>
            <a:endParaRPr lang="en-US" dirty="0"/>
          </a:p>
          <a:p>
            <a:endParaRPr lang="en-US" dirty="0">
              <a:cs typeface="Calibri"/>
            </a:endParaRPr>
          </a:p>
        </p:txBody>
      </p:sp>
    </p:spTree>
    <p:extLst>
      <p:ext uri="{BB962C8B-B14F-4D97-AF65-F5344CB8AC3E}">
        <p14:creationId xmlns:p14="http://schemas.microsoft.com/office/powerpoint/2010/main" val="230800460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C7A31E-ADF5-4EB7-EEF3-3A71D9484359}"/>
              </a:ext>
            </a:extLst>
          </p:cNvPr>
          <p:cNvSpPr>
            <a:spLocks noGrp="1"/>
          </p:cNvSpPr>
          <p:nvPr>
            <p:ph idx="1"/>
          </p:nvPr>
        </p:nvSpPr>
        <p:spPr>
          <a:xfrm>
            <a:off x="838200" y="675437"/>
            <a:ext cx="10515600" cy="5573412"/>
          </a:xfrm>
        </p:spPr>
        <p:txBody>
          <a:bodyPr vert="horz" lIns="91440" tIns="45720" rIns="91440" bIns="45720" rtlCol="0" anchor="t">
            <a:normAutofit/>
          </a:bodyPr>
          <a:lstStyle/>
          <a:p>
            <a:r>
              <a:rPr lang="en-US" dirty="0">
                <a:ea typeface="+mn-lt"/>
                <a:cs typeface="+mn-lt"/>
              </a:rPr>
              <a:t>In each example, the SQL query contains a placeholder (</a:t>
            </a:r>
            <a:r>
              <a:rPr lang="en-US" b="1" dirty="0">
                <a:latin typeface="Consolas"/>
              </a:rPr>
              <a:t>?</a:t>
            </a:r>
            <a:r>
              <a:rPr lang="en-US" dirty="0">
                <a:ea typeface="+mn-lt"/>
                <a:cs typeface="+mn-lt"/>
              </a:rPr>
              <a:t> in Java and Python, </a:t>
            </a:r>
            <a:r>
              <a:rPr lang="en-US" b="1" dirty="0">
                <a:latin typeface="Consolas"/>
              </a:rPr>
              <a:t>:username</a:t>
            </a:r>
            <a:r>
              <a:rPr lang="en-US" dirty="0">
                <a:ea typeface="+mn-lt"/>
                <a:cs typeface="+mn-lt"/>
              </a:rPr>
              <a:t> in PHP) for the user input. </a:t>
            </a:r>
          </a:p>
          <a:p>
            <a:r>
              <a:rPr lang="en-US" dirty="0">
                <a:ea typeface="+mn-lt"/>
                <a:cs typeface="+mn-lt"/>
              </a:rPr>
              <a:t>The actual user input is then bound to this placeholder using appropriate methods provided by the database API. This ensures that the user input is treated as data and not as part of the SQL query, preventing SQL injection attacks.</a:t>
            </a:r>
            <a:endParaRPr lang="en-US">
              <a:cs typeface="Calibri" panose="020F0502020204030204"/>
            </a:endParaRPr>
          </a:p>
          <a:p>
            <a:r>
              <a:rPr lang="en-US" dirty="0">
                <a:ea typeface="+mn-lt"/>
                <a:cs typeface="+mn-lt"/>
              </a:rPr>
              <a:t>Always use prepared statements or parameterized queries when interacting with databases to mitigate the risk of SQL injection. </a:t>
            </a:r>
          </a:p>
          <a:p>
            <a:r>
              <a:rPr lang="en-US" dirty="0">
                <a:ea typeface="+mn-lt"/>
                <a:cs typeface="+mn-lt"/>
              </a:rPr>
              <a:t>Avoid constructing SQL queries by concatenating strings with user input.</a:t>
            </a:r>
            <a:endParaRPr lang="en-US" dirty="0">
              <a:cs typeface="Calibri"/>
            </a:endParaRPr>
          </a:p>
          <a:p>
            <a:endParaRPr lang="en-US" dirty="0">
              <a:cs typeface="Calibri"/>
            </a:endParaRPr>
          </a:p>
        </p:txBody>
      </p:sp>
    </p:spTree>
    <p:extLst>
      <p:ext uri="{BB962C8B-B14F-4D97-AF65-F5344CB8AC3E}">
        <p14:creationId xmlns:p14="http://schemas.microsoft.com/office/powerpoint/2010/main" val="81162598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51DC7-DF21-B19C-E917-A00683975D8E}"/>
              </a:ext>
            </a:extLst>
          </p:cNvPr>
          <p:cNvSpPr>
            <a:spLocks noGrp="1"/>
          </p:cNvSpPr>
          <p:nvPr>
            <p:ph type="title"/>
          </p:nvPr>
        </p:nvSpPr>
        <p:spPr/>
        <p:txBody>
          <a:bodyPr/>
          <a:lstStyle/>
          <a:p>
            <a:r>
              <a:rPr lang="en-US" dirty="0">
                <a:ea typeface="+mj-lt"/>
                <a:cs typeface="+mj-lt"/>
              </a:rPr>
              <a:t>Database-Specific Defenses</a:t>
            </a:r>
            <a:endParaRPr lang="en-US" dirty="0"/>
          </a:p>
        </p:txBody>
      </p:sp>
      <p:sp>
        <p:nvSpPr>
          <p:cNvPr id="3" name="Content Placeholder 2">
            <a:extLst>
              <a:ext uri="{FF2B5EF4-FFF2-40B4-BE49-F238E27FC236}">
                <a16:creationId xmlns:a16="http://schemas.microsoft.com/office/drawing/2014/main" id="{63BD3246-4AA8-1677-32BA-99EAF33667DB}"/>
              </a:ext>
            </a:extLst>
          </p:cNvPr>
          <p:cNvSpPr>
            <a:spLocks noGrp="1"/>
          </p:cNvSpPr>
          <p:nvPr>
            <p:ph idx="1"/>
          </p:nvPr>
        </p:nvSpPr>
        <p:spPr>
          <a:xfrm>
            <a:off x="838200" y="1451814"/>
            <a:ext cx="10515600" cy="5199601"/>
          </a:xfrm>
        </p:spPr>
        <p:txBody>
          <a:bodyPr vert="horz" lIns="91440" tIns="45720" rIns="91440" bIns="45720" rtlCol="0" anchor="t">
            <a:normAutofit lnSpcReduction="10000"/>
          </a:bodyPr>
          <a:lstStyle/>
          <a:p>
            <a:r>
              <a:rPr lang="en-US" dirty="0">
                <a:ea typeface="+mn-lt"/>
                <a:cs typeface="+mn-lt"/>
              </a:rPr>
              <a:t>each major SQL database offers its own functions for improving security. </a:t>
            </a:r>
          </a:p>
          <a:p>
            <a:r>
              <a:rPr lang="en-US" dirty="0">
                <a:ea typeface="+mn-lt"/>
                <a:cs typeface="+mn-lt"/>
              </a:rPr>
              <a:t>Oracle, MySQL, MS SQL, and SOQL all offer methods for automatically escaping characters and character sets deemed risky for use in SQL queries. </a:t>
            </a:r>
          </a:p>
          <a:p>
            <a:r>
              <a:rPr lang="en-US" dirty="0">
                <a:ea typeface="+mn-lt"/>
                <a:cs typeface="+mn-lt"/>
              </a:rPr>
              <a:t>The method by which these sanitizations are decided is dependent on the particular database and engine being used.</a:t>
            </a:r>
          </a:p>
          <a:p>
            <a:r>
              <a:rPr lang="en-US" dirty="0">
                <a:ea typeface="+mn-lt"/>
                <a:cs typeface="+mn-lt"/>
              </a:rPr>
              <a:t>Oracle (Java) offers an encoder that can be invoked with the following syntax: </a:t>
            </a:r>
          </a:p>
          <a:p>
            <a:r>
              <a:rPr lang="en-US" dirty="0" err="1">
                <a:ea typeface="+mn-lt"/>
                <a:cs typeface="+mn-lt"/>
              </a:rPr>
              <a:t>ESAPI.encoder</a:t>
            </a:r>
            <a:r>
              <a:rPr lang="en-US" dirty="0">
                <a:ea typeface="+mn-lt"/>
                <a:cs typeface="+mn-lt"/>
              </a:rPr>
              <a:t>().</a:t>
            </a:r>
            <a:r>
              <a:rPr lang="en-US" dirty="0" err="1">
                <a:ea typeface="+mn-lt"/>
                <a:cs typeface="+mn-lt"/>
              </a:rPr>
              <a:t>enodeForSQL</a:t>
            </a:r>
            <a:r>
              <a:rPr lang="en-US" dirty="0">
                <a:ea typeface="+mn-lt"/>
                <a:cs typeface="+mn-lt"/>
              </a:rPr>
              <a:t>(new </a:t>
            </a:r>
            <a:r>
              <a:rPr lang="en-US" dirty="0" err="1">
                <a:ea typeface="+mn-lt"/>
                <a:cs typeface="+mn-lt"/>
              </a:rPr>
              <a:t>OracleCodec</a:t>
            </a:r>
            <a:r>
              <a:rPr lang="en-US" dirty="0">
                <a:ea typeface="+mn-lt"/>
                <a:cs typeface="+mn-lt"/>
              </a:rPr>
              <a:t>(), str); . </a:t>
            </a:r>
          </a:p>
          <a:p>
            <a:r>
              <a:rPr lang="en-US" dirty="0">
                <a:ea typeface="+mn-lt"/>
                <a:cs typeface="+mn-lt"/>
              </a:rPr>
              <a:t>In MySQL, the following can be used to prevent the usage of improperly escaped strings: SELECT QUOTE('</a:t>
            </a:r>
            <a:r>
              <a:rPr lang="en-US" dirty="0" err="1">
                <a:ea typeface="+mn-lt"/>
                <a:cs typeface="+mn-lt"/>
              </a:rPr>
              <a:t>test''case</a:t>
            </a:r>
            <a:r>
              <a:rPr lang="en-US" dirty="0">
                <a:ea typeface="+mn-lt"/>
                <a:cs typeface="+mn-lt"/>
              </a:rPr>
              <a:t>');</a:t>
            </a:r>
            <a:endParaRPr lang="en-US">
              <a:cs typeface="Calibri"/>
            </a:endParaRPr>
          </a:p>
        </p:txBody>
      </p:sp>
    </p:spTree>
    <p:extLst>
      <p:ext uri="{BB962C8B-B14F-4D97-AF65-F5344CB8AC3E}">
        <p14:creationId xmlns:p14="http://schemas.microsoft.com/office/powerpoint/2010/main" val="410293164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4CC1D-0379-4FF6-4E36-31A979EB9972}"/>
              </a:ext>
            </a:extLst>
          </p:cNvPr>
          <p:cNvSpPr>
            <a:spLocks noGrp="1"/>
          </p:cNvSpPr>
          <p:nvPr>
            <p:ph type="title"/>
          </p:nvPr>
        </p:nvSpPr>
        <p:spPr/>
        <p:txBody>
          <a:bodyPr/>
          <a:lstStyle/>
          <a:p>
            <a:r>
              <a:rPr lang="en-US" dirty="0">
                <a:ea typeface="+mj-lt"/>
                <a:cs typeface="+mj-lt"/>
              </a:rPr>
              <a:t>Generic Injection Defenses</a:t>
            </a:r>
            <a:endParaRPr lang="en-US" dirty="0"/>
          </a:p>
        </p:txBody>
      </p:sp>
      <p:sp>
        <p:nvSpPr>
          <p:cNvPr id="3" name="Content Placeholder 2">
            <a:extLst>
              <a:ext uri="{FF2B5EF4-FFF2-40B4-BE49-F238E27FC236}">
                <a16:creationId xmlns:a16="http://schemas.microsoft.com/office/drawing/2014/main" id="{ACFC7FA1-C35F-CB98-4D0E-B73573E39117}"/>
              </a:ext>
            </a:extLst>
          </p:cNvPr>
          <p:cNvSpPr>
            <a:spLocks noGrp="1"/>
          </p:cNvSpPr>
          <p:nvPr>
            <p:ph idx="1"/>
          </p:nvPr>
        </p:nvSpPr>
        <p:spPr/>
        <p:txBody>
          <a:bodyPr vert="horz" lIns="91440" tIns="45720" rIns="91440" bIns="45720" rtlCol="0" anchor="t">
            <a:normAutofit/>
          </a:bodyPr>
          <a:lstStyle/>
          <a:p>
            <a:r>
              <a:rPr lang="en-US" dirty="0">
                <a:ea typeface="+mn-lt"/>
                <a:cs typeface="+mn-lt"/>
              </a:rPr>
              <a:t>In addition to being able to defend against SQL injection, you should also make sure your application is defended against other less common forms of injection. </a:t>
            </a:r>
          </a:p>
          <a:p>
            <a:r>
              <a:rPr lang="en-US" dirty="0">
                <a:ea typeface="+mn-lt"/>
                <a:cs typeface="+mn-lt"/>
              </a:rPr>
              <a:t>injection attacks can occur against any type of command-line utility or interpreter. </a:t>
            </a:r>
            <a:endParaRPr lang="en-US">
              <a:ea typeface="+mn-lt"/>
              <a:cs typeface="+mn-lt"/>
            </a:endParaRPr>
          </a:p>
          <a:p>
            <a:r>
              <a:rPr lang="en-US" dirty="0">
                <a:ea typeface="+mn-lt"/>
                <a:cs typeface="+mn-lt"/>
              </a:rPr>
              <a:t>We should be on the lookout for non-SQL injection targets and apply secure-</a:t>
            </a:r>
            <a:r>
              <a:rPr lang="en-US" err="1">
                <a:ea typeface="+mn-lt"/>
                <a:cs typeface="+mn-lt"/>
              </a:rPr>
              <a:t>bydefault</a:t>
            </a:r>
            <a:r>
              <a:rPr lang="en-US" dirty="0">
                <a:ea typeface="+mn-lt"/>
                <a:cs typeface="+mn-lt"/>
              </a:rPr>
              <a:t> coding practices throughout our application logic to mitigate the risk of an unexpected injection vulnerability appearing.</a:t>
            </a:r>
          </a:p>
          <a:p>
            <a:endParaRPr lang="en-US" dirty="0">
              <a:cs typeface="Calibri"/>
            </a:endParaRPr>
          </a:p>
        </p:txBody>
      </p:sp>
    </p:spTree>
    <p:extLst>
      <p:ext uri="{BB962C8B-B14F-4D97-AF65-F5344CB8AC3E}">
        <p14:creationId xmlns:p14="http://schemas.microsoft.com/office/powerpoint/2010/main" val="428244945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E3EE9-3D82-226B-1737-05A3DCA1D007}"/>
              </a:ext>
            </a:extLst>
          </p:cNvPr>
          <p:cNvSpPr>
            <a:spLocks noGrp="1"/>
          </p:cNvSpPr>
          <p:nvPr>
            <p:ph type="title"/>
          </p:nvPr>
        </p:nvSpPr>
        <p:spPr>
          <a:xfrm>
            <a:off x="838200" y="63200"/>
            <a:ext cx="10515600" cy="1325563"/>
          </a:xfrm>
        </p:spPr>
        <p:txBody>
          <a:bodyPr/>
          <a:lstStyle/>
          <a:p>
            <a:r>
              <a:rPr lang="en-US" dirty="0">
                <a:ea typeface="+mj-lt"/>
                <a:cs typeface="+mj-lt"/>
              </a:rPr>
              <a:t>Potential Injection Targets</a:t>
            </a:r>
            <a:endParaRPr lang="en-US" dirty="0"/>
          </a:p>
        </p:txBody>
      </p:sp>
      <p:sp>
        <p:nvSpPr>
          <p:cNvPr id="3" name="Content Placeholder 2">
            <a:extLst>
              <a:ext uri="{FF2B5EF4-FFF2-40B4-BE49-F238E27FC236}">
                <a16:creationId xmlns:a16="http://schemas.microsoft.com/office/drawing/2014/main" id="{B468D8C0-6D0B-F281-22DD-513126B3D4B0}"/>
              </a:ext>
            </a:extLst>
          </p:cNvPr>
          <p:cNvSpPr>
            <a:spLocks noGrp="1"/>
          </p:cNvSpPr>
          <p:nvPr>
            <p:ph idx="1"/>
          </p:nvPr>
        </p:nvSpPr>
        <p:spPr>
          <a:xfrm>
            <a:off x="838200" y="1480569"/>
            <a:ext cx="10515600" cy="5156469"/>
          </a:xfrm>
        </p:spPr>
        <p:txBody>
          <a:bodyPr vert="horz" lIns="91440" tIns="45720" rIns="91440" bIns="45720" rtlCol="0" anchor="t">
            <a:normAutofit fontScale="92500" lnSpcReduction="10000"/>
          </a:bodyPr>
          <a:lstStyle/>
          <a:p>
            <a:r>
              <a:rPr lang="en-US" dirty="0">
                <a:ea typeface="+mn-lt"/>
                <a:cs typeface="+mn-lt"/>
              </a:rPr>
              <a:t>Typically, when on the lookout for injection, the following are high-risk targets: </a:t>
            </a:r>
          </a:p>
          <a:p>
            <a:pPr lvl="1">
              <a:buFont typeface="Courier New" panose="020B0604020202020204" pitchFamily="34" charset="0"/>
              <a:buChar char="o"/>
            </a:pPr>
            <a:r>
              <a:rPr lang="en-US" dirty="0">
                <a:ea typeface="+mn-lt"/>
                <a:cs typeface="+mn-lt"/>
              </a:rPr>
              <a:t>Task schedulers </a:t>
            </a:r>
          </a:p>
          <a:p>
            <a:pPr lvl="1">
              <a:buFont typeface="Courier New" panose="020B0604020202020204" pitchFamily="34" charset="0"/>
              <a:buChar char="o"/>
            </a:pPr>
            <a:r>
              <a:rPr lang="en-US" dirty="0">
                <a:ea typeface="+mn-lt"/>
                <a:cs typeface="+mn-lt"/>
              </a:rPr>
              <a:t>Compression/optimization libraries </a:t>
            </a:r>
            <a:endParaRPr lang="en-US">
              <a:ea typeface="+mn-lt"/>
              <a:cs typeface="+mn-lt"/>
            </a:endParaRPr>
          </a:p>
          <a:p>
            <a:pPr lvl="1">
              <a:buFont typeface="Courier New" panose="020B0604020202020204" pitchFamily="34" charset="0"/>
              <a:buChar char="o"/>
            </a:pPr>
            <a:r>
              <a:rPr lang="en-US" dirty="0">
                <a:ea typeface="+mn-lt"/>
                <a:cs typeface="+mn-lt"/>
              </a:rPr>
              <a:t>Remote backup scripts </a:t>
            </a:r>
          </a:p>
          <a:p>
            <a:pPr lvl="1">
              <a:buFont typeface="Courier New" panose="020B0604020202020204" pitchFamily="34" charset="0"/>
              <a:buChar char="o"/>
            </a:pPr>
            <a:r>
              <a:rPr lang="en-US" dirty="0">
                <a:ea typeface="+mn-lt"/>
                <a:cs typeface="+mn-lt"/>
              </a:rPr>
              <a:t>Databases </a:t>
            </a:r>
          </a:p>
          <a:p>
            <a:pPr lvl="1">
              <a:buFont typeface="Courier New" panose="020B0604020202020204" pitchFamily="34" charset="0"/>
              <a:buChar char="o"/>
            </a:pPr>
            <a:r>
              <a:rPr lang="en-US" dirty="0">
                <a:ea typeface="+mn-lt"/>
                <a:cs typeface="+mn-lt"/>
              </a:rPr>
              <a:t>Loggers </a:t>
            </a:r>
          </a:p>
          <a:p>
            <a:pPr lvl="1">
              <a:buFont typeface="Courier New" panose="020B0604020202020204" pitchFamily="34" charset="0"/>
              <a:buChar char="o"/>
            </a:pPr>
            <a:r>
              <a:rPr lang="en-US" dirty="0">
                <a:ea typeface="+mn-lt"/>
                <a:cs typeface="+mn-lt"/>
              </a:rPr>
              <a:t>Any call to the HOST OS </a:t>
            </a:r>
          </a:p>
          <a:p>
            <a:pPr lvl="1">
              <a:buFont typeface="Courier New" panose="020B0604020202020204" pitchFamily="34" charset="0"/>
              <a:buChar char="o"/>
            </a:pPr>
            <a:r>
              <a:rPr lang="en-US" dirty="0">
                <a:ea typeface="+mn-lt"/>
                <a:cs typeface="+mn-lt"/>
              </a:rPr>
              <a:t>Any interpreter or compiler </a:t>
            </a:r>
          </a:p>
          <a:p>
            <a:r>
              <a:rPr lang="en-US" dirty="0">
                <a:ea typeface="+mn-lt"/>
                <a:cs typeface="+mn-lt"/>
              </a:rPr>
              <a:t>When first ranking components of your web application for potential injection risk, compare them with the preceding list of high-risk targets. Those are your starting points for investigation. Dependencies can also be a risk, because many dependencies bring in their own (sub) dependencies that can often fall into one of those categories.</a:t>
            </a:r>
            <a:endParaRPr lang="en-US">
              <a:cs typeface="Calibri"/>
            </a:endParaRPr>
          </a:p>
        </p:txBody>
      </p:sp>
    </p:spTree>
    <p:extLst>
      <p:ext uri="{BB962C8B-B14F-4D97-AF65-F5344CB8AC3E}">
        <p14:creationId xmlns:p14="http://schemas.microsoft.com/office/powerpoint/2010/main" val="9567736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E472D-29F4-1449-DA9B-644323190478}"/>
              </a:ext>
            </a:extLst>
          </p:cNvPr>
          <p:cNvSpPr>
            <a:spLocks noGrp="1"/>
          </p:cNvSpPr>
          <p:nvPr>
            <p:ph type="title"/>
          </p:nvPr>
        </p:nvSpPr>
        <p:spPr/>
        <p:txBody>
          <a:bodyPr/>
          <a:lstStyle/>
          <a:p>
            <a:r>
              <a:rPr lang="en-US" dirty="0">
                <a:ea typeface="+mj-lt"/>
                <a:cs typeface="+mj-lt"/>
              </a:rPr>
              <a:t>Principle of Least Authority</a:t>
            </a:r>
            <a:endParaRPr lang="en-US" dirty="0"/>
          </a:p>
        </p:txBody>
      </p:sp>
      <p:sp>
        <p:nvSpPr>
          <p:cNvPr id="3" name="Content Placeholder 2">
            <a:extLst>
              <a:ext uri="{FF2B5EF4-FFF2-40B4-BE49-F238E27FC236}">
                <a16:creationId xmlns:a16="http://schemas.microsoft.com/office/drawing/2014/main" id="{C03EF35C-DE4F-B869-CA4E-C00EB34BE2F9}"/>
              </a:ext>
            </a:extLst>
          </p:cNvPr>
          <p:cNvSpPr>
            <a:spLocks noGrp="1"/>
          </p:cNvSpPr>
          <p:nvPr>
            <p:ph idx="1"/>
          </p:nvPr>
        </p:nvSpPr>
        <p:spPr/>
        <p:txBody>
          <a:bodyPr vert="horz" lIns="91440" tIns="45720" rIns="91440" bIns="45720" rtlCol="0" anchor="t">
            <a:normAutofit/>
          </a:bodyPr>
          <a:lstStyle/>
          <a:p>
            <a:r>
              <a:rPr lang="en-US" dirty="0">
                <a:ea typeface="+mn-lt"/>
                <a:cs typeface="+mn-lt"/>
              </a:rPr>
              <a:t>The principle states that in any system, each member of the system should only have access to the information and resources required to accomplish their job </a:t>
            </a:r>
          </a:p>
          <a:p>
            <a:endParaRPr lang="en-US" dirty="0">
              <a:cs typeface="Calibri"/>
            </a:endParaRPr>
          </a:p>
        </p:txBody>
      </p:sp>
      <p:pic>
        <p:nvPicPr>
          <p:cNvPr id="4" name="Picture 3" descr="A screenshot of a computer screen&#10;&#10;Description automatically generated">
            <a:extLst>
              <a:ext uri="{FF2B5EF4-FFF2-40B4-BE49-F238E27FC236}">
                <a16:creationId xmlns:a16="http://schemas.microsoft.com/office/drawing/2014/main" id="{93A2098C-F51A-404B-FF82-6F6A4CA6A34D}"/>
              </a:ext>
            </a:extLst>
          </p:cNvPr>
          <p:cNvPicPr>
            <a:picLocks noChangeAspect="1"/>
          </p:cNvPicPr>
          <p:nvPr/>
        </p:nvPicPr>
        <p:blipFill rotWithShape="1">
          <a:blip r:embed="rId2"/>
          <a:srcRect l="20543" t="31302" r="6021" b="21429"/>
          <a:stretch/>
        </p:blipFill>
        <p:spPr>
          <a:xfrm>
            <a:off x="1782792" y="3193446"/>
            <a:ext cx="8953294" cy="3240127"/>
          </a:xfrm>
          <a:prstGeom prst="rect">
            <a:avLst/>
          </a:prstGeom>
        </p:spPr>
      </p:pic>
    </p:spTree>
    <p:extLst>
      <p:ext uri="{BB962C8B-B14F-4D97-AF65-F5344CB8AC3E}">
        <p14:creationId xmlns:p14="http://schemas.microsoft.com/office/powerpoint/2010/main" val="202533752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90BD4-F5DD-C451-9C2E-1065282BFBB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9CB20B1-ED36-2A41-2344-99A36AE32D34}"/>
              </a:ext>
            </a:extLst>
          </p:cNvPr>
          <p:cNvSpPr>
            <a:spLocks noGrp="1"/>
          </p:cNvSpPr>
          <p:nvPr>
            <p:ph idx="1"/>
          </p:nvPr>
        </p:nvSpPr>
        <p:spPr/>
        <p:txBody>
          <a:bodyPr vert="horz" lIns="91440" tIns="45720" rIns="91440" bIns="45720" rtlCol="0" anchor="t">
            <a:normAutofit/>
          </a:bodyPr>
          <a:lstStyle/>
          <a:p>
            <a:r>
              <a:rPr lang="en-US" dirty="0">
                <a:ea typeface="+mn-lt"/>
                <a:cs typeface="+mn-lt"/>
              </a:rPr>
              <a:t>In the world of software, the principle can be applied as such: “each module in a software system should only have access to the data and functionality required for that module to operate correctly.”</a:t>
            </a:r>
          </a:p>
          <a:p>
            <a:r>
              <a:rPr lang="en-US" dirty="0">
                <a:ea typeface="+mn-lt"/>
                <a:cs typeface="+mn-lt"/>
              </a:rPr>
              <a:t>The principle of least authority may seem like a roadblock to developers—managing additional accounts, multiple keys, etc.—but proper implementation of this principle will limit the risk your application is exposed to in the case of a breach.</a:t>
            </a:r>
            <a:endParaRPr lang="en-US" dirty="0">
              <a:cs typeface="Calibri" panose="020F0502020204030204"/>
            </a:endParaRPr>
          </a:p>
        </p:txBody>
      </p:sp>
    </p:spTree>
    <p:extLst>
      <p:ext uri="{BB962C8B-B14F-4D97-AF65-F5344CB8AC3E}">
        <p14:creationId xmlns:p14="http://schemas.microsoft.com/office/powerpoint/2010/main" val="104439967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B1F80-3DC3-FC32-2EC6-594E667637F7}"/>
              </a:ext>
            </a:extLst>
          </p:cNvPr>
          <p:cNvSpPr>
            <a:spLocks noGrp="1"/>
          </p:cNvSpPr>
          <p:nvPr>
            <p:ph type="title"/>
          </p:nvPr>
        </p:nvSpPr>
        <p:spPr/>
        <p:txBody>
          <a:bodyPr/>
          <a:lstStyle/>
          <a:p>
            <a:r>
              <a:rPr lang="en-US" dirty="0">
                <a:ea typeface="+mj-lt"/>
                <a:cs typeface="+mj-lt"/>
              </a:rPr>
              <a:t>Whitelisting Commands</a:t>
            </a:r>
            <a:endParaRPr lang="en-US" dirty="0"/>
          </a:p>
        </p:txBody>
      </p:sp>
      <p:sp>
        <p:nvSpPr>
          <p:cNvPr id="3" name="Content Placeholder 2">
            <a:extLst>
              <a:ext uri="{FF2B5EF4-FFF2-40B4-BE49-F238E27FC236}">
                <a16:creationId xmlns:a16="http://schemas.microsoft.com/office/drawing/2014/main" id="{2D518717-CF9C-1F0E-2595-987EBE2B9FF3}"/>
              </a:ext>
            </a:extLst>
          </p:cNvPr>
          <p:cNvSpPr>
            <a:spLocks noGrp="1"/>
          </p:cNvSpPr>
          <p:nvPr>
            <p:ph idx="1"/>
          </p:nvPr>
        </p:nvSpPr>
        <p:spPr/>
        <p:txBody>
          <a:bodyPr vert="horz" lIns="91440" tIns="45720" rIns="91440" bIns="45720" rtlCol="0" anchor="t">
            <a:normAutofit/>
          </a:bodyPr>
          <a:lstStyle/>
          <a:p>
            <a:r>
              <a:rPr lang="en-US" dirty="0">
                <a:ea typeface="+mn-lt"/>
                <a:cs typeface="+mn-lt"/>
              </a:rPr>
              <a:t>The biggest risk for injection is a functionality in a web application where the client (user) sends commands to a server to be executed. This is a bad architectural practice, and should be avoided at all costs.</a:t>
            </a:r>
          </a:p>
          <a:p>
            <a:r>
              <a:rPr lang="en-US" dirty="0">
                <a:ea typeface="+mn-lt"/>
                <a:cs typeface="+mn-lt"/>
              </a:rPr>
              <a:t>Instead of allowing user commands to be interpreted literally by the server, a well-defined whitelist of user-available commands should be created. </a:t>
            </a:r>
          </a:p>
          <a:p>
            <a:r>
              <a:rPr lang="en-US" dirty="0">
                <a:ea typeface="+mn-lt"/>
                <a:cs typeface="+mn-lt"/>
              </a:rPr>
              <a:t>This, in addition to a well-defined acceptable syntax for commands (order, frequency, params), should be used together, all stored in whitelist format rather than blacklist format.</a:t>
            </a:r>
            <a:endParaRPr lang="en-US" dirty="0">
              <a:cs typeface="Calibri"/>
            </a:endParaRPr>
          </a:p>
        </p:txBody>
      </p:sp>
    </p:spTree>
    <p:extLst>
      <p:ext uri="{BB962C8B-B14F-4D97-AF65-F5344CB8AC3E}">
        <p14:creationId xmlns:p14="http://schemas.microsoft.com/office/powerpoint/2010/main" val="5738378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3E53B0C9-FC2D-ECA1-DE73-0B9F3C61BE66}"/>
              </a:ext>
            </a:extLst>
          </p:cNvPr>
          <p:cNvPicPr>
            <a:picLocks noGrp="1" noChangeAspect="1"/>
          </p:cNvPicPr>
          <p:nvPr>
            <p:ph idx="1"/>
          </p:nvPr>
        </p:nvPicPr>
        <p:blipFill rotWithShape="1">
          <a:blip r:embed="rId3"/>
          <a:srcRect l="19666" t="24092" r="25232" b="33003"/>
          <a:stretch/>
        </p:blipFill>
        <p:spPr>
          <a:xfrm>
            <a:off x="643467" y="1040851"/>
            <a:ext cx="10905066" cy="4776297"/>
          </a:xfrm>
          <a:prstGeom prst="rect">
            <a:avLst/>
          </a:prstGeom>
        </p:spPr>
      </p:pic>
    </p:spTree>
    <p:extLst>
      <p:ext uri="{BB962C8B-B14F-4D97-AF65-F5344CB8AC3E}">
        <p14:creationId xmlns:p14="http://schemas.microsoft.com/office/powerpoint/2010/main" val="152609845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12C6BCE2-60FF-7EAD-5B55-6B2444A3C2D6}"/>
              </a:ext>
            </a:extLst>
          </p:cNvPr>
          <p:cNvPicPr>
            <a:picLocks noGrp="1" noChangeAspect="1"/>
          </p:cNvPicPr>
          <p:nvPr>
            <p:ph idx="1"/>
          </p:nvPr>
        </p:nvPicPr>
        <p:blipFill rotWithShape="1">
          <a:blip r:embed="rId2"/>
          <a:srcRect l="20779" t="31023" r="30612" b="11551"/>
          <a:stretch/>
        </p:blipFill>
        <p:spPr>
          <a:xfrm>
            <a:off x="1904265" y="643466"/>
            <a:ext cx="8383469" cy="5571067"/>
          </a:xfrm>
          <a:prstGeom prst="rect">
            <a:avLst/>
          </a:prstGeom>
        </p:spPr>
      </p:pic>
    </p:spTree>
    <p:extLst>
      <p:ext uri="{BB962C8B-B14F-4D97-AF65-F5344CB8AC3E}">
        <p14:creationId xmlns:p14="http://schemas.microsoft.com/office/powerpoint/2010/main" val="56527048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5C41C-067F-3D69-CD90-C40F5EE4A527}"/>
              </a:ext>
            </a:extLst>
          </p:cNvPr>
          <p:cNvSpPr>
            <a:spLocks noGrp="1"/>
          </p:cNvSpPr>
          <p:nvPr>
            <p:ph type="ctrTitle"/>
          </p:nvPr>
        </p:nvSpPr>
        <p:spPr/>
        <p:txBody>
          <a:bodyPr/>
          <a:lstStyle/>
          <a:p>
            <a:r>
              <a:rPr lang="en-US" dirty="0">
                <a:cs typeface="Calibri Light"/>
              </a:rPr>
              <a:t>Defending Against DoS</a:t>
            </a:r>
            <a:endParaRPr lang="en-US" dirty="0"/>
          </a:p>
        </p:txBody>
      </p:sp>
      <p:sp>
        <p:nvSpPr>
          <p:cNvPr id="3" name="Content Placeholder 2">
            <a:extLst>
              <a:ext uri="{FF2B5EF4-FFF2-40B4-BE49-F238E27FC236}">
                <a16:creationId xmlns:a16="http://schemas.microsoft.com/office/drawing/2014/main" id="{404A5ED2-FE64-5C20-1249-66AEE333EDA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271082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C4D4DD-FEDA-E0D8-C7CF-A5398FDEBB3D}"/>
              </a:ext>
            </a:extLst>
          </p:cNvPr>
          <p:cNvSpPr>
            <a:spLocks noGrp="1"/>
          </p:cNvSpPr>
          <p:nvPr>
            <p:ph idx="1"/>
          </p:nvPr>
        </p:nvSpPr>
        <p:spPr>
          <a:xfrm>
            <a:off x="838200" y="373512"/>
            <a:ext cx="10515600" cy="6364167"/>
          </a:xfrm>
        </p:spPr>
        <p:txBody>
          <a:bodyPr vert="horz" lIns="91440" tIns="45720" rIns="91440" bIns="45720" rtlCol="0" anchor="t">
            <a:normAutofit/>
          </a:bodyPr>
          <a:lstStyle/>
          <a:p>
            <a:r>
              <a:rPr lang="en-US" dirty="0">
                <a:ea typeface="+mn-lt"/>
                <a:cs typeface="+mn-lt"/>
              </a:rPr>
              <a:t>DoS attacks are structured with one or more of the following results in mind:  </a:t>
            </a:r>
          </a:p>
          <a:p>
            <a:pPr lvl="1">
              <a:buFont typeface="Courier New" panose="020B0604020202020204" pitchFamily="34" charset="0"/>
              <a:buChar char="o"/>
            </a:pPr>
            <a:r>
              <a:rPr lang="en-US" dirty="0">
                <a:ea typeface="+mn-lt"/>
                <a:cs typeface="+mn-lt"/>
              </a:rPr>
              <a:t>Exhaust server resources </a:t>
            </a:r>
          </a:p>
          <a:p>
            <a:pPr lvl="1">
              <a:buFont typeface="Courier New" panose="020B0604020202020204" pitchFamily="34" charset="0"/>
              <a:buChar char="o"/>
            </a:pPr>
            <a:r>
              <a:rPr lang="en-US" dirty="0">
                <a:ea typeface="+mn-lt"/>
                <a:cs typeface="+mn-lt"/>
              </a:rPr>
              <a:t>Exhaust client resources </a:t>
            </a:r>
            <a:endParaRPr lang="en-US">
              <a:ea typeface="+mn-lt"/>
              <a:cs typeface="+mn-lt"/>
            </a:endParaRPr>
          </a:p>
          <a:p>
            <a:pPr lvl="1">
              <a:buFont typeface="Courier New" panose="020B0604020202020204" pitchFamily="34" charset="0"/>
              <a:buChar char="o"/>
            </a:pPr>
            <a:r>
              <a:rPr lang="en-US" dirty="0">
                <a:ea typeface="+mn-lt"/>
                <a:cs typeface="+mn-lt"/>
              </a:rPr>
              <a:t>Request unavailable resources</a:t>
            </a:r>
          </a:p>
          <a:p>
            <a:r>
              <a:rPr lang="en-US" dirty="0">
                <a:ea typeface="+mn-lt"/>
                <a:cs typeface="+mn-lt"/>
              </a:rPr>
              <a:t>a first measure against DoS-style attacks should be building up a comprehensive enough logging system in your server that all requests are logged alongside their time to respond. </a:t>
            </a:r>
          </a:p>
          <a:p>
            <a:r>
              <a:rPr lang="en-US" dirty="0">
                <a:ea typeface="+mn-lt"/>
                <a:cs typeface="+mn-lt"/>
              </a:rPr>
              <a:t>Manually log the performance of any type of async “job"-style functions, such as a backup that is called through your API but runs in the background and does not generate a response once it completes.</a:t>
            </a:r>
          </a:p>
          <a:p>
            <a:r>
              <a:rPr lang="en-US" dirty="0">
                <a:ea typeface="+mn-lt"/>
                <a:cs typeface="+mn-lt"/>
              </a:rPr>
              <a:t> Doing this will allow you to find any attempts (accidental or malicious) at exploiting a DoS vulnerability (server side) that would have otherwise been difficult and time-consuming.</a:t>
            </a:r>
            <a:endParaRPr lang="en-US">
              <a:cs typeface="Calibri"/>
            </a:endParaRPr>
          </a:p>
        </p:txBody>
      </p:sp>
    </p:spTree>
    <p:extLst>
      <p:ext uri="{BB962C8B-B14F-4D97-AF65-F5344CB8AC3E}">
        <p14:creationId xmlns:p14="http://schemas.microsoft.com/office/powerpoint/2010/main" val="258203650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E0650-1E24-99DA-9168-CC449244C510}"/>
              </a:ext>
            </a:extLst>
          </p:cNvPr>
          <p:cNvSpPr>
            <a:spLocks noGrp="1"/>
          </p:cNvSpPr>
          <p:nvPr>
            <p:ph type="title"/>
          </p:nvPr>
        </p:nvSpPr>
        <p:spPr/>
        <p:txBody>
          <a:bodyPr/>
          <a:lstStyle/>
          <a:p>
            <a:r>
              <a:rPr lang="en-US" dirty="0">
                <a:ea typeface="+mj-lt"/>
                <a:cs typeface="+mj-lt"/>
              </a:rPr>
              <a:t>Protecting Against Regex DoS</a:t>
            </a:r>
            <a:endParaRPr lang="en-US" dirty="0"/>
          </a:p>
        </p:txBody>
      </p:sp>
      <p:sp>
        <p:nvSpPr>
          <p:cNvPr id="3" name="Content Placeholder 2">
            <a:extLst>
              <a:ext uri="{FF2B5EF4-FFF2-40B4-BE49-F238E27FC236}">
                <a16:creationId xmlns:a16="http://schemas.microsoft.com/office/drawing/2014/main" id="{50487CB8-1913-A79C-B137-71972383C6E6}"/>
              </a:ext>
            </a:extLst>
          </p:cNvPr>
          <p:cNvSpPr>
            <a:spLocks noGrp="1"/>
          </p:cNvSpPr>
          <p:nvPr>
            <p:ph idx="1"/>
          </p:nvPr>
        </p:nvSpPr>
        <p:spPr>
          <a:xfrm>
            <a:off x="838200" y="1825625"/>
            <a:ext cx="10515600" cy="4825790"/>
          </a:xfrm>
        </p:spPr>
        <p:txBody>
          <a:bodyPr vert="horz" lIns="91440" tIns="45720" rIns="91440" bIns="45720" rtlCol="0" anchor="t">
            <a:normAutofit/>
          </a:bodyPr>
          <a:lstStyle/>
          <a:p>
            <a:r>
              <a:rPr lang="en-US" dirty="0">
                <a:ea typeface="+mn-lt"/>
                <a:cs typeface="+mn-lt"/>
              </a:rPr>
              <a:t>Here are some strategies to protect against Regex DoS:</a:t>
            </a:r>
            <a:endParaRPr lang="en-US" dirty="0">
              <a:cs typeface="Calibri" panose="020F0502020204030204"/>
            </a:endParaRPr>
          </a:p>
          <a:p>
            <a:pPr lvl="1"/>
            <a:r>
              <a:rPr lang="en-US" b="1" dirty="0">
                <a:ea typeface="+mn-lt"/>
                <a:cs typeface="+mn-lt"/>
              </a:rPr>
              <a:t>Limit Input Length:</a:t>
            </a:r>
            <a:endParaRPr lang="en-US" dirty="0">
              <a:cs typeface="Calibri"/>
            </a:endParaRPr>
          </a:p>
          <a:p>
            <a:pPr lvl="1"/>
            <a:r>
              <a:rPr lang="en-US" b="1" dirty="0">
                <a:ea typeface="+mn-lt"/>
                <a:cs typeface="+mn-lt"/>
              </a:rPr>
              <a:t>Avoid Excessive Backtracking:</a:t>
            </a:r>
            <a:endParaRPr lang="en-US" dirty="0">
              <a:cs typeface="Calibri"/>
            </a:endParaRPr>
          </a:p>
          <a:p>
            <a:pPr lvl="1"/>
            <a:r>
              <a:rPr lang="en-US" b="1" dirty="0">
                <a:ea typeface="+mn-lt"/>
                <a:cs typeface="+mn-lt"/>
              </a:rPr>
              <a:t>Use Possessive Quantifiers:</a:t>
            </a:r>
            <a:endParaRPr lang="en-US" dirty="0">
              <a:cs typeface="Calibri"/>
            </a:endParaRPr>
          </a:p>
          <a:p>
            <a:pPr lvl="1"/>
            <a:r>
              <a:rPr lang="en-US" b="1" dirty="0">
                <a:ea typeface="+mn-lt"/>
                <a:cs typeface="+mn-lt"/>
              </a:rPr>
              <a:t>Use Atomic Groups:</a:t>
            </a:r>
            <a:endParaRPr lang="en-US" dirty="0">
              <a:cs typeface="Calibri"/>
            </a:endParaRPr>
          </a:p>
          <a:p>
            <a:pPr lvl="1"/>
            <a:r>
              <a:rPr lang="en-US" b="1" dirty="0">
                <a:ea typeface="+mn-lt"/>
                <a:cs typeface="+mn-lt"/>
              </a:rPr>
              <a:t>Limit Repetition:</a:t>
            </a:r>
            <a:endParaRPr lang="en-US" dirty="0">
              <a:cs typeface="Calibri"/>
            </a:endParaRPr>
          </a:p>
          <a:p>
            <a:pPr lvl="1"/>
            <a:r>
              <a:rPr lang="en-US" b="1" dirty="0">
                <a:ea typeface="+mn-lt"/>
                <a:cs typeface="+mn-lt"/>
              </a:rPr>
              <a:t>Precompute Regular Expressions:</a:t>
            </a:r>
            <a:endParaRPr lang="en-US" dirty="0">
              <a:cs typeface="Calibri"/>
            </a:endParaRPr>
          </a:p>
          <a:p>
            <a:pPr lvl="1"/>
            <a:r>
              <a:rPr lang="en-US" b="1" dirty="0">
                <a:ea typeface="+mn-lt"/>
                <a:cs typeface="+mn-lt"/>
              </a:rPr>
              <a:t>Rate Limiting:</a:t>
            </a:r>
            <a:endParaRPr lang="en-US" dirty="0">
              <a:cs typeface="Calibri"/>
            </a:endParaRPr>
          </a:p>
          <a:p>
            <a:pPr lvl="1"/>
            <a:r>
              <a:rPr lang="en-US" b="1" dirty="0">
                <a:ea typeface="+mn-lt"/>
                <a:cs typeface="+mn-lt"/>
              </a:rPr>
              <a:t>Use Library Features:</a:t>
            </a:r>
            <a:endParaRPr lang="en-US" dirty="0">
              <a:cs typeface="Calibri"/>
            </a:endParaRPr>
          </a:p>
          <a:p>
            <a:pPr lvl="1"/>
            <a:r>
              <a:rPr lang="en-US" b="1" dirty="0">
                <a:ea typeface="+mn-lt"/>
                <a:cs typeface="+mn-lt"/>
              </a:rPr>
              <a:t>Input Whitelisting:</a:t>
            </a:r>
            <a:endParaRPr lang="en-US" dirty="0">
              <a:cs typeface="Calibri"/>
            </a:endParaRPr>
          </a:p>
          <a:p>
            <a:pPr lvl="1"/>
            <a:r>
              <a:rPr lang="en-US" b="1" dirty="0">
                <a:ea typeface="+mn-lt"/>
                <a:cs typeface="+mn-lt"/>
              </a:rPr>
              <a:t>Runtime Monitoring:</a:t>
            </a:r>
            <a:endParaRPr lang="en-US" dirty="0">
              <a:cs typeface="Calibri" panose="020F0502020204030204"/>
            </a:endParaRPr>
          </a:p>
          <a:p>
            <a:pPr marL="457200" lvl="1" indent="0">
              <a:buNone/>
            </a:pPr>
            <a:endParaRPr lang="en-US">
              <a:cs typeface="Calibri" panose="020F0502020204030204"/>
            </a:endParaRPr>
          </a:p>
          <a:p>
            <a:endParaRPr lang="en-US" dirty="0">
              <a:cs typeface="Calibri"/>
            </a:endParaRPr>
          </a:p>
        </p:txBody>
      </p:sp>
    </p:spTree>
    <p:extLst>
      <p:ext uri="{BB962C8B-B14F-4D97-AF65-F5344CB8AC3E}">
        <p14:creationId xmlns:p14="http://schemas.microsoft.com/office/powerpoint/2010/main" val="63864870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1D936-DBF9-5406-B22C-A9F71469B7DF}"/>
              </a:ext>
            </a:extLst>
          </p:cNvPr>
          <p:cNvSpPr>
            <a:spLocks noGrp="1"/>
          </p:cNvSpPr>
          <p:nvPr>
            <p:ph type="title"/>
          </p:nvPr>
        </p:nvSpPr>
        <p:spPr/>
        <p:txBody>
          <a:bodyPr/>
          <a:lstStyle/>
          <a:p>
            <a:r>
              <a:rPr lang="en-US" dirty="0">
                <a:ea typeface="+mj-lt"/>
                <a:cs typeface="+mj-lt"/>
              </a:rPr>
              <a:t>Protecting Against Logical DoS</a:t>
            </a:r>
            <a:endParaRPr lang="en-US" dirty="0"/>
          </a:p>
        </p:txBody>
      </p:sp>
      <p:sp>
        <p:nvSpPr>
          <p:cNvPr id="3" name="Content Placeholder 2">
            <a:extLst>
              <a:ext uri="{FF2B5EF4-FFF2-40B4-BE49-F238E27FC236}">
                <a16:creationId xmlns:a16="http://schemas.microsoft.com/office/drawing/2014/main" id="{7BE23170-72A8-7539-FFF1-77C25A97E8AA}"/>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Logical Denial of Service (Logical DoS) attacks, also known as Algorithmic Complexity Attacks, involve exploiting the inherent complexity of algorithms to consume excessive computational resources and degrade the performance of a system. These attacks often target algorithms that have high worst-case time complexity. </a:t>
            </a:r>
            <a:endParaRPr lang="en-US">
              <a:solidFill>
                <a:srgbClr val="000000"/>
              </a:solidFill>
              <a:ea typeface="+mn-lt"/>
              <a:cs typeface="+mn-lt"/>
            </a:endParaRPr>
          </a:p>
          <a:p>
            <a:endParaRPr lang="en-US" dirty="0">
              <a:solidFill>
                <a:srgbClr val="000000"/>
              </a:solidFill>
              <a:cs typeface="Calibri"/>
            </a:endParaRPr>
          </a:p>
        </p:txBody>
      </p:sp>
    </p:spTree>
    <p:extLst>
      <p:ext uri="{BB962C8B-B14F-4D97-AF65-F5344CB8AC3E}">
        <p14:creationId xmlns:p14="http://schemas.microsoft.com/office/powerpoint/2010/main" val="355554045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ADB2B6-D6D4-4574-E8A6-35540F89C45B}"/>
              </a:ext>
            </a:extLst>
          </p:cNvPr>
          <p:cNvSpPr>
            <a:spLocks noGrp="1"/>
          </p:cNvSpPr>
          <p:nvPr>
            <p:ph idx="1"/>
          </p:nvPr>
        </p:nvSpPr>
        <p:spPr>
          <a:xfrm>
            <a:off x="838200" y="416644"/>
            <a:ext cx="10515600" cy="5760319"/>
          </a:xfrm>
        </p:spPr>
        <p:txBody>
          <a:bodyPr vert="horz" lIns="91440" tIns="45720" rIns="91440" bIns="45720" rtlCol="0" anchor="t">
            <a:normAutofit/>
          </a:bodyPr>
          <a:lstStyle/>
          <a:p>
            <a:r>
              <a:rPr lang="en-US" b="1" dirty="0">
                <a:ea typeface="+mn-lt"/>
                <a:cs typeface="+mn-lt"/>
              </a:rPr>
              <a:t>Limit Input Complexity:</a:t>
            </a:r>
            <a:endParaRPr lang="en-US" dirty="0">
              <a:cs typeface="Calibri" panose="020F0502020204030204"/>
            </a:endParaRPr>
          </a:p>
          <a:p>
            <a:r>
              <a:rPr lang="en-US" b="1" dirty="0">
                <a:ea typeface="+mn-lt"/>
                <a:cs typeface="+mn-lt"/>
              </a:rPr>
              <a:t>Rate Limiting:</a:t>
            </a:r>
            <a:endParaRPr lang="en-US" dirty="0"/>
          </a:p>
          <a:p>
            <a:r>
              <a:rPr lang="en-US" b="1" dirty="0">
                <a:ea typeface="+mn-lt"/>
                <a:cs typeface="+mn-lt"/>
              </a:rPr>
              <a:t>Resource Quotas:</a:t>
            </a:r>
            <a:endParaRPr lang="en-US" dirty="0"/>
          </a:p>
          <a:p>
            <a:r>
              <a:rPr lang="en-US" b="1" dirty="0">
                <a:ea typeface="+mn-lt"/>
                <a:cs typeface="+mn-lt"/>
              </a:rPr>
              <a:t>Timeouts and Deadlines:</a:t>
            </a:r>
            <a:endParaRPr lang="en-US" dirty="0"/>
          </a:p>
          <a:p>
            <a:r>
              <a:rPr lang="en-US" b="1" dirty="0">
                <a:ea typeface="+mn-lt"/>
                <a:cs typeface="+mn-lt"/>
              </a:rPr>
              <a:t>Parallelization Limits:</a:t>
            </a:r>
            <a:endParaRPr lang="en-US" dirty="0"/>
          </a:p>
          <a:p>
            <a:r>
              <a:rPr lang="en-US" b="1" dirty="0">
                <a:ea typeface="+mn-lt"/>
                <a:cs typeface="+mn-lt"/>
              </a:rPr>
              <a:t>Algorithmic Complexity Analysis:</a:t>
            </a:r>
            <a:endParaRPr lang="en-US" dirty="0"/>
          </a:p>
          <a:p>
            <a:r>
              <a:rPr lang="en-US" b="1" dirty="0">
                <a:ea typeface="+mn-lt"/>
                <a:cs typeface="+mn-lt"/>
              </a:rPr>
              <a:t>Use Efficient Data Structures:</a:t>
            </a:r>
            <a:endParaRPr lang="en-US" dirty="0"/>
          </a:p>
          <a:p>
            <a:r>
              <a:rPr lang="en-US" b="1" dirty="0">
                <a:ea typeface="+mn-lt"/>
                <a:cs typeface="+mn-lt"/>
              </a:rPr>
              <a:t>Caching and </a:t>
            </a:r>
            <a:r>
              <a:rPr lang="en-US" b="1" dirty="0" err="1">
                <a:ea typeface="+mn-lt"/>
                <a:cs typeface="+mn-lt"/>
              </a:rPr>
              <a:t>Memoization</a:t>
            </a:r>
            <a:r>
              <a:rPr lang="en-US" b="1" dirty="0">
                <a:ea typeface="+mn-lt"/>
                <a:cs typeface="+mn-lt"/>
              </a:rPr>
              <a:t>:</a:t>
            </a:r>
            <a:endParaRPr lang="en-US" dirty="0"/>
          </a:p>
          <a:p>
            <a:r>
              <a:rPr lang="en-US" b="1" dirty="0">
                <a:ea typeface="+mn-lt"/>
                <a:cs typeface="+mn-lt"/>
              </a:rPr>
              <a:t>Heuristic Detection:</a:t>
            </a:r>
            <a:endParaRPr lang="en-US" dirty="0"/>
          </a:p>
          <a:p>
            <a:r>
              <a:rPr lang="en-US" b="1" dirty="0">
                <a:ea typeface="+mn-lt"/>
                <a:cs typeface="+mn-lt"/>
              </a:rPr>
              <a:t>Regular Security Audits:</a:t>
            </a:r>
            <a:endParaRPr lang="en-US" dirty="0"/>
          </a:p>
          <a:p>
            <a:endParaRPr lang="en-US" dirty="0">
              <a:cs typeface="Calibri"/>
            </a:endParaRPr>
          </a:p>
        </p:txBody>
      </p:sp>
    </p:spTree>
    <p:extLst>
      <p:ext uri="{BB962C8B-B14F-4D97-AF65-F5344CB8AC3E}">
        <p14:creationId xmlns:p14="http://schemas.microsoft.com/office/powerpoint/2010/main" val="17625700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FFF58-2411-EF72-CE18-41829580DA2A}"/>
              </a:ext>
            </a:extLst>
          </p:cNvPr>
          <p:cNvSpPr>
            <a:spLocks noGrp="1"/>
          </p:cNvSpPr>
          <p:nvPr>
            <p:ph type="title"/>
          </p:nvPr>
        </p:nvSpPr>
        <p:spPr>
          <a:xfrm>
            <a:off x="838200" y="221351"/>
            <a:ext cx="10515600" cy="966129"/>
          </a:xfrm>
        </p:spPr>
        <p:txBody>
          <a:bodyPr/>
          <a:lstStyle/>
          <a:p>
            <a:r>
              <a:rPr lang="en-US" dirty="0">
                <a:ea typeface="+mj-lt"/>
                <a:cs typeface="+mj-lt"/>
              </a:rPr>
              <a:t>DDoS Mitigation</a:t>
            </a:r>
            <a:endParaRPr lang="en-US" dirty="0"/>
          </a:p>
        </p:txBody>
      </p:sp>
      <p:sp>
        <p:nvSpPr>
          <p:cNvPr id="3" name="Content Placeholder 2">
            <a:extLst>
              <a:ext uri="{FF2B5EF4-FFF2-40B4-BE49-F238E27FC236}">
                <a16:creationId xmlns:a16="http://schemas.microsoft.com/office/drawing/2014/main" id="{05D07B6C-E2FA-7607-7A0D-768139E42150}"/>
              </a:ext>
            </a:extLst>
          </p:cNvPr>
          <p:cNvSpPr>
            <a:spLocks noGrp="1"/>
          </p:cNvSpPr>
          <p:nvPr>
            <p:ph idx="1"/>
          </p:nvPr>
        </p:nvSpPr>
        <p:spPr>
          <a:xfrm>
            <a:off x="838200" y="1207399"/>
            <a:ext cx="10515600" cy="5530280"/>
          </a:xfrm>
        </p:spPr>
        <p:txBody>
          <a:bodyPr vert="horz" lIns="91440" tIns="45720" rIns="91440" bIns="45720" rtlCol="0" anchor="t">
            <a:normAutofit/>
          </a:bodyPr>
          <a:lstStyle/>
          <a:p>
            <a:r>
              <a:rPr lang="en-US" dirty="0">
                <a:ea typeface="+mn-lt"/>
                <a:cs typeface="+mn-lt"/>
              </a:rPr>
              <a:t>The easiest way to defend your web application against a DDoS attack is to invest in a bandwidth management service. </a:t>
            </a:r>
          </a:p>
          <a:p>
            <a:r>
              <a:rPr lang="en-US" dirty="0">
                <a:ea typeface="+mn-lt"/>
                <a:cs typeface="+mn-lt"/>
              </a:rPr>
              <a:t>These services are developed by many vendors on the market, but ultimately perform analysis on each packet as it passes through their servers. </a:t>
            </a:r>
          </a:p>
          <a:p>
            <a:r>
              <a:rPr lang="en-US" dirty="0">
                <a:ea typeface="+mn-lt"/>
                <a:cs typeface="+mn-lt"/>
              </a:rPr>
              <a:t>The services run well-established scans on the packet to determine if it appears to be coming in a malicious pattern or not. </a:t>
            </a:r>
            <a:endParaRPr lang="en-US">
              <a:ea typeface="+mn-lt"/>
              <a:cs typeface="+mn-lt"/>
            </a:endParaRPr>
          </a:p>
          <a:p>
            <a:r>
              <a:rPr lang="en-US" dirty="0">
                <a:ea typeface="+mn-lt"/>
                <a:cs typeface="+mn-lt"/>
              </a:rPr>
              <a:t>If a packet is determined to be malicious, it will not be forwarded to your web server.</a:t>
            </a:r>
          </a:p>
          <a:p>
            <a:r>
              <a:rPr lang="en-US" dirty="0">
                <a:ea typeface="+mn-lt"/>
                <a:cs typeface="+mn-lt"/>
              </a:rPr>
              <a:t>These bandwidth management services are effective because they are capable of intercepting large quantities of network requests, while your application’s infrastructure is likely not.</a:t>
            </a:r>
            <a:endParaRPr lang="en-US" dirty="0">
              <a:cs typeface="Calibri"/>
            </a:endParaRPr>
          </a:p>
        </p:txBody>
      </p:sp>
    </p:spTree>
    <p:extLst>
      <p:ext uri="{BB962C8B-B14F-4D97-AF65-F5344CB8AC3E}">
        <p14:creationId xmlns:p14="http://schemas.microsoft.com/office/powerpoint/2010/main" val="26558627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7A9A7-79DB-3EB1-7B38-88C7EA1682EF}"/>
              </a:ext>
            </a:extLst>
          </p:cNvPr>
          <p:cNvSpPr>
            <a:spLocks noGrp="1"/>
          </p:cNvSpPr>
          <p:nvPr>
            <p:ph type="title"/>
          </p:nvPr>
        </p:nvSpPr>
        <p:spPr/>
        <p:txBody>
          <a:bodyPr/>
          <a:lstStyle/>
          <a:p>
            <a:r>
              <a:rPr lang="en-US" dirty="0">
                <a:ea typeface="+mj-lt"/>
                <a:cs typeface="+mj-lt"/>
              </a:rPr>
              <a:t>blackholing</a:t>
            </a:r>
            <a:endParaRPr lang="en-US" dirty="0"/>
          </a:p>
        </p:txBody>
      </p:sp>
      <p:sp>
        <p:nvSpPr>
          <p:cNvPr id="3" name="Content Placeholder 2">
            <a:extLst>
              <a:ext uri="{FF2B5EF4-FFF2-40B4-BE49-F238E27FC236}">
                <a16:creationId xmlns:a16="http://schemas.microsoft.com/office/drawing/2014/main" id="{3F7DF520-0D8B-E5CF-6688-623F983712FD}"/>
              </a:ext>
            </a:extLst>
          </p:cNvPr>
          <p:cNvSpPr>
            <a:spLocks noGrp="1"/>
          </p:cNvSpPr>
          <p:nvPr>
            <p:ph idx="1"/>
          </p:nvPr>
        </p:nvSpPr>
        <p:spPr>
          <a:xfrm>
            <a:off x="838200" y="1825625"/>
            <a:ext cx="10515600" cy="4782658"/>
          </a:xfrm>
        </p:spPr>
        <p:txBody>
          <a:bodyPr vert="horz" lIns="91440" tIns="45720" rIns="91440" bIns="45720" rtlCol="0" anchor="t">
            <a:normAutofit/>
          </a:bodyPr>
          <a:lstStyle/>
          <a:p>
            <a:r>
              <a:rPr lang="en-US" dirty="0">
                <a:ea typeface="+mn-lt"/>
                <a:cs typeface="+mn-lt"/>
              </a:rPr>
              <a:t>Suspicious-looking (or repeated) traffic is sent to a blackhole server, which appears to function like your application sever, but performs no operations. </a:t>
            </a:r>
          </a:p>
          <a:p>
            <a:r>
              <a:rPr lang="en-US" dirty="0">
                <a:ea typeface="+mn-lt"/>
                <a:cs typeface="+mn-lt"/>
              </a:rPr>
              <a:t>Legitimate traffic is routed to your legitimate web application server as usual. </a:t>
            </a:r>
          </a:p>
          <a:p>
            <a:r>
              <a:rPr lang="en-US" dirty="0">
                <a:ea typeface="+mn-lt"/>
                <a:cs typeface="+mn-lt"/>
              </a:rPr>
              <a:t>Unfortunately, while black holes are effective at rerouting malicious traffic, they may also reroute legitimate traffic if not targeted with sufficient accuracy. </a:t>
            </a:r>
            <a:endParaRPr lang="en-US"/>
          </a:p>
          <a:p>
            <a:r>
              <a:rPr lang="en-US" dirty="0">
                <a:ea typeface="+mn-lt"/>
                <a:cs typeface="+mn-lt"/>
              </a:rPr>
              <a:t>Blackholes do a good job against small DDoS attacks, but do not perform well against large-scale DDoS attacks.</a:t>
            </a:r>
            <a:endParaRPr lang="en-US">
              <a:cs typeface="Calibri"/>
            </a:endParaRPr>
          </a:p>
        </p:txBody>
      </p:sp>
    </p:spTree>
    <p:extLst>
      <p:ext uri="{BB962C8B-B14F-4D97-AF65-F5344CB8AC3E}">
        <p14:creationId xmlns:p14="http://schemas.microsoft.com/office/powerpoint/2010/main" val="121962996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D03B3-D50E-2291-72FD-DF511405DC13}"/>
              </a:ext>
            </a:extLst>
          </p:cNvPr>
          <p:cNvSpPr>
            <a:spLocks noGrp="1"/>
          </p:cNvSpPr>
          <p:nvPr>
            <p:ph type="title"/>
          </p:nvPr>
        </p:nvSpPr>
        <p:spPr>
          <a:xfrm>
            <a:off x="838200" y="365125"/>
            <a:ext cx="10515600" cy="879865"/>
          </a:xfrm>
        </p:spPr>
        <p:txBody>
          <a:bodyPr/>
          <a:lstStyle/>
          <a:p>
            <a:r>
              <a:rPr lang="en-US" dirty="0">
                <a:ea typeface="+mj-lt"/>
                <a:cs typeface="+mj-lt"/>
              </a:rPr>
              <a:t>Defending Against CORS-Based Attacks</a:t>
            </a:r>
            <a:endParaRPr lang="en-US" dirty="0"/>
          </a:p>
        </p:txBody>
      </p:sp>
      <p:sp>
        <p:nvSpPr>
          <p:cNvPr id="3" name="Content Placeholder 2">
            <a:extLst>
              <a:ext uri="{FF2B5EF4-FFF2-40B4-BE49-F238E27FC236}">
                <a16:creationId xmlns:a16="http://schemas.microsoft.com/office/drawing/2014/main" id="{474C6459-DB76-238B-31AC-199E41171DD5}"/>
              </a:ext>
            </a:extLst>
          </p:cNvPr>
          <p:cNvSpPr>
            <a:spLocks noGrp="1"/>
          </p:cNvSpPr>
          <p:nvPr>
            <p:ph idx="1"/>
          </p:nvPr>
        </p:nvSpPr>
        <p:spPr>
          <a:xfrm>
            <a:off x="838200" y="1264909"/>
            <a:ext cx="10515600" cy="5228355"/>
          </a:xfrm>
        </p:spPr>
        <p:txBody>
          <a:bodyPr vert="horz" lIns="91440" tIns="45720" rIns="91440" bIns="45720" rtlCol="0" anchor="t">
            <a:normAutofit/>
          </a:bodyPr>
          <a:lstStyle/>
          <a:p>
            <a:r>
              <a:rPr lang="en-US" dirty="0">
                <a:ea typeface="+mn-lt"/>
                <a:cs typeface="+mn-lt"/>
              </a:rPr>
              <a:t>Cross-Origin Resource Sharing (CORS) is a security feature implemented by web browsers to restrict how resources on a web page can be requested from a different domain than the one that served the page.</a:t>
            </a:r>
          </a:p>
          <a:p>
            <a:r>
              <a:rPr lang="en-US" dirty="0">
                <a:ea typeface="+mn-lt"/>
                <a:cs typeface="+mn-lt"/>
              </a:rPr>
              <a:t>CORS allows web applications to bypass the </a:t>
            </a:r>
            <a:r>
              <a:rPr lang="en-US" b="1" dirty="0">
                <a:ea typeface="+mn-lt"/>
                <a:cs typeface="+mn-lt"/>
              </a:rPr>
              <a:t>Same-Origin Policy (SOP)</a:t>
            </a:r>
            <a:r>
              <a:rPr lang="en-US" dirty="0">
                <a:ea typeface="+mn-lt"/>
                <a:cs typeface="+mn-lt"/>
              </a:rPr>
              <a:t> when necessary, enabling controlled cross-origin requests. However, </a:t>
            </a:r>
            <a:r>
              <a:rPr lang="en-US" b="1" dirty="0">
                <a:ea typeface="+mn-lt"/>
                <a:cs typeface="+mn-lt"/>
              </a:rPr>
              <a:t>misconfigurations</a:t>
            </a:r>
            <a:r>
              <a:rPr lang="en-US" dirty="0">
                <a:ea typeface="+mn-lt"/>
                <a:cs typeface="+mn-lt"/>
              </a:rPr>
              <a:t> can lead to security </a:t>
            </a:r>
            <a:r>
              <a:rPr lang="en-US">
                <a:ea typeface="+mn-lt"/>
                <a:cs typeface="+mn-lt"/>
              </a:rPr>
              <a:t>vulnerabilities.</a:t>
            </a:r>
          </a:p>
          <a:p>
            <a:pPr lvl="1">
              <a:buFont typeface="Courier New" panose="020B0604020202020204" pitchFamily="34" charset="0"/>
              <a:buChar char="o"/>
            </a:pPr>
            <a:r>
              <a:rPr lang="en-US" b="1" dirty="0">
                <a:ea typeface="+mn-lt"/>
                <a:cs typeface="+mn-lt"/>
              </a:rPr>
              <a:t>Overly Permissive Policies</a:t>
            </a:r>
            <a:r>
              <a:rPr lang="en-US" dirty="0">
                <a:ea typeface="+mn-lt"/>
                <a:cs typeface="+mn-lt"/>
              </a:rPr>
              <a:t> (</a:t>
            </a:r>
            <a:r>
              <a:rPr lang="en-US" dirty="0">
                <a:latin typeface="Consolas"/>
                <a:ea typeface="Calibri" panose="020F0502020204030204"/>
                <a:cs typeface="Calibri" panose="020F0502020204030204"/>
              </a:rPr>
              <a:t>Access-Control-Allow-Origin: *</a:t>
            </a:r>
            <a:r>
              <a:rPr lang="en-US" dirty="0">
                <a:ea typeface="+mn-lt"/>
                <a:cs typeface="+mn-lt"/>
              </a:rPr>
              <a:t>)</a:t>
            </a:r>
            <a:endParaRPr lang="en-US" dirty="0">
              <a:ea typeface="Calibri" panose="020F0502020204030204"/>
              <a:cs typeface="Calibri" panose="020F0502020204030204"/>
            </a:endParaRPr>
          </a:p>
          <a:p>
            <a:pPr lvl="1">
              <a:buFont typeface="Courier New" panose="020B0604020202020204" pitchFamily="34" charset="0"/>
              <a:buChar char="o"/>
            </a:pPr>
            <a:r>
              <a:rPr lang="en-US" b="1">
                <a:ea typeface="+mn-lt"/>
                <a:cs typeface="+mn-lt"/>
              </a:rPr>
              <a:t>Misuse of Credentials (</a:t>
            </a:r>
            <a:r>
              <a:rPr lang="en-US" b="1">
                <a:latin typeface="Consolas"/>
                <a:ea typeface="Calibri" panose="020F0502020204030204"/>
                <a:cs typeface="Calibri" panose="020F0502020204030204"/>
              </a:rPr>
              <a:t>Access-Control-Allow-Credentials: true</a:t>
            </a:r>
            <a:r>
              <a:rPr lang="en-US" b="1">
                <a:ea typeface="+mn-lt"/>
                <a:cs typeface="+mn-lt"/>
              </a:rPr>
              <a:t>)</a:t>
            </a:r>
            <a:endParaRPr lang="en-US">
              <a:ea typeface="Calibri"/>
              <a:cs typeface="Calibri"/>
            </a:endParaRPr>
          </a:p>
          <a:p>
            <a:pPr lvl="1">
              <a:buFont typeface="Courier New" panose="020B0604020202020204" pitchFamily="34" charset="0"/>
              <a:buChar char="o"/>
            </a:pPr>
            <a:r>
              <a:rPr lang="en-US" b="1" dirty="0">
                <a:ea typeface="+mn-lt"/>
                <a:cs typeface="+mn-lt"/>
              </a:rPr>
              <a:t>Unintended Exposure of Sensitive Data</a:t>
            </a:r>
            <a:endParaRPr lang="en-US">
              <a:ea typeface="Calibri" panose="020F0502020204030204"/>
              <a:cs typeface="Calibri" panose="020F0502020204030204"/>
            </a:endParaRPr>
          </a:p>
          <a:p>
            <a:endParaRPr lang="en-US" dirty="0">
              <a:ea typeface="Calibri" panose="020F0502020204030204"/>
              <a:cs typeface="Calibri" panose="020F0502020204030204"/>
            </a:endParaRPr>
          </a:p>
        </p:txBody>
      </p:sp>
    </p:spTree>
    <p:extLst>
      <p:ext uri="{BB962C8B-B14F-4D97-AF65-F5344CB8AC3E}">
        <p14:creationId xmlns:p14="http://schemas.microsoft.com/office/powerpoint/2010/main" val="132066647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A543D-88B2-8155-F176-2840BBBAE40B}"/>
              </a:ext>
            </a:extLst>
          </p:cNvPr>
          <p:cNvSpPr>
            <a:spLocks noGrp="1"/>
          </p:cNvSpPr>
          <p:nvPr>
            <p:ph type="title"/>
          </p:nvPr>
        </p:nvSpPr>
        <p:spPr/>
        <p:txBody>
          <a:bodyPr/>
          <a:lstStyle/>
          <a:p>
            <a:r>
              <a:rPr lang="en-US" dirty="0">
                <a:ea typeface="Calibri Light"/>
                <a:cs typeface="Calibri Light"/>
              </a:rPr>
              <a:t>Best Practices</a:t>
            </a:r>
            <a:endParaRPr lang="en-US" dirty="0"/>
          </a:p>
        </p:txBody>
      </p:sp>
      <p:sp>
        <p:nvSpPr>
          <p:cNvPr id="3" name="Content Placeholder 2">
            <a:extLst>
              <a:ext uri="{FF2B5EF4-FFF2-40B4-BE49-F238E27FC236}">
                <a16:creationId xmlns:a16="http://schemas.microsoft.com/office/drawing/2014/main" id="{7618D834-6419-C5B6-D791-BCB1DF998B00}"/>
              </a:ext>
            </a:extLst>
          </p:cNvPr>
          <p:cNvSpPr>
            <a:spLocks noGrp="1"/>
          </p:cNvSpPr>
          <p:nvPr>
            <p:ph idx="1"/>
          </p:nvPr>
        </p:nvSpPr>
        <p:spPr/>
        <p:txBody>
          <a:bodyPr vert="horz" lIns="91440" tIns="45720" rIns="91440" bIns="45720" rtlCol="0" anchor="t">
            <a:normAutofit/>
          </a:bodyPr>
          <a:lstStyle/>
          <a:p>
            <a:r>
              <a:rPr lang="en-US" dirty="0">
                <a:ea typeface="+mn-lt"/>
                <a:cs typeface="+mn-lt"/>
              </a:rPr>
              <a:t>Restrict </a:t>
            </a:r>
            <a:r>
              <a:rPr lang="en-US" dirty="0">
                <a:solidFill>
                  <a:srgbClr val="FF0000"/>
                </a:solidFill>
                <a:latin typeface="Consolas"/>
              </a:rPr>
              <a:t>Access-Control-Allow-Origin</a:t>
            </a:r>
          </a:p>
          <a:p>
            <a:pPr lvl="1">
              <a:buFont typeface="Courier New" panose="020B0604020202020204" pitchFamily="34" charset="0"/>
              <a:buChar char="o"/>
            </a:pPr>
            <a:r>
              <a:rPr lang="en-US" dirty="0">
                <a:ea typeface="+mn-lt"/>
                <a:cs typeface="+mn-lt"/>
              </a:rPr>
              <a:t>Do </a:t>
            </a:r>
            <a:r>
              <a:rPr lang="en-US" b="1" dirty="0">
                <a:ea typeface="+mn-lt"/>
                <a:cs typeface="+mn-lt"/>
              </a:rPr>
              <a:t>not</a:t>
            </a:r>
            <a:r>
              <a:rPr lang="en-US" dirty="0">
                <a:ea typeface="+mn-lt"/>
                <a:cs typeface="+mn-lt"/>
              </a:rPr>
              <a:t> use </a:t>
            </a:r>
            <a:r>
              <a:rPr lang="en-US" dirty="0">
                <a:latin typeface="Consolas"/>
              </a:rPr>
              <a:t>*</a:t>
            </a:r>
            <a:r>
              <a:rPr lang="en-US" dirty="0">
                <a:ea typeface="+mn-lt"/>
                <a:cs typeface="+mn-lt"/>
              </a:rPr>
              <a:t> (wildcard) unless absolutely necessary.</a:t>
            </a:r>
            <a:endParaRPr lang="en-US" dirty="0">
              <a:latin typeface="Consolas"/>
            </a:endParaRPr>
          </a:p>
          <a:p>
            <a:pPr lvl="1"/>
            <a:r>
              <a:rPr lang="en-US" dirty="0">
                <a:ea typeface="+mn-lt"/>
                <a:cs typeface="+mn-lt"/>
              </a:rPr>
              <a:t>Instead, specify </a:t>
            </a:r>
            <a:r>
              <a:rPr lang="en-US" b="1" dirty="0">
                <a:ea typeface="+mn-lt"/>
                <a:cs typeface="+mn-lt"/>
              </a:rPr>
              <a:t>trusted origins</a:t>
            </a:r>
            <a:r>
              <a:rPr lang="en-US" dirty="0">
                <a:ea typeface="+mn-lt"/>
                <a:cs typeface="+mn-lt"/>
              </a:rPr>
              <a:t> explicitly.</a:t>
            </a:r>
            <a:endParaRPr lang="en-US" dirty="0"/>
          </a:p>
          <a:p>
            <a:pPr lvl="1"/>
            <a:endParaRPr lang="en-US" dirty="0">
              <a:latin typeface="Calibri"/>
              <a:ea typeface="Calibri"/>
              <a:cs typeface="Calibri"/>
            </a:endParaRPr>
          </a:p>
          <a:p>
            <a:pPr lvl="1">
              <a:buFont typeface="Courier New" panose="020B0604020202020204" pitchFamily="34" charset="0"/>
              <a:buChar char="o"/>
            </a:pPr>
            <a:endParaRPr lang="en-US" dirty="0">
              <a:latin typeface="Consolas"/>
            </a:endParaRPr>
          </a:p>
        </p:txBody>
      </p:sp>
      <p:pic>
        <p:nvPicPr>
          <p:cNvPr id="4" name="Picture 3" descr="A screenshot of a computer&#10;&#10;AI-generated content may be incorrect.">
            <a:extLst>
              <a:ext uri="{FF2B5EF4-FFF2-40B4-BE49-F238E27FC236}">
                <a16:creationId xmlns:a16="http://schemas.microsoft.com/office/drawing/2014/main" id="{64D476BF-E8CF-D6B5-AD78-270B813D574A}"/>
              </a:ext>
            </a:extLst>
          </p:cNvPr>
          <p:cNvPicPr>
            <a:picLocks noChangeAspect="1"/>
          </p:cNvPicPr>
          <p:nvPr/>
        </p:nvPicPr>
        <p:blipFill>
          <a:blip r:embed="rId2"/>
          <a:srcRect l="34357" t="32353" r="27745" b="31723"/>
          <a:stretch/>
        </p:blipFill>
        <p:spPr>
          <a:xfrm>
            <a:off x="4600754" y="3423484"/>
            <a:ext cx="4620598" cy="2462501"/>
          </a:xfrm>
          <a:prstGeom prst="rect">
            <a:avLst/>
          </a:prstGeom>
        </p:spPr>
      </p:pic>
    </p:spTree>
    <p:extLst>
      <p:ext uri="{BB962C8B-B14F-4D97-AF65-F5344CB8AC3E}">
        <p14:creationId xmlns:p14="http://schemas.microsoft.com/office/powerpoint/2010/main" val="117645643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72F60-114F-695C-B7E9-6266573D4842}"/>
              </a:ext>
            </a:extLst>
          </p:cNvPr>
          <p:cNvSpPr>
            <a:spLocks noGrp="1"/>
          </p:cNvSpPr>
          <p:nvPr>
            <p:ph type="title"/>
          </p:nvPr>
        </p:nvSpPr>
        <p:spPr/>
        <p:txBody>
          <a:bodyPr/>
          <a:lstStyle/>
          <a:p>
            <a:r>
              <a:rPr lang="en-US" dirty="0">
                <a:ea typeface="Calibri Light"/>
                <a:cs typeface="Calibri Light"/>
              </a:rPr>
              <a:t>Example </a:t>
            </a:r>
            <a:endParaRPr lang="en-US" dirty="0"/>
          </a:p>
        </p:txBody>
      </p:sp>
      <p:sp>
        <p:nvSpPr>
          <p:cNvPr id="3" name="Content Placeholder 2">
            <a:extLst>
              <a:ext uri="{FF2B5EF4-FFF2-40B4-BE49-F238E27FC236}">
                <a16:creationId xmlns:a16="http://schemas.microsoft.com/office/drawing/2014/main" id="{E0F3DD95-0135-2705-375B-8605EB438524}"/>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const </a:t>
            </a:r>
            <a:r>
              <a:rPr lang="en-US" dirty="0" err="1">
                <a:ea typeface="+mn-lt"/>
                <a:cs typeface="+mn-lt"/>
              </a:rPr>
              <a:t>allowedOrigins</a:t>
            </a:r>
            <a:r>
              <a:rPr lang="en-US" dirty="0">
                <a:ea typeface="+mn-lt"/>
                <a:cs typeface="+mn-lt"/>
              </a:rPr>
              <a:t> = ['</a:t>
            </a:r>
            <a:r>
              <a:rPr lang="en-US" dirty="0">
                <a:ea typeface="+mn-lt"/>
                <a:cs typeface="+mn-lt"/>
                <a:hlinkClick r:id="rId2"/>
              </a:rPr>
              <a:t>https://trusted-site.com</a:t>
            </a:r>
            <a:r>
              <a:rPr lang="en-US" dirty="0">
                <a:ea typeface="+mn-lt"/>
                <a:cs typeface="+mn-lt"/>
              </a:rPr>
              <a:t>', '</a:t>
            </a:r>
            <a:r>
              <a:rPr lang="en-US" dirty="0">
                <a:ea typeface="+mn-lt"/>
                <a:cs typeface="+mn-lt"/>
                <a:hlinkClick r:id="rId3"/>
              </a:rPr>
              <a:t>https://another-trusted.com</a:t>
            </a:r>
            <a:r>
              <a:rPr lang="en-US" dirty="0">
                <a:ea typeface="+mn-lt"/>
                <a:cs typeface="+mn-lt"/>
              </a:rPr>
              <a:t>'];</a:t>
            </a:r>
            <a:endParaRPr lang="en-US" dirty="0">
              <a:ea typeface="Calibri" panose="020F0502020204030204"/>
              <a:cs typeface="Calibri" panose="020F0502020204030204"/>
            </a:endParaRPr>
          </a:p>
          <a:p>
            <a:endParaRPr lang="en-US"/>
          </a:p>
          <a:p>
            <a:r>
              <a:rPr lang="en-US" dirty="0" err="1">
                <a:ea typeface="+mn-lt"/>
                <a:cs typeface="+mn-lt"/>
              </a:rPr>
              <a:t>app.use</a:t>
            </a:r>
            <a:r>
              <a:rPr lang="en-US" dirty="0">
                <a:ea typeface="+mn-lt"/>
                <a:cs typeface="+mn-lt"/>
              </a:rPr>
              <a:t>((req, res, next) =&gt; {</a:t>
            </a:r>
            <a:endParaRPr lang="en-US" dirty="0"/>
          </a:p>
          <a:p>
            <a:r>
              <a:rPr lang="en-US" dirty="0">
                <a:ea typeface="+mn-lt"/>
                <a:cs typeface="+mn-lt"/>
              </a:rPr>
              <a:t>  const origin = </a:t>
            </a:r>
            <a:r>
              <a:rPr lang="en-US" dirty="0" err="1">
                <a:ea typeface="+mn-lt"/>
                <a:cs typeface="+mn-lt"/>
              </a:rPr>
              <a:t>req.headers.origin</a:t>
            </a:r>
            <a:r>
              <a:rPr lang="en-US" dirty="0">
                <a:ea typeface="+mn-lt"/>
                <a:cs typeface="+mn-lt"/>
              </a:rPr>
              <a:t>;</a:t>
            </a:r>
            <a:endParaRPr lang="en-US" dirty="0"/>
          </a:p>
          <a:p>
            <a:r>
              <a:rPr lang="en-US" dirty="0">
                <a:ea typeface="+mn-lt"/>
                <a:cs typeface="+mn-lt"/>
              </a:rPr>
              <a:t>  if (</a:t>
            </a:r>
            <a:r>
              <a:rPr lang="en-US" dirty="0" err="1">
                <a:ea typeface="+mn-lt"/>
                <a:cs typeface="+mn-lt"/>
              </a:rPr>
              <a:t>allowedOrigins.includes</a:t>
            </a:r>
            <a:r>
              <a:rPr lang="en-US" dirty="0">
                <a:ea typeface="+mn-lt"/>
                <a:cs typeface="+mn-lt"/>
              </a:rPr>
              <a:t>(origin)) {</a:t>
            </a:r>
            <a:endParaRPr lang="en-US" dirty="0"/>
          </a:p>
          <a:p>
            <a:r>
              <a:rPr lang="en-US" dirty="0">
                <a:ea typeface="+mn-lt"/>
                <a:cs typeface="+mn-lt"/>
              </a:rPr>
              <a:t>    </a:t>
            </a:r>
            <a:r>
              <a:rPr lang="en-US" dirty="0" err="1">
                <a:ea typeface="+mn-lt"/>
                <a:cs typeface="+mn-lt"/>
              </a:rPr>
              <a:t>res.setHeader</a:t>
            </a:r>
            <a:r>
              <a:rPr lang="en-US" dirty="0">
                <a:ea typeface="+mn-lt"/>
                <a:cs typeface="+mn-lt"/>
              </a:rPr>
              <a:t>('Access-Control-Allow-Origin', origin);</a:t>
            </a:r>
            <a:endParaRPr lang="en-US" dirty="0"/>
          </a:p>
          <a:p>
            <a:r>
              <a:rPr lang="en-US" dirty="0">
                <a:ea typeface="+mn-lt"/>
                <a:cs typeface="+mn-lt"/>
              </a:rPr>
              <a:t>  }</a:t>
            </a:r>
            <a:endParaRPr lang="en-US" dirty="0"/>
          </a:p>
          <a:p>
            <a:r>
              <a:rPr lang="en-US" dirty="0">
                <a:ea typeface="+mn-lt"/>
                <a:cs typeface="+mn-lt"/>
              </a:rPr>
              <a:t>  next();</a:t>
            </a:r>
            <a:endParaRPr lang="en-US" dirty="0"/>
          </a:p>
          <a:p>
            <a:r>
              <a:rPr lang="en-US" dirty="0">
                <a:ea typeface="+mn-lt"/>
                <a:cs typeface="+mn-lt"/>
              </a:rPr>
              <a:t>});</a:t>
            </a:r>
            <a:endParaRPr lang="en-US" dirty="0"/>
          </a:p>
          <a:p>
            <a:endParaRPr lang="en-US" dirty="0">
              <a:ea typeface="Calibri"/>
              <a:cs typeface="Calibri"/>
            </a:endParaRPr>
          </a:p>
        </p:txBody>
      </p:sp>
    </p:spTree>
    <p:extLst>
      <p:ext uri="{BB962C8B-B14F-4D97-AF65-F5344CB8AC3E}">
        <p14:creationId xmlns:p14="http://schemas.microsoft.com/office/powerpoint/2010/main" val="380816058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C36AB-D758-DF53-49EA-688035C66C11}"/>
              </a:ext>
            </a:extLst>
          </p:cNvPr>
          <p:cNvSpPr>
            <a:spLocks noGrp="1"/>
          </p:cNvSpPr>
          <p:nvPr>
            <p:ph type="title"/>
          </p:nvPr>
        </p:nvSpPr>
        <p:spPr/>
        <p:txBody>
          <a:bodyPr/>
          <a:lstStyle/>
          <a:p>
            <a:r>
              <a:rPr lang="en-US" dirty="0">
                <a:ea typeface="+mj-lt"/>
                <a:cs typeface="+mj-lt"/>
              </a:rPr>
              <a:t>Best Practice</a:t>
            </a:r>
            <a:endParaRPr lang="en-US" dirty="0"/>
          </a:p>
        </p:txBody>
      </p:sp>
      <p:sp>
        <p:nvSpPr>
          <p:cNvPr id="3" name="Content Placeholder 2">
            <a:extLst>
              <a:ext uri="{FF2B5EF4-FFF2-40B4-BE49-F238E27FC236}">
                <a16:creationId xmlns:a16="http://schemas.microsoft.com/office/drawing/2014/main" id="{1C6005EF-6AD4-839D-AD9B-100673BFFDF2}"/>
              </a:ext>
            </a:extLst>
          </p:cNvPr>
          <p:cNvSpPr>
            <a:spLocks noGrp="1"/>
          </p:cNvSpPr>
          <p:nvPr>
            <p:ph idx="1"/>
          </p:nvPr>
        </p:nvSpPr>
        <p:spPr/>
        <p:txBody>
          <a:bodyPr vert="horz" lIns="91440" tIns="45720" rIns="91440" bIns="45720" rtlCol="0" anchor="t">
            <a:normAutofit/>
          </a:bodyPr>
          <a:lstStyle/>
          <a:p>
            <a:r>
              <a:rPr lang="en-US" dirty="0">
                <a:ea typeface="+mn-lt"/>
                <a:cs typeface="+mn-lt"/>
              </a:rPr>
              <a:t>Be Cautious with </a:t>
            </a:r>
            <a:r>
              <a:rPr lang="en-US" dirty="0">
                <a:solidFill>
                  <a:srgbClr val="FF0000"/>
                </a:solidFill>
                <a:latin typeface="Consolas"/>
                <a:ea typeface="+mn-lt"/>
                <a:cs typeface="+mn-lt"/>
              </a:rPr>
              <a:t>Access-Control-Allow-Credentials</a:t>
            </a:r>
            <a:endParaRPr lang="en-US" dirty="0">
              <a:solidFill>
                <a:srgbClr val="FF0000"/>
              </a:solidFill>
              <a:ea typeface="+mn-lt"/>
              <a:cs typeface="+mn-lt"/>
            </a:endParaRPr>
          </a:p>
          <a:p>
            <a:pPr lvl="1">
              <a:buFont typeface="Courier New" panose="020B0604020202020204" pitchFamily="34" charset="0"/>
              <a:buChar char="o"/>
            </a:pPr>
            <a:r>
              <a:rPr lang="en-US" dirty="0">
                <a:ea typeface="+mn-lt"/>
                <a:cs typeface="+mn-lt"/>
              </a:rPr>
              <a:t>Only enable credentials (</a:t>
            </a:r>
            <a:r>
              <a:rPr lang="en-US" dirty="0">
                <a:latin typeface="Consolas"/>
              </a:rPr>
              <a:t>true</a:t>
            </a:r>
            <a:r>
              <a:rPr lang="en-US" dirty="0">
                <a:ea typeface="+mn-lt"/>
                <a:cs typeface="+mn-lt"/>
              </a:rPr>
              <a:t>) if the origin is </a:t>
            </a:r>
            <a:r>
              <a:rPr lang="en-US" b="1" dirty="0">
                <a:ea typeface="+mn-lt"/>
                <a:cs typeface="+mn-lt"/>
              </a:rPr>
              <a:t>strictly defined</a:t>
            </a:r>
            <a:r>
              <a:rPr lang="en-US" dirty="0">
                <a:ea typeface="+mn-lt"/>
                <a:cs typeface="+mn-lt"/>
              </a:rPr>
              <a:t> (never use </a:t>
            </a:r>
            <a:r>
              <a:rPr lang="en-US" dirty="0">
                <a:latin typeface="Consolas"/>
              </a:rPr>
              <a:t>*</a:t>
            </a:r>
            <a:r>
              <a:rPr lang="en-US" dirty="0">
                <a:ea typeface="+mn-lt"/>
                <a:cs typeface="+mn-lt"/>
              </a:rPr>
              <a:t> with </a:t>
            </a:r>
            <a:r>
              <a:rPr lang="en-US" dirty="0">
                <a:latin typeface="Consolas"/>
              </a:rPr>
              <a:t>credentials</a:t>
            </a:r>
            <a:r>
              <a:rPr lang="en-US" dirty="0">
                <a:ea typeface="+mn-lt"/>
                <a:cs typeface="+mn-lt"/>
              </a:rPr>
              <a:t>).</a:t>
            </a:r>
            <a:endParaRPr lang="en-US" dirty="0">
              <a:ea typeface="Calibri" panose="020F0502020204030204"/>
              <a:cs typeface="Calibri" panose="020F0502020204030204"/>
            </a:endParaRPr>
          </a:p>
          <a:p>
            <a:pPr lvl="1">
              <a:buFont typeface="Courier New" panose="020B0604020202020204" pitchFamily="34" charset="0"/>
              <a:buChar char="o"/>
            </a:pPr>
            <a:r>
              <a:rPr lang="en-US" dirty="0">
                <a:ea typeface="+mn-lt"/>
                <a:cs typeface="+mn-lt"/>
              </a:rPr>
              <a:t>If credentials (</a:t>
            </a:r>
            <a:r>
              <a:rPr lang="en-US" dirty="0">
                <a:latin typeface="Consolas"/>
              </a:rPr>
              <a:t>cookies, HTTP authentication</a:t>
            </a:r>
            <a:r>
              <a:rPr lang="en-US" dirty="0">
                <a:ea typeface="+mn-lt"/>
                <a:cs typeface="+mn-lt"/>
              </a:rPr>
              <a:t>) are not needed, </a:t>
            </a:r>
            <a:r>
              <a:rPr lang="en-US" b="1" dirty="0">
                <a:ea typeface="+mn-lt"/>
                <a:cs typeface="+mn-lt"/>
              </a:rPr>
              <a:t>disable</a:t>
            </a:r>
            <a:r>
              <a:rPr lang="en-US" dirty="0">
                <a:ea typeface="+mn-lt"/>
                <a:cs typeface="+mn-lt"/>
              </a:rPr>
              <a:t> them.</a:t>
            </a:r>
            <a:endParaRPr lang="en-US">
              <a:ea typeface="Calibri"/>
              <a:cs typeface="Calibri"/>
            </a:endParaRPr>
          </a:p>
          <a:p>
            <a:endParaRPr lang="en-US" dirty="0">
              <a:ea typeface="Calibri"/>
              <a:cs typeface="Calibri"/>
            </a:endParaRPr>
          </a:p>
        </p:txBody>
      </p:sp>
      <p:pic>
        <p:nvPicPr>
          <p:cNvPr id="4" name="Picture 3" descr="A screenshot of a computer&#10;&#10;AI-generated content may be incorrect.">
            <a:extLst>
              <a:ext uri="{FF2B5EF4-FFF2-40B4-BE49-F238E27FC236}">
                <a16:creationId xmlns:a16="http://schemas.microsoft.com/office/drawing/2014/main" id="{D596394B-B70D-3F7E-A737-D7F9C94BCF5D}"/>
              </a:ext>
            </a:extLst>
          </p:cNvPr>
          <p:cNvPicPr>
            <a:picLocks noChangeAspect="1"/>
          </p:cNvPicPr>
          <p:nvPr/>
        </p:nvPicPr>
        <p:blipFill>
          <a:blip r:embed="rId2"/>
          <a:srcRect l="33530" t="21873" r="28807" b="32538"/>
          <a:stretch/>
        </p:blipFill>
        <p:spPr>
          <a:xfrm>
            <a:off x="4758906" y="3567258"/>
            <a:ext cx="5928894" cy="3124928"/>
          </a:xfrm>
          <a:prstGeom prst="rect">
            <a:avLst/>
          </a:prstGeom>
        </p:spPr>
      </p:pic>
    </p:spTree>
    <p:extLst>
      <p:ext uri="{BB962C8B-B14F-4D97-AF65-F5344CB8AC3E}">
        <p14:creationId xmlns:p14="http://schemas.microsoft.com/office/powerpoint/2010/main" val="99482860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3C22C-18B1-1712-242A-C9FA7415CB86}"/>
              </a:ext>
            </a:extLst>
          </p:cNvPr>
          <p:cNvSpPr>
            <a:spLocks noGrp="1"/>
          </p:cNvSpPr>
          <p:nvPr>
            <p:ph type="title"/>
          </p:nvPr>
        </p:nvSpPr>
        <p:spPr/>
        <p:txBody>
          <a:bodyPr/>
          <a:lstStyle/>
          <a:p>
            <a:r>
              <a:rPr lang="en-US" dirty="0">
                <a:ea typeface="+mj-lt"/>
                <a:cs typeface="+mj-lt"/>
              </a:rPr>
              <a:t>Best Practice</a:t>
            </a:r>
          </a:p>
        </p:txBody>
      </p:sp>
      <p:sp>
        <p:nvSpPr>
          <p:cNvPr id="3" name="Content Placeholder 2">
            <a:extLst>
              <a:ext uri="{FF2B5EF4-FFF2-40B4-BE49-F238E27FC236}">
                <a16:creationId xmlns:a16="http://schemas.microsoft.com/office/drawing/2014/main" id="{C1BC6946-E4E1-0E0B-CCF4-B95768830B29}"/>
              </a:ext>
            </a:extLst>
          </p:cNvPr>
          <p:cNvSpPr>
            <a:spLocks noGrp="1"/>
          </p:cNvSpPr>
          <p:nvPr>
            <p:ph idx="1"/>
          </p:nvPr>
        </p:nvSpPr>
        <p:spPr/>
        <p:txBody>
          <a:bodyPr vert="horz" lIns="91440" tIns="45720" rIns="91440" bIns="45720" rtlCol="0" anchor="t">
            <a:normAutofit/>
          </a:bodyPr>
          <a:lstStyle/>
          <a:p>
            <a:r>
              <a:rPr lang="en-US" b="1" dirty="0"/>
              <a:t>Restrict Allowed Methods (</a:t>
            </a:r>
            <a:r>
              <a:rPr lang="en-US" b="1" dirty="0">
                <a:latin typeface="Consolas"/>
              </a:rPr>
              <a:t>Access-Control-Allow-Methods</a:t>
            </a:r>
            <a:r>
              <a:rPr lang="en-US" b="1" dirty="0"/>
              <a:t>)</a:t>
            </a:r>
            <a:endParaRPr lang="en-US" dirty="0">
              <a:ea typeface="Calibri" panose="020F0502020204030204"/>
              <a:cs typeface="Calibri" panose="020F0502020204030204"/>
            </a:endParaRPr>
          </a:p>
          <a:p>
            <a:pPr lvl="1">
              <a:buFont typeface="Courier New" panose="020B0604020202020204" pitchFamily="34" charset="0"/>
              <a:buChar char="o"/>
            </a:pPr>
            <a:r>
              <a:rPr lang="en-US" dirty="0">
                <a:ea typeface="+mn-lt"/>
                <a:cs typeface="+mn-lt"/>
              </a:rPr>
              <a:t>Allow </a:t>
            </a:r>
            <a:r>
              <a:rPr lang="en-US" b="1" dirty="0">
                <a:ea typeface="+mn-lt"/>
                <a:cs typeface="+mn-lt"/>
              </a:rPr>
              <a:t>only necessary HTTP methods</a:t>
            </a:r>
            <a:r>
              <a:rPr lang="en-US" dirty="0">
                <a:ea typeface="+mn-lt"/>
                <a:cs typeface="+mn-lt"/>
              </a:rPr>
              <a:t> (</a:t>
            </a:r>
            <a:r>
              <a:rPr lang="en-US" dirty="0">
                <a:latin typeface="Consolas"/>
                <a:ea typeface="Calibri"/>
                <a:cs typeface="Calibri"/>
              </a:rPr>
              <a:t>GET, POST</a:t>
            </a:r>
            <a:r>
              <a:rPr lang="en-US" dirty="0">
                <a:ea typeface="+mn-lt"/>
                <a:cs typeface="+mn-lt"/>
              </a:rPr>
              <a:t> instead of allowing all).</a:t>
            </a:r>
          </a:p>
          <a:p>
            <a:pPr marL="457200" lvl="1" indent="0">
              <a:buNone/>
            </a:pPr>
            <a:endParaRPr lang="en-US" dirty="0">
              <a:ea typeface="Calibri"/>
              <a:cs typeface="Calibri"/>
            </a:endParaRPr>
          </a:p>
        </p:txBody>
      </p:sp>
      <p:pic>
        <p:nvPicPr>
          <p:cNvPr id="4" name="Picture 3" descr="A screenshot of a computer&#10;&#10;AI-generated content may be incorrect.">
            <a:extLst>
              <a:ext uri="{FF2B5EF4-FFF2-40B4-BE49-F238E27FC236}">
                <a16:creationId xmlns:a16="http://schemas.microsoft.com/office/drawing/2014/main" id="{B06BA67F-0056-C2BD-5F13-C18D4A78A483}"/>
              </a:ext>
            </a:extLst>
          </p:cNvPr>
          <p:cNvPicPr>
            <a:picLocks noChangeAspect="1"/>
          </p:cNvPicPr>
          <p:nvPr/>
        </p:nvPicPr>
        <p:blipFill>
          <a:blip r:embed="rId2"/>
          <a:srcRect l="34357" t="31723" r="34238" b="29412"/>
          <a:stretch/>
        </p:blipFill>
        <p:spPr>
          <a:xfrm>
            <a:off x="3508075" y="2905899"/>
            <a:ext cx="5151626" cy="3584259"/>
          </a:xfrm>
          <a:prstGeom prst="rect">
            <a:avLst/>
          </a:prstGeom>
        </p:spPr>
      </p:pic>
    </p:spTree>
    <p:extLst>
      <p:ext uri="{BB962C8B-B14F-4D97-AF65-F5344CB8AC3E}">
        <p14:creationId xmlns:p14="http://schemas.microsoft.com/office/powerpoint/2010/main" val="38184126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125</Slides>
  <Notes>23</Notes>
  <HiddenSlides>0</HiddenSlides>
  <MMClips>0</MMClips>
  <ScaleCrop>false</ScaleCrop>
  <HeadingPairs>
    <vt:vector size="4" baseType="variant">
      <vt:variant>
        <vt:lpstr>Theme</vt:lpstr>
      </vt:variant>
      <vt:variant>
        <vt:i4>1</vt:i4>
      </vt:variant>
      <vt:variant>
        <vt:lpstr>Slide Titles</vt:lpstr>
      </vt:variant>
      <vt:variant>
        <vt:i4>125</vt:i4>
      </vt:variant>
    </vt:vector>
  </HeadingPairs>
  <TitlesOfParts>
    <vt:vector size="126" baseType="lpstr">
      <vt:lpstr>office theme</vt:lpstr>
      <vt:lpstr>Defense and tools</vt:lpstr>
      <vt:lpstr>Outline</vt:lpstr>
      <vt:lpstr>Securing Modern Web Applications </vt:lpstr>
      <vt:lpstr>PowerPoint Presentation</vt:lpstr>
      <vt:lpstr>Steps for Securing Modern Web Application</vt:lpstr>
      <vt:lpstr>Design Defensive Software Architecture </vt:lpstr>
      <vt:lpstr>Key principles and practices associated with defensive software architecture</vt:lpstr>
      <vt:lpstr>Comprehensive Code Reviews</vt:lpstr>
      <vt:lpstr>The major points to look out for are:</vt:lpstr>
      <vt:lpstr>Vulnerability Discovery</vt:lpstr>
      <vt:lpstr>Vulnerability Analysis</vt:lpstr>
      <vt:lpstr>Vulnerability Management</vt:lpstr>
      <vt:lpstr>Regression Testing</vt:lpstr>
      <vt:lpstr>Mitigation Strategies</vt:lpstr>
      <vt:lpstr>Secure Application Architecture</vt:lpstr>
      <vt:lpstr>PowerPoint Presentation</vt:lpstr>
      <vt:lpstr>Analyzing Feature Requirements</vt:lpstr>
      <vt:lpstr>PowerPoint Presentation</vt:lpstr>
      <vt:lpstr>PowerPoint Presentation</vt:lpstr>
      <vt:lpstr>Authentication and Authorization</vt:lpstr>
      <vt:lpstr>How do we handle data in transit?  </vt:lpstr>
      <vt:lpstr>PowerPoint Presentation</vt:lpstr>
      <vt:lpstr>Secure Credentials</vt:lpstr>
      <vt:lpstr>How do we handle the storage of credentials?</vt:lpstr>
      <vt:lpstr>PowerPoint Presentation</vt:lpstr>
      <vt:lpstr>Bcrypt</vt:lpstr>
      <vt:lpstr>PBKDF2</vt:lpstr>
      <vt:lpstr>2FA</vt:lpstr>
      <vt:lpstr>PII and Financial Data</vt:lpstr>
      <vt:lpstr>Searching</vt:lpstr>
      <vt:lpstr>PowerPoint Presentation</vt:lpstr>
      <vt:lpstr>Outline</vt:lpstr>
      <vt:lpstr>Reviewing Code for Security</vt:lpstr>
      <vt:lpstr>PowerPoint Presentation</vt:lpstr>
      <vt:lpstr>How to Start a Code Review</vt:lpstr>
      <vt:lpstr>Archetypical Vulnerabilities Versus Custom Logic Bugs</vt:lpstr>
      <vt:lpstr>Archetypical Vulnerabilities Versus Custom Logic Bugs</vt:lpstr>
      <vt:lpstr>Where to Start a Security Review</vt:lpstr>
      <vt:lpstr>PowerPoint Presentation</vt:lpstr>
      <vt:lpstr>Secure-Coding Anti-Patterns</vt:lpstr>
      <vt:lpstr>Blacklist Anti-pattern</vt:lpstr>
      <vt:lpstr>Best Practices:</vt:lpstr>
      <vt:lpstr>Boilerplate Code anti-pattern</vt:lpstr>
      <vt:lpstr>Best Practices:</vt:lpstr>
      <vt:lpstr>Trust-By-Default Anti-Pattern</vt:lpstr>
      <vt:lpstr>Best Practices:</vt:lpstr>
      <vt:lpstr>Client/Server Separation </vt:lpstr>
      <vt:lpstr>Best Practices:</vt:lpstr>
      <vt:lpstr>Outline</vt:lpstr>
      <vt:lpstr>Vulnerability Discovery</vt:lpstr>
      <vt:lpstr>PowerPoint Presentation</vt:lpstr>
      <vt:lpstr>Security Automation</vt:lpstr>
      <vt:lpstr>Static Analysis</vt:lpstr>
      <vt:lpstr>PowerPoint Presentation</vt:lpstr>
      <vt:lpstr>Dynamic Analysis</vt:lpstr>
      <vt:lpstr>PowerPoint Presentation</vt:lpstr>
      <vt:lpstr>Vulnerability Regression Testing </vt:lpstr>
      <vt:lpstr>The Jest testing library</vt:lpstr>
      <vt:lpstr>Responsible Disclosure Programs</vt:lpstr>
      <vt:lpstr>Responsible Disclosure Programs </vt:lpstr>
      <vt:lpstr>Responsible Disclosure Programs </vt:lpstr>
      <vt:lpstr>Bug Bounty Programs</vt:lpstr>
      <vt:lpstr>PowerPoint Presentation</vt:lpstr>
      <vt:lpstr>Third-Party Penetration Testing </vt:lpstr>
      <vt:lpstr>Outline</vt:lpstr>
      <vt:lpstr>Defending Against XSS Attack</vt:lpstr>
      <vt:lpstr>Anti-XSS Coding Best Practices</vt:lpstr>
      <vt:lpstr>PowerPoint Presentation</vt:lpstr>
      <vt:lpstr>PowerPoint Presentation</vt:lpstr>
      <vt:lpstr>PowerPoint Presentation</vt:lpstr>
      <vt:lpstr>Sanitizing User Input</vt:lpstr>
      <vt:lpstr>PowerPoint Presentation</vt:lpstr>
      <vt:lpstr>PowerPoint Presentation</vt:lpstr>
      <vt:lpstr>DOMParser Sink</vt:lpstr>
      <vt:lpstr>SVG Sink</vt:lpstr>
      <vt:lpstr>Blob Sink </vt:lpstr>
      <vt:lpstr>Few more countermeasures</vt:lpstr>
      <vt:lpstr>Sanitizing Hyperlinks</vt:lpstr>
      <vt:lpstr>HTML Entity Encoding</vt:lpstr>
      <vt:lpstr>PowerPoint Presentation</vt:lpstr>
      <vt:lpstr>Content Security Policy for XSS Prevention</vt:lpstr>
      <vt:lpstr>commonly used in a CSP header</vt:lpstr>
      <vt:lpstr>PowerPoint Presentation</vt:lpstr>
      <vt:lpstr>Outline</vt:lpstr>
      <vt:lpstr>Defending Against CSRF Attacks</vt:lpstr>
      <vt:lpstr>Header Verification</vt:lpstr>
      <vt:lpstr>PowerPoint Presentation</vt:lpstr>
      <vt:lpstr>CSRF Tokens</vt:lpstr>
      <vt:lpstr>PowerPoint Presentation</vt:lpstr>
      <vt:lpstr>Stateless CSRF Tokens</vt:lpstr>
      <vt:lpstr>Anti-CRSF Coding Best Practices</vt:lpstr>
      <vt:lpstr>PowerPoint Presentation</vt:lpstr>
      <vt:lpstr>Defending Against XXE</vt:lpstr>
      <vt:lpstr>PowerPoint Presentation</vt:lpstr>
      <vt:lpstr>Evaluating Other Data Formats</vt:lpstr>
      <vt:lpstr>PowerPoint Presentation</vt:lpstr>
      <vt:lpstr>Advanced XXE Risks</vt:lpstr>
      <vt:lpstr>Vulnerable XML Code Example</vt:lpstr>
      <vt:lpstr>Example of a Vulnerable XML Parser in Python</vt:lpstr>
      <vt:lpstr>How to Prevent XXE Attacks</vt:lpstr>
      <vt:lpstr>Defending Against Injection</vt:lpstr>
      <vt:lpstr>Detecting SQL Injection</vt:lpstr>
      <vt:lpstr>Prepared Statements</vt:lpstr>
      <vt:lpstr>PowerPoint Presentation</vt:lpstr>
      <vt:lpstr>PowerPoint Presentation</vt:lpstr>
      <vt:lpstr>Database-Specific Defenses</vt:lpstr>
      <vt:lpstr>Generic Injection Defenses</vt:lpstr>
      <vt:lpstr>Potential Injection Targets</vt:lpstr>
      <vt:lpstr>Principle of Least Authority</vt:lpstr>
      <vt:lpstr>PowerPoint Presentation</vt:lpstr>
      <vt:lpstr>Whitelisting Commands</vt:lpstr>
      <vt:lpstr>PowerPoint Presentation</vt:lpstr>
      <vt:lpstr>PowerPoint Presentation</vt:lpstr>
      <vt:lpstr>Defending Against DoS</vt:lpstr>
      <vt:lpstr>PowerPoint Presentation</vt:lpstr>
      <vt:lpstr>Protecting Against Regex DoS</vt:lpstr>
      <vt:lpstr>Protecting Against Logical DoS</vt:lpstr>
      <vt:lpstr>PowerPoint Presentation</vt:lpstr>
      <vt:lpstr>DDoS Mitigation</vt:lpstr>
      <vt:lpstr>blackholing</vt:lpstr>
      <vt:lpstr>Defending Against CORS-Based Attacks</vt:lpstr>
      <vt:lpstr>Best Practices</vt:lpstr>
      <vt:lpstr>Example </vt:lpstr>
      <vt:lpstr>Best Practice</vt:lpstr>
      <vt:lpstr>Best Practice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Dhanashree Hadsul</cp:lastModifiedBy>
  <cp:revision>1238</cp:revision>
  <dcterms:created xsi:type="dcterms:W3CDTF">2013-07-15T20:26:40Z</dcterms:created>
  <dcterms:modified xsi:type="dcterms:W3CDTF">2026-02-05T02:49:43Z</dcterms:modified>
</cp:coreProperties>
</file>